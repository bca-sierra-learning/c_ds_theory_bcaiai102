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session: five connected topics about how data goes into and comes out of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and lifetime are taught before returning an array because returning an array depends on the array still existing after the function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guest key may only open Room 204 (scope) and the booking may last only 3 days (lifetime). Two separate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Globals are convenient but should be used sparingly: any function can change them, which makes bugs harder to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1097280"/>
            <a:ext cx="1554480" cy="310896"/>
          </a:xfrm>
          <a:prstGeom prst="roundRect">
            <a:avLst>
              <a:gd name="adj" fmla="val 23529"/>
            </a:avLst>
          </a:prstGeom>
          <a:solidFill>
            <a:srgbClr val="FCA311"/>
          </a:solidFill>
          <a:ln w="12700">
            <a:solidFill>
              <a:srgbClr val="FCA311"/>
            </a:solidFill>
            <a:prstDash val="solid"/>
          </a:ln>
        </p:spPr>
      </p:sp>
      <p:sp>
        <p:nvSpPr>
          <p:cNvPr id="3" name="Text 1"/>
          <p:cNvSpPr txBox="1"/>
          <p:nvPr/>
        </p:nvSpPr>
        <p:spPr>
          <a:xfrm>
            <a:off x="548640" y="1097280"/>
            <a:ext cx="1554480" cy="310896"/>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C PROGRAMMING</a:t>
            </a:r>
            <a:endParaRPr lang="en-US" sz="1200" dirty="0"/>
          </a:p>
        </p:txBody>
      </p:sp>
      <p:sp>
        <p:nvSpPr>
          <p:cNvPr id="4" name="Text 2"/>
          <p:cNvSpPr txBox="1"/>
          <p:nvPr/>
        </p:nvSpPr>
        <p:spPr>
          <a:xfrm>
            <a:off x="548640" y="1600200"/>
            <a:ext cx="77724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Functions in C</a:t>
            </a:r>
            <a:endParaRPr lang="en-US" sz="4400" dirty="0"/>
          </a:p>
        </p:txBody>
      </p:sp>
      <p:sp>
        <p:nvSpPr>
          <p:cNvPr id="5" name="Text 3"/>
          <p:cNvSpPr txBox="1"/>
          <p:nvPr/>
        </p:nvSpPr>
        <p:spPr>
          <a:xfrm>
            <a:off x="548640" y="2514600"/>
            <a:ext cx="7772400" cy="822960"/>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Return types, returning arrays, passing arrays,</a:t>
            </a:r>
            <a:endParaRPr lang="en-US" sz="1800" dirty="0"/>
          </a:p>
          <a:p>
            <a:pPr indent="0" marL="0">
              <a:buNone/>
            </a:pPr>
            <a:r>
              <a:rPr lang="en-US" sz="1800" dirty="0">
                <a:solidFill>
                  <a:srgbClr val="CBD5E1"/>
                </a:solidFill>
                <a:latin typeface="Calibri" pitchFamily="34" charset="0"/>
                <a:ea typeface="Calibri" pitchFamily="34" charset="-122"/>
                <a:cs typeface="Calibri" pitchFamily="34" charset="-120"/>
              </a:rPr>
              <a:t>and the scope and lifetime of variables</a:t>
            </a:r>
            <a:endParaRPr lang="en-US" sz="1800" dirty="0"/>
          </a:p>
        </p:txBody>
      </p:sp>
      <p:sp>
        <p:nvSpPr>
          <p:cNvPr id="6" name="Shape 4"/>
          <p:cNvSpPr/>
          <p:nvPr/>
        </p:nvSpPr>
        <p:spPr>
          <a:xfrm>
            <a:off x="548640" y="3703320"/>
            <a:ext cx="4206240" cy="658368"/>
          </a:xfrm>
          <a:prstGeom prst="roundRect">
            <a:avLst>
              <a:gd name="adj" fmla="val 11111"/>
            </a:avLst>
          </a:prstGeom>
          <a:solidFill>
            <a:srgbClr val="1E293B"/>
          </a:solidFill>
          <a:ln w="12700">
            <a:solidFill>
              <a:srgbClr val="1E293B"/>
            </a:solidFill>
            <a:prstDash val="solid"/>
          </a:ln>
        </p:spPr>
      </p:sp>
      <p:sp>
        <p:nvSpPr>
          <p:cNvPr id="7" name="Text 5"/>
          <p:cNvSpPr txBox="1"/>
          <p:nvPr/>
        </p:nvSpPr>
        <p:spPr>
          <a:xfrm>
            <a:off x="685800" y="3794760"/>
            <a:ext cx="3931920" cy="475488"/>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int* getMarks(void);</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void display(int arr[], int 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70866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70866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TODAY</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What we will cover</a:t>
            </a:r>
            <a:endParaRPr lang="en-US" sz="2800" dirty="0"/>
          </a:p>
        </p:txBody>
      </p:sp>
      <p:sp>
        <p:nvSpPr>
          <p:cNvPr id="5" name="Shape 3"/>
          <p:cNvSpPr/>
          <p:nvPr/>
        </p:nvSpPr>
        <p:spPr>
          <a:xfrm>
            <a:off x="457200" y="1463040"/>
            <a:ext cx="1517904" cy="2834640"/>
          </a:xfrm>
          <a:prstGeom prst="roundRect">
            <a:avLst>
              <a:gd name="adj" fmla="val 6024"/>
            </a:avLst>
          </a:prstGeom>
          <a:solidFill>
            <a:srgbClr val="EEF2F7"/>
          </a:solidFill>
          <a:ln w="12700">
            <a:solidFill>
              <a:srgbClr val="EEF2F7"/>
            </a:solidFill>
            <a:prstDash val="solid"/>
          </a:ln>
        </p:spPr>
      </p:sp>
      <p:sp>
        <p:nvSpPr>
          <p:cNvPr id="6" name="Shape 4"/>
          <p:cNvSpPr/>
          <p:nvPr/>
        </p:nvSpPr>
        <p:spPr>
          <a:xfrm>
            <a:off x="640080" y="1691640"/>
            <a:ext cx="502920" cy="502920"/>
          </a:xfrm>
          <a:prstGeom prst="ellipse">
            <a:avLst/>
          </a:prstGeom>
          <a:solidFill>
            <a:srgbClr val="14213D"/>
          </a:solidFill>
          <a:ln w="12700">
            <a:solidFill>
              <a:srgbClr val="14213D"/>
            </a:solidFill>
            <a:prstDash val="solid"/>
          </a:ln>
        </p:spPr>
      </p:sp>
      <p:sp>
        <p:nvSpPr>
          <p:cNvPr id="7" name="Text 5"/>
          <p:cNvSpPr txBox="1"/>
          <p:nvPr/>
        </p:nvSpPr>
        <p:spPr>
          <a:xfrm>
            <a:off x="640080"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640080" y="2377440"/>
            <a:ext cx="1188720" cy="7315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Function return type</a:t>
            </a:r>
            <a:endParaRPr lang="en-US" sz="1500" dirty="0"/>
          </a:p>
        </p:txBody>
      </p:sp>
      <p:sp>
        <p:nvSpPr>
          <p:cNvPr id="9" name="Text 7"/>
          <p:cNvSpPr txBox="1"/>
          <p:nvPr/>
        </p:nvSpPr>
        <p:spPr>
          <a:xfrm>
            <a:off x="640080" y="3154680"/>
            <a:ext cx="1188720" cy="91440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What a function sends back</a:t>
            </a:r>
            <a:endParaRPr lang="en-US" sz="1200" dirty="0"/>
          </a:p>
        </p:txBody>
      </p:sp>
      <p:sp>
        <p:nvSpPr>
          <p:cNvPr id="10" name="Shape 8"/>
          <p:cNvSpPr/>
          <p:nvPr/>
        </p:nvSpPr>
        <p:spPr>
          <a:xfrm>
            <a:off x="2139696" y="1463040"/>
            <a:ext cx="1517904" cy="2834640"/>
          </a:xfrm>
          <a:prstGeom prst="roundRect">
            <a:avLst>
              <a:gd name="adj" fmla="val 6024"/>
            </a:avLst>
          </a:prstGeom>
          <a:solidFill>
            <a:srgbClr val="EEF2F7"/>
          </a:solidFill>
          <a:ln w="12700">
            <a:solidFill>
              <a:srgbClr val="EEF2F7"/>
            </a:solidFill>
            <a:prstDash val="solid"/>
          </a:ln>
        </p:spPr>
      </p:sp>
      <p:sp>
        <p:nvSpPr>
          <p:cNvPr id="11" name="Shape 9"/>
          <p:cNvSpPr/>
          <p:nvPr/>
        </p:nvSpPr>
        <p:spPr>
          <a:xfrm>
            <a:off x="2322576" y="1691640"/>
            <a:ext cx="502920" cy="502920"/>
          </a:xfrm>
          <a:prstGeom prst="ellipse">
            <a:avLst/>
          </a:prstGeom>
          <a:solidFill>
            <a:srgbClr val="14213D"/>
          </a:solidFill>
          <a:ln w="12700">
            <a:solidFill>
              <a:srgbClr val="14213D"/>
            </a:solidFill>
            <a:prstDash val="solid"/>
          </a:ln>
        </p:spPr>
      </p:sp>
      <p:sp>
        <p:nvSpPr>
          <p:cNvPr id="12" name="Text 10"/>
          <p:cNvSpPr txBox="1"/>
          <p:nvPr/>
        </p:nvSpPr>
        <p:spPr>
          <a:xfrm>
            <a:off x="2322576"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322576" y="2377440"/>
            <a:ext cx="1188720" cy="7315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Returning a different type</a:t>
            </a:r>
            <a:endParaRPr lang="en-US" sz="1500" dirty="0"/>
          </a:p>
        </p:txBody>
      </p:sp>
      <p:sp>
        <p:nvSpPr>
          <p:cNvPr id="14" name="Text 12"/>
          <p:cNvSpPr txBox="1"/>
          <p:nvPr/>
        </p:nvSpPr>
        <p:spPr>
          <a:xfrm>
            <a:off x="2322576" y="3154680"/>
            <a:ext cx="1188720" cy="91440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Conversion and structures</a:t>
            </a:r>
            <a:endParaRPr lang="en-US" sz="1200" dirty="0"/>
          </a:p>
        </p:txBody>
      </p:sp>
      <p:sp>
        <p:nvSpPr>
          <p:cNvPr id="15" name="Shape 13"/>
          <p:cNvSpPr/>
          <p:nvPr/>
        </p:nvSpPr>
        <p:spPr>
          <a:xfrm>
            <a:off x="3822192" y="1463040"/>
            <a:ext cx="1517904" cy="2834640"/>
          </a:xfrm>
          <a:prstGeom prst="roundRect">
            <a:avLst>
              <a:gd name="adj" fmla="val 6024"/>
            </a:avLst>
          </a:prstGeom>
          <a:solidFill>
            <a:srgbClr val="EEF2F7"/>
          </a:solidFill>
          <a:ln w="12700">
            <a:solidFill>
              <a:srgbClr val="EEF2F7"/>
            </a:solidFill>
            <a:prstDash val="solid"/>
          </a:ln>
        </p:spPr>
      </p:sp>
      <p:sp>
        <p:nvSpPr>
          <p:cNvPr id="16" name="Shape 14"/>
          <p:cNvSpPr/>
          <p:nvPr/>
        </p:nvSpPr>
        <p:spPr>
          <a:xfrm>
            <a:off x="4005072" y="1691640"/>
            <a:ext cx="502920" cy="502920"/>
          </a:xfrm>
          <a:prstGeom prst="ellipse">
            <a:avLst/>
          </a:prstGeom>
          <a:solidFill>
            <a:srgbClr val="14213D"/>
          </a:solidFill>
          <a:ln w="12700">
            <a:solidFill>
              <a:srgbClr val="14213D"/>
            </a:solidFill>
            <a:prstDash val="solid"/>
          </a:ln>
        </p:spPr>
      </p:sp>
      <p:sp>
        <p:nvSpPr>
          <p:cNvPr id="17" name="Text 15"/>
          <p:cNvSpPr txBox="1"/>
          <p:nvPr/>
        </p:nvSpPr>
        <p:spPr>
          <a:xfrm>
            <a:off x="4005072"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4005072" y="2377440"/>
            <a:ext cx="1188720" cy="7315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Scope and lifetime</a:t>
            </a:r>
            <a:endParaRPr lang="en-US" sz="1500" dirty="0"/>
          </a:p>
        </p:txBody>
      </p:sp>
      <p:sp>
        <p:nvSpPr>
          <p:cNvPr id="19" name="Text 17"/>
          <p:cNvSpPr txBox="1"/>
          <p:nvPr/>
        </p:nvSpPr>
        <p:spPr>
          <a:xfrm>
            <a:off x="4005072" y="3154680"/>
            <a:ext cx="1188720" cy="91440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Where and how long variables exist</a:t>
            </a:r>
            <a:endParaRPr lang="en-US" sz="1200" dirty="0"/>
          </a:p>
        </p:txBody>
      </p:sp>
      <p:sp>
        <p:nvSpPr>
          <p:cNvPr id="20" name="Shape 18"/>
          <p:cNvSpPr/>
          <p:nvPr/>
        </p:nvSpPr>
        <p:spPr>
          <a:xfrm>
            <a:off x="5504688" y="1463040"/>
            <a:ext cx="1517904" cy="2834640"/>
          </a:xfrm>
          <a:prstGeom prst="roundRect">
            <a:avLst>
              <a:gd name="adj" fmla="val 6024"/>
            </a:avLst>
          </a:prstGeom>
          <a:solidFill>
            <a:srgbClr val="EEF2F7"/>
          </a:solidFill>
          <a:ln w="12700">
            <a:solidFill>
              <a:srgbClr val="EEF2F7"/>
            </a:solidFill>
            <a:prstDash val="solid"/>
          </a:ln>
        </p:spPr>
      </p:sp>
      <p:sp>
        <p:nvSpPr>
          <p:cNvPr id="21" name="Shape 19"/>
          <p:cNvSpPr/>
          <p:nvPr/>
        </p:nvSpPr>
        <p:spPr>
          <a:xfrm>
            <a:off x="5687568" y="1691640"/>
            <a:ext cx="502920" cy="502920"/>
          </a:xfrm>
          <a:prstGeom prst="ellipse">
            <a:avLst/>
          </a:prstGeom>
          <a:solidFill>
            <a:srgbClr val="14213D"/>
          </a:solidFill>
          <a:ln w="12700">
            <a:solidFill>
              <a:srgbClr val="14213D"/>
            </a:solidFill>
            <a:prstDash val="solid"/>
          </a:ln>
        </p:spPr>
      </p:sp>
      <p:sp>
        <p:nvSpPr>
          <p:cNvPr id="22" name="Text 20"/>
          <p:cNvSpPr txBox="1"/>
          <p:nvPr/>
        </p:nvSpPr>
        <p:spPr>
          <a:xfrm>
            <a:off x="5687568"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687568" y="2377440"/>
            <a:ext cx="1188720" cy="7315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Returning an array</a:t>
            </a:r>
            <a:endParaRPr lang="en-US" sz="1500" dirty="0"/>
          </a:p>
        </p:txBody>
      </p:sp>
      <p:sp>
        <p:nvSpPr>
          <p:cNvPr id="24" name="Text 22"/>
          <p:cNvSpPr txBox="1"/>
          <p:nvPr/>
        </p:nvSpPr>
        <p:spPr>
          <a:xfrm>
            <a:off x="5687568" y="3154680"/>
            <a:ext cx="1188720" cy="91440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Returning the address instead</a:t>
            </a:r>
            <a:endParaRPr lang="en-US" sz="1200" dirty="0"/>
          </a:p>
        </p:txBody>
      </p:sp>
      <p:sp>
        <p:nvSpPr>
          <p:cNvPr id="25" name="Shape 23"/>
          <p:cNvSpPr/>
          <p:nvPr/>
        </p:nvSpPr>
        <p:spPr>
          <a:xfrm>
            <a:off x="7187184" y="1463040"/>
            <a:ext cx="1517904" cy="2834640"/>
          </a:xfrm>
          <a:prstGeom prst="roundRect">
            <a:avLst>
              <a:gd name="adj" fmla="val 6024"/>
            </a:avLst>
          </a:prstGeom>
          <a:solidFill>
            <a:srgbClr val="EEF2F7"/>
          </a:solidFill>
          <a:ln w="12700">
            <a:solidFill>
              <a:srgbClr val="EEF2F7"/>
            </a:solidFill>
            <a:prstDash val="solid"/>
          </a:ln>
        </p:spPr>
      </p:sp>
      <p:sp>
        <p:nvSpPr>
          <p:cNvPr id="26" name="Shape 24"/>
          <p:cNvSpPr/>
          <p:nvPr/>
        </p:nvSpPr>
        <p:spPr>
          <a:xfrm>
            <a:off x="7370064" y="1691640"/>
            <a:ext cx="502920" cy="502920"/>
          </a:xfrm>
          <a:prstGeom prst="ellipse">
            <a:avLst/>
          </a:prstGeom>
          <a:solidFill>
            <a:srgbClr val="14213D"/>
          </a:solidFill>
          <a:ln w="12700">
            <a:solidFill>
              <a:srgbClr val="14213D"/>
            </a:solidFill>
            <a:prstDash val="solid"/>
          </a:ln>
        </p:spPr>
      </p:sp>
      <p:sp>
        <p:nvSpPr>
          <p:cNvPr id="27" name="Text 25"/>
          <p:cNvSpPr txBox="1"/>
          <p:nvPr/>
        </p:nvSpPr>
        <p:spPr>
          <a:xfrm>
            <a:off x="7370064" y="1691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7370064" y="2377440"/>
            <a:ext cx="1188720" cy="7315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Passing an array</a:t>
            </a:r>
            <a:endParaRPr lang="en-US" sz="1500" dirty="0"/>
          </a:p>
        </p:txBody>
      </p:sp>
      <p:sp>
        <p:nvSpPr>
          <p:cNvPr id="29" name="Text 27"/>
          <p:cNvSpPr txBox="1"/>
          <p:nvPr/>
        </p:nvSpPr>
        <p:spPr>
          <a:xfrm>
            <a:off x="7370064" y="3154680"/>
            <a:ext cx="1188720" cy="91440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Arrays as function parameters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48590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48590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1 · RETURN TYPE</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What is a return type?</a:t>
            </a:r>
            <a:endParaRPr lang="en-US" sz="2800" dirty="0"/>
          </a:p>
        </p:txBody>
      </p:sp>
      <p:sp>
        <p:nvSpPr>
          <p:cNvPr id="5" name="Text 3"/>
          <p:cNvSpPr txBox="1"/>
          <p:nvPr/>
        </p:nvSpPr>
        <p:spPr>
          <a:xfrm>
            <a:off x="457200" y="1325880"/>
            <a:ext cx="3931920" cy="11887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Every function can send one value back to where it was called. The return type tells the compiler what kind of value that will be, and it is written before the function name.</a:t>
            </a:r>
            <a:endParaRPr lang="en-US" sz="1500" dirty="0"/>
          </a:p>
        </p:txBody>
      </p:sp>
      <p:sp>
        <p:nvSpPr>
          <p:cNvPr id="6" name="Shape 4"/>
          <p:cNvSpPr/>
          <p:nvPr/>
        </p:nvSpPr>
        <p:spPr>
          <a:xfrm>
            <a:off x="457200" y="2697480"/>
            <a:ext cx="3931920" cy="1783080"/>
          </a:xfrm>
          <a:prstGeom prst="roundRect">
            <a:avLst>
              <a:gd name="adj" fmla="val 5128"/>
            </a:avLst>
          </a:prstGeom>
          <a:solidFill>
            <a:srgbClr val="FFF1D6"/>
          </a:solidFill>
          <a:ln w="12700">
            <a:solidFill>
              <a:srgbClr val="FFF1D6"/>
            </a:solidFill>
            <a:prstDash val="solid"/>
          </a:ln>
        </p:spPr>
      </p:sp>
      <p:sp>
        <p:nvSpPr>
          <p:cNvPr id="7" name="Text 5"/>
          <p:cNvSpPr txBox="1"/>
          <p:nvPr/>
        </p:nvSpPr>
        <p:spPr>
          <a:xfrm>
            <a:off x="640080" y="2834640"/>
            <a:ext cx="3566160" cy="3200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Analogy: a vending machine</a:t>
            </a:r>
            <a:endParaRPr lang="en-US" sz="1500" dirty="0"/>
          </a:p>
        </p:txBody>
      </p:sp>
      <p:sp>
        <p:nvSpPr>
          <p:cNvPr id="8" name="Text 6"/>
          <p:cNvSpPr txBox="1"/>
          <p:nvPr/>
        </p:nvSpPr>
        <p:spPr>
          <a:xfrm>
            <a:off x="640080" y="3200400"/>
            <a:ext cx="3566160" cy="1188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You put in inputs (coins and a button press) and one item comes out. The return type is the label on the output slot: a drink (int), a snack (float), or nothing at all (void).</a:t>
            </a:r>
            <a:endParaRPr lang="en-US" sz="1300" dirty="0"/>
          </a:p>
        </p:txBody>
      </p:sp>
      <p:sp>
        <p:nvSpPr>
          <p:cNvPr id="9" name="Shape 7"/>
          <p:cNvSpPr/>
          <p:nvPr/>
        </p:nvSpPr>
        <p:spPr>
          <a:xfrm>
            <a:off x="4754880" y="1325880"/>
            <a:ext cx="3931920" cy="1600200"/>
          </a:xfrm>
          <a:prstGeom prst="roundRect">
            <a:avLst>
              <a:gd name="adj" fmla="val 4571"/>
            </a:avLst>
          </a:prstGeom>
          <a:solidFill>
            <a:srgbClr val="1E293B"/>
          </a:solidFill>
          <a:ln w="12700">
            <a:solidFill>
              <a:srgbClr val="1E293B"/>
            </a:solidFill>
            <a:prstDash val="solid"/>
          </a:ln>
        </p:spPr>
      </p:sp>
      <p:sp>
        <p:nvSpPr>
          <p:cNvPr id="10" name="Text 8"/>
          <p:cNvSpPr txBox="1"/>
          <p:nvPr/>
        </p:nvSpPr>
        <p:spPr>
          <a:xfrm>
            <a:off x="4892040" y="1417320"/>
            <a:ext cx="3657600" cy="1417320"/>
          </a:xfrm>
          <a:prstGeom prst="rect">
            <a:avLst/>
          </a:prstGeom>
          <a:noFill/>
          <a:ln/>
        </p:spPr>
        <p:txBody>
          <a:bodyPr wrap="square" lIns="0" tIns="0" rIns="0" bIns="0" rtlCol="0" anchor="t"/>
          <a:lstStyle/>
          <a:p>
            <a:pPr indent="0" marL="0">
              <a:buNone/>
            </a:pPr>
            <a:r>
              <a:rPr lang="en-US" sz="1300" dirty="0">
                <a:solidFill>
                  <a:srgbClr val="E2E8F0"/>
                </a:solidFill>
                <a:latin typeface="Courier New" pitchFamily="34" charset="0"/>
                <a:ea typeface="Courier New" pitchFamily="34" charset="-122"/>
                <a:cs typeface="Courier New" pitchFamily="34" charset="-120"/>
              </a:rPr>
              <a:t>return_type function_name(parameters)</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pPr indent="0" marL="0">
              <a:buNone/>
            </a:pPr>
            <a:r>
              <a:rPr lang="en-US" sz="1300" dirty="0">
                <a:solidFill>
                  <a:srgbClr val="94D2A5"/>
                </a:solidFill>
                <a:latin typeface="Courier New" pitchFamily="34" charset="0"/>
                <a:ea typeface="Courier New" pitchFamily="34" charset="-122"/>
                <a:cs typeface="Courier New" pitchFamily="34" charset="-120"/>
              </a:rPr>
              <a:t>// body</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return value;</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4754880" y="3154680"/>
            <a:ext cx="3931920" cy="548640"/>
          </a:xfrm>
          <a:prstGeom prst="roundRect">
            <a:avLst>
              <a:gd name="adj" fmla="val 16667"/>
            </a:avLst>
          </a:prstGeom>
          <a:solidFill>
            <a:srgbClr val="EEF2F7"/>
          </a:solidFill>
          <a:ln w="12700">
            <a:solidFill>
              <a:srgbClr val="EEF2F7"/>
            </a:solidFill>
            <a:prstDash val="solid"/>
          </a:ln>
        </p:spPr>
      </p:sp>
      <p:sp>
        <p:nvSpPr>
          <p:cNvPr id="12" name="Text 10"/>
          <p:cNvSpPr txBox="1"/>
          <p:nvPr/>
        </p:nvSpPr>
        <p:spPr>
          <a:xfrm>
            <a:off x="4892040" y="3154680"/>
            <a:ext cx="1463040" cy="548640"/>
          </a:xfrm>
          <a:prstGeom prst="rect">
            <a:avLst/>
          </a:prstGeom>
          <a:noFill/>
          <a:ln/>
        </p:spPr>
        <p:txBody>
          <a:bodyPr wrap="square" lIns="0" tIns="0" rIns="0" bIns="0" rtlCol="0" anchor="ctr"/>
          <a:lstStyle/>
          <a:p>
            <a:pPr indent="0" marL="0">
              <a:buNone/>
            </a:pPr>
            <a:r>
              <a:rPr lang="en-US" sz="1200" b="1" dirty="0">
                <a:solidFill>
                  <a:srgbClr val="2A9D8F"/>
                </a:solidFill>
                <a:latin typeface="Courier New" pitchFamily="34" charset="0"/>
                <a:ea typeface="Courier New" pitchFamily="34" charset="-122"/>
                <a:cs typeface="Courier New" pitchFamily="34" charset="-120"/>
              </a:rPr>
              <a:t>return_type</a:t>
            </a:r>
            <a:endParaRPr lang="en-US" sz="1200" dirty="0"/>
          </a:p>
        </p:txBody>
      </p:sp>
      <p:sp>
        <p:nvSpPr>
          <p:cNvPr id="13" name="Text 11"/>
          <p:cNvSpPr txBox="1"/>
          <p:nvPr/>
        </p:nvSpPr>
        <p:spPr>
          <a:xfrm>
            <a:off x="6400800" y="3154680"/>
            <a:ext cx="219456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type of value sent back</a:t>
            </a:r>
            <a:endParaRPr lang="en-US" sz="1200" dirty="0"/>
          </a:p>
        </p:txBody>
      </p:sp>
      <p:sp>
        <p:nvSpPr>
          <p:cNvPr id="14" name="Shape 12"/>
          <p:cNvSpPr/>
          <p:nvPr/>
        </p:nvSpPr>
        <p:spPr>
          <a:xfrm>
            <a:off x="4754880" y="3840480"/>
            <a:ext cx="3931920" cy="548640"/>
          </a:xfrm>
          <a:prstGeom prst="roundRect">
            <a:avLst>
              <a:gd name="adj" fmla="val 16667"/>
            </a:avLst>
          </a:prstGeom>
          <a:solidFill>
            <a:srgbClr val="EEF2F7"/>
          </a:solidFill>
          <a:ln w="12700">
            <a:solidFill>
              <a:srgbClr val="EEF2F7"/>
            </a:solidFill>
            <a:prstDash val="solid"/>
          </a:ln>
        </p:spPr>
      </p:sp>
      <p:sp>
        <p:nvSpPr>
          <p:cNvPr id="15" name="Text 13"/>
          <p:cNvSpPr txBox="1"/>
          <p:nvPr/>
        </p:nvSpPr>
        <p:spPr>
          <a:xfrm>
            <a:off x="4892040" y="3840480"/>
            <a:ext cx="1463040" cy="548640"/>
          </a:xfrm>
          <a:prstGeom prst="rect">
            <a:avLst/>
          </a:prstGeom>
          <a:noFill/>
          <a:ln/>
        </p:spPr>
        <p:txBody>
          <a:bodyPr wrap="square" lIns="0" tIns="0" rIns="0" bIns="0" rtlCol="0" anchor="ctr"/>
          <a:lstStyle/>
          <a:p>
            <a:pPr indent="0" marL="0">
              <a:buNone/>
            </a:pPr>
            <a:r>
              <a:rPr lang="en-US" sz="1200" b="1" dirty="0">
                <a:solidFill>
                  <a:srgbClr val="2A9D8F"/>
                </a:solidFill>
                <a:latin typeface="Courier New" pitchFamily="34" charset="0"/>
                <a:ea typeface="Courier New" pitchFamily="34" charset="-122"/>
                <a:cs typeface="Courier New" pitchFamily="34" charset="-120"/>
              </a:rPr>
              <a:t>return value;</a:t>
            </a:r>
            <a:endParaRPr lang="en-US" sz="1200" dirty="0"/>
          </a:p>
        </p:txBody>
      </p:sp>
      <p:sp>
        <p:nvSpPr>
          <p:cNvPr id="16" name="Text 14"/>
          <p:cNvSpPr txBox="1"/>
          <p:nvPr/>
        </p:nvSpPr>
        <p:spPr>
          <a:xfrm>
            <a:off x="6400800" y="3840480"/>
            <a:ext cx="219456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sends the value and ends the function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48590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48590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1 · RETURN TYPE</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Common return types</a:t>
            </a:r>
            <a:endParaRPr lang="en-US" sz="2800" dirty="0"/>
          </a:p>
        </p:txBody>
      </p:sp>
      <p:sp>
        <p:nvSpPr>
          <p:cNvPr id="5" name="Shape 3"/>
          <p:cNvSpPr/>
          <p:nvPr/>
        </p:nvSpPr>
        <p:spPr>
          <a:xfrm>
            <a:off x="457200" y="1325880"/>
            <a:ext cx="1920240" cy="3337560"/>
          </a:xfrm>
          <a:prstGeom prst="roundRect">
            <a:avLst>
              <a:gd name="adj" fmla="val 4762"/>
            </a:avLst>
          </a:prstGeom>
          <a:solidFill>
            <a:srgbClr val="EEF2F7"/>
          </a:solidFill>
          <a:ln w="12700">
            <a:solidFill>
              <a:srgbClr val="EEF2F7"/>
            </a:solidFill>
            <a:prstDash val="solid"/>
          </a:ln>
        </p:spPr>
      </p:sp>
      <p:sp>
        <p:nvSpPr>
          <p:cNvPr id="6" name="Text 4"/>
          <p:cNvSpPr txBox="1"/>
          <p:nvPr/>
        </p:nvSpPr>
        <p:spPr>
          <a:xfrm>
            <a:off x="621792" y="1463040"/>
            <a:ext cx="1645920" cy="457200"/>
          </a:xfrm>
          <a:prstGeom prst="rect">
            <a:avLst/>
          </a:prstGeom>
          <a:noFill/>
          <a:ln/>
        </p:spPr>
        <p:txBody>
          <a:bodyPr wrap="square" lIns="0" tIns="0" rIns="0" bIns="0" rtlCol="0" anchor="t"/>
          <a:lstStyle/>
          <a:p>
            <a:pPr indent="0" marL="0">
              <a:buNone/>
            </a:pPr>
            <a:r>
              <a:rPr lang="en-US" sz="2400" b="1" dirty="0">
                <a:solidFill>
                  <a:srgbClr val="2A9D8F"/>
                </a:solidFill>
                <a:latin typeface="Courier New" pitchFamily="34" charset="0"/>
                <a:ea typeface="Courier New" pitchFamily="34" charset="-122"/>
                <a:cs typeface="Courier New" pitchFamily="34" charset="-120"/>
              </a:rPr>
              <a:t>int</a:t>
            </a:r>
            <a:endParaRPr lang="en-US" sz="2400" dirty="0"/>
          </a:p>
        </p:txBody>
      </p:sp>
      <p:sp>
        <p:nvSpPr>
          <p:cNvPr id="7" name="Text 5"/>
          <p:cNvSpPr txBox="1"/>
          <p:nvPr/>
        </p:nvSpPr>
        <p:spPr>
          <a:xfrm>
            <a:off x="621792" y="1920240"/>
            <a:ext cx="1645920" cy="3200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A whole number</a:t>
            </a:r>
            <a:endParaRPr lang="en-US" sz="1300" dirty="0"/>
          </a:p>
        </p:txBody>
      </p:sp>
      <p:sp>
        <p:nvSpPr>
          <p:cNvPr id="8" name="Shape 6"/>
          <p:cNvSpPr/>
          <p:nvPr/>
        </p:nvSpPr>
        <p:spPr>
          <a:xfrm>
            <a:off x="566928" y="2286000"/>
            <a:ext cx="1700784" cy="1600200"/>
          </a:xfrm>
          <a:prstGeom prst="roundRect">
            <a:avLst>
              <a:gd name="adj" fmla="val 4571"/>
            </a:avLst>
          </a:prstGeom>
          <a:solidFill>
            <a:srgbClr val="1E293B"/>
          </a:solidFill>
          <a:ln w="12700">
            <a:solidFill>
              <a:srgbClr val="1E293B"/>
            </a:solidFill>
            <a:prstDash val="solid"/>
          </a:ln>
        </p:spPr>
      </p:sp>
      <p:sp>
        <p:nvSpPr>
          <p:cNvPr id="9" name="Text 7"/>
          <p:cNvSpPr txBox="1"/>
          <p:nvPr/>
        </p:nvSpPr>
        <p:spPr>
          <a:xfrm>
            <a:off x="704088" y="2377440"/>
            <a:ext cx="1426464" cy="141732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int add(int a,</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int b)</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return a + b;</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10" name="Text 8"/>
          <p:cNvSpPr txBox="1"/>
          <p:nvPr/>
        </p:nvSpPr>
        <p:spPr>
          <a:xfrm>
            <a:off x="621792" y="4023360"/>
            <a:ext cx="1645920" cy="45720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add(5, 3) → 8</a:t>
            </a:r>
            <a:endParaRPr lang="en-US" sz="1200" dirty="0"/>
          </a:p>
        </p:txBody>
      </p:sp>
      <p:sp>
        <p:nvSpPr>
          <p:cNvPr id="11" name="Shape 9"/>
          <p:cNvSpPr/>
          <p:nvPr/>
        </p:nvSpPr>
        <p:spPr>
          <a:xfrm>
            <a:off x="2560320" y="1325880"/>
            <a:ext cx="1920240" cy="3337560"/>
          </a:xfrm>
          <a:prstGeom prst="roundRect">
            <a:avLst>
              <a:gd name="adj" fmla="val 4762"/>
            </a:avLst>
          </a:prstGeom>
          <a:solidFill>
            <a:srgbClr val="EEF2F7"/>
          </a:solidFill>
          <a:ln w="12700">
            <a:solidFill>
              <a:srgbClr val="EEF2F7"/>
            </a:solidFill>
            <a:prstDash val="solid"/>
          </a:ln>
        </p:spPr>
      </p:sp>
      <p:sp>
        <p:nvSpPr>
          <p:cNvPr id="12" name="Text 10"/>
          <p:cNvSpPr txBox="1"/>
          <p:nvPr/>
        </p:nvSpPr>
        <p:spPr>
          <a:xfrm>
            <a:off x="2724912" y="1463040"/>
            <a:ext cx="1645920" cy="457200"/>
          </a:xfrm>
          <a:prstGeom prst="rect">
            <a:avLst/>
          </a:prstGeom>
          <a:noFill/>
          <a:ln/>
        </p:spPr>
        <p:txBody>
          <a:bodyPr wrap="square" lIns="0" tIns="0" rIns="0" bIns="0" rtlCol="0" anchor="t"/>
          <a:lstStyle/>
          <a:p>
            <a:pPr indent="0" marL="0">
              <a:buNone/>
            </a:pPr>
            <a:r>
              <a:rPr lang="en-US" sz="2400" b="1" dirty="0">
                <a:solidFill>
                  <a:srgbClr val="2A9D8F"/>
                </a:solidFill>
                <a:latin typeface="Courier New" pitchFamily="34" charset="0"/>
                <a:ea typeface="Courier New" pitchFamily="34" charset="-122"/>
                <a:cs typeface="Courier New" pitchFamily="34" charset="-120"/>
              </a:rPr>
              <a:t>float</a:t>
            </a:r>
            <a:endParaRPr lang="en-US" sz="2400" dirty="0"/>
          </a:p>
        </p:txBody>
      </p:sp>
      <p:sp>
        <p:nvSpPr>
          <p:cNvPr id="13" name="Text 11"/>
          <p:cNvSpPr txBox="1"/>
          <p:nvPr/>
        </p:nvSpPr>
        <p:spPr>
          <a:xfrm>
            <a:off x="2724912" y="1920240"/>
            <a:ext cx="1645920" cy="3200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A decimal number</a:t>
            </a:r>
            <a:endParaRPr lang="en-US" sz="1300" dirty="0"/>
          </a:p>
        </p:txBody>
      </p:sp>
      <p:sp>
        <p:nvSpPr>
          <p:cNvPr id="14" name="Shape 12"/>
          <p:cNvSpPr/>
          <p:nvPr/>
        </p:nvSpPr>
        <p:spPr>
          <a:xfrm>
            <a:off x="2670048" y="2286000"/>
            <a:ext cx="1700784" cy="1600200"/>
          </a:xfrm>
          <a:prstGeom prst="roundRect">
            <a:avLst>
              <a:gd name="adj" fmla="val 4571"/>
            </a:avLst>
          </a:prstGeom>
          <a:solidFill>
            <a:srgbClr val="1E293B"/>
          </a:solidFill>
          <a:ln w="12700">
            <a:solidFill>
              <a:srgbClr val="1E293B"/>
            </a:solidFill>
            <a:prstDash val="solid"/>
          </a:ln>
        </p:spPr>
      </p:sp>
      <p:sp>
        <p:nvSpPr>
          <p:cNvPr id="15" name="Text 13"/>
          <p:cNvSpPr txBox="1"/>
          <p:nvPr/>
        </p:nvSpPr>
        <p:spPr>
          <a:xfrm>
            <a:off x="2807208" y="2377440"/>
            <a:ext cx="1426464" cy="141732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float average(</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int a, int b)</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return (a+b)/2.0f;</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16" name="Text 14"/>
          <p:cNvSpPr txBox="1"/>
          <p:nvPr/>
        </p:nvSpPr>
        <p:spPr>
          <a:xfrm>
            <a:off x="2724912" y="4023360"/>
            <a:ext cx="1645920" cy="45720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average(5, 4) → 4.50</a:t>
            </a:r>
            <a:endParaRPr lang="en-US" sz="1200" dirty="0"/>
          </a:p>
        </p:txBody>
      </p:sp>
      <p:sp>
        <p:nvSpPr>
          <p:cNvPr id="17" name="Shape 15"/>
          <p:cNvSpPr/>
          <p:nvPr/>
        </p:nvSpPr>
        <p:spPr>
          <a:xfrm>
            <a:off x="4663440" y="1325880"/>
            <a:ext cx="1920240" cy="3337560"/>
          </a:xfrm>
          <a:prstGeom prst="roundRect">
            <a:avLst>
              <a:gd name="adj" fmla="val 4762"/>
            </a:avLst>
          </a:prstGeom>
          <a:solidFill>
            <a:srgbClr val="EEF2F7"/>
          </a:solidFill>
          <a:ln w="12700">
            <a:solidFill>
              <a:srgbClr val="EEF2F7"/>
            </a:solidFill>
            <a:prstDash val="solid"/>
          </a:ln>
        </p:spPr>
      </p:sp>
      <p:sp>
        <p:nvSpPr>
          <p:cNvPr id="18" name="Text 16"/>
          <p:cNvSpPr txBox="1"/>
          <p:nvPr/>
        </p:nvSpPr>
        <p:spPr>
          <a:xfrm>
            <a:off x="4828032" y="1463040"/>
            <a:ext cx="1645920" cy="457200"/>
          </a:xfrm>
          <a:prstGeom prst="rect">
            <a:avLst/>
          </a:prstGeom>
          <a:noFill/>
          <a:ln/>
        </p:spPr>
        <p:txBody>
          <a:bodyPr wrap="square" lIns="0" tIns="0" rIns="0" bIns="0" rtlCol="0" anchor="t"/>
          <a:lstStyle/>
          <a:p>
            <a:pPr indent="0" marL="0">
              <a:buNone/>
            </a:pPr>
            <a:r>
              <a:rPr lang="en-US" sz="2400" b="1" dirty="0">
                <a:solidFill>
                  <a:srgbClr val="2A9D8F"/>
                </a:solidFill>
                <a:latin typeface="Courier New" pitchFamily="34" charset="0"/>
                <a:ea typeface="Courier New" pitchFamily="34" charset="-122"/>
                <a:cs typeface="Courier New" pitchFamily="34" charset="-120"/>
              </a:rPr>
              <a:t>char</a:t>
            </a:r>
            <a:endParaRPr lang="en-US" sz="2400" dirty="0"/>
          </a:p>
        </p:txBody>
      </p:sp>
      <p:sp>
        <p:nvSpPr>
          <p:cNvPr id="19" name="Text 17"/>
          <p:cNvSpPr txBox="1"/>
          <p:nvPr/>
        </p:nvSpPr>
        <p:spPr>
          <a:xfrm>
            <a:off x="4828032" y="1920240"/>
            <a:ext cx="1645920" cy="3200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A single character</a:t>
            </a:r>
            <a:endParaRPr lang="en-US" sz="1300" dirty="0"/>
          </a:p>
        </p:txBody>
      </p:sp>
      <p:sp>
        <p:nvSpPr>
          <p:cNvPr id="20" name="Shape 18"/>
          <p:cNvSpPr/>
          <p:nvPr/>
        </p:nvSpPr>
        <p:spPr>
          <a:xfrm>
            <a:off x="4773168" y="2286000"/>
            <a:ext cx="1700784" cy="1600200"/>
          </a:xfrm>
          <a:prstGeom prst="roundRect">
            <a:avLst>
              <a:gd name="adj" fmla="val 4571"/>
            </a:avLst>
          </a:prstGeom>
          <a:solidFill>
            <a:srgbClr val="1E293B"/>
          </a:solidFill>
          <a:ln w="12700">
            <a:solidFill>
              <a:srgbClr val="1E293B"/>
            </a:solidFill>
            <a:prstDash val="solid"/>
          </a:ln>
        </p:spPr>
      </p:sp>
      <p:sp>
        <p:nvSpPr>
          <p:cNvPr id="21" name="Text 19"/>
          <p:cNvSpPr txBox="1"/>
          <p:nvPr/>
        </p:nvSpPr>
        <p:spPr>
          <a:xfrm>
            <a:off x="4910328" y="2377440"/>
            <a:ext cx="1426464" cy="141732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char grade(int m)</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if (m &gt;= 90)</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return 'A';</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22" name="Text 20"/>
          <p:cNvSpPr txBox="1"/>
          <p:nvPr/>
        </p:nvSpPr>
        <p:spPr>
          <a:xfrm>
            <a:off x="4828032" y="4023360"/>
            <a:ext cx="1645920" cy="45720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grade(82) → 'B'</a:t>
            </a:r>
            <a:endParaRPr lang="en-US" sz="1200" dirty="0"/>
          </a:p>
        </p:txBody>
      </p:sp>
      <p:sp>
        <p:nvSpPr>
          <p:cNvPr id="23" name="Shape 21"/>
          <p:cNvSpPr/>
          <p:nvPr/>
        </p:nvSpPr>
        <p:spPr>
          <a:xfrm>
            <a:off x="6766560" y="1325880"/>
            <a:ext cx="1920240" cy="3337560"/>
          </a:xfrm>
          <a:prstGeom prst="roundRect">
            <a:avLst>
              <a:gd name="adj" fmla="val 4762"/>
            </a:avLst>
          </a:prstGeom>
          <a:solidFill>
            <a:srgbClr val="EEF2F7"/>
          </a:solidFill>
          <a:ln w="12700">
            <a:solidFill>
              <a:srgbClr val="EEF2F7"/>
            </a:solidFill>
            <a:prstDash val="solid"/>
          </a:ln>
        </p:spPr>
      </p:sp>
      <p:sp>
        <p:nvSpPr>
          <p:cNvPr id="24" name="Text 22"/>
          <p:cNvSpPr txBox="1"/>
          <p:nvPr/>
        </p:nvSpPr>
        <p:spPr>
          <a:xfrm>
            <a:off x="6931152" y="1463040"/>
            <a:ext cx="1645920" cy="457200"/>
          </a:xfrm>
          <a:prstGeom prst="rect">
            <a:avLst/>
          </a:prstGeom>
          <a:noFill/>
          <a:ln/>
        </p:spPr>
        <p:txBody>
          <a:bodyPr wrap="square" lIns="0" tIns="0" rIns="0" bIns="0" rtlCol="0" anchor="t"/>
          <a:lstStyle/>
          <a:p>
            <a:pPr indent="0" marL="0">
              <a:buNone/>
            </a:pPr>
            <a:r>
              <a:rPr lang="en-US" sz="2400" b="1" dirty="0">
                <a:solidFill>
                  <a:srgbClr val="D1495B"/>
                </a:solidFill>
                <a:latin typeface="Courier New" pitchFamily="34" charset="0"/>
                <a:ea typeface="Courier New" pitchFamily="34" charset="-122"/>
                <a:cs typeface="Courier New" pitchFamily="34" charset="-120"/>
              </a:rPr>
              <a:t>void</a:t>
            </a:r>
            <a:endParaRPr lang="en-US" sz="2400" dirty="0"/>
          </a:p>
        </p:txBody>
      </p:sp>
      <p:sp>
        <p:nvSpPr>
          <p:cNvPr id="25" name="Text 23"/>
          <p:cNvSpPr txBox="1"/>
          <p:nvPr/>
        </p:nvSpPr>
        <p:spPr>
          <a:xfrm>
            <a:off x="6931152" y="1920240"/>
            <a:ext cx="1645920" cy="32004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Nothing at all</a:t>
            </a:r>
            <a:endParaRPr lang="en-US" sz="1300" dirty="0"/>
          </a:p>
        </p:txBody>
      </p:sp>
      <p:sp>
        <p:nvSpPr>
          <p:cNvPr id="26" name="Shape 24"/>
          <p:cNvSpPr/>
          <p:nvPr/>
        </p:nvSpPr>
        <p:spPr>
          <a:xfrm>
            <a:off x="6876288" y="2286000"/>
            <a:ext cx="1700784" cy="1600200"/>
          </a:xfrm>
          <a:prstGeom prst="roundRect">
            <a:avLst>
              <a:gd name="adj" fmla="val 4571"/>
            </a:avLst>
          </a:prstGeom>
          <a:solidFill>
            <a:srgbClr val="1E293B"/>
          </a:solidFill>
          <a:ln w="12700">
            <a:solidFill>
              <a:srgbClr val="1E293B"/>
            </a:solidFill>
            <a:prstDash val="solid"/>
          </a:ln>
        </p:spPr>
      </p:sp>
      <p:sp>
        <p:nvSpPr>
          <p:cNvPr id="27" name="Text 25"/>
          <p:cNvSpPr txBox="1"/>
          <p:nvPr/>
        </p:nvSpPr>
        <p:spPr>
          <a:xfrm>
            <a:off x="7013448" y="2377440"/>
            <a:ext cx="1426464" cy="141732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void greet(void)</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printf("Hello!");</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28" name="Text 26"/>
          <p:cNvSpPr txBox="1"/>
          <p:nvPr/>
        </p:nvSpPr>
        <p:spPr>
          <a:xfrm>
            <a:off x="6931152" y="4023360"/>
            <a:ext cx="1645920" cy="45720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greet(); prints Hello!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48590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48590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1 · RETURN TYPE</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Key points about return</a:t>
            </a:r>
            <a:endParaRPr lang="en-US" sz="2800" dirty="0"/>
          </a:p>
        </p:txBody>
      </p:sp>
      <p:sp>
        <p:nvSpPr>
          <p:cNvPr id="5" name="Shape 3"/>
          <p:cNvSpPr/>
          <p:nvPr/>
        </p:nvSpPr>
        <p:spPr>
          <a:xfrm>
            <a:off x="457200" y="1371600"/>
            <a:ext cx="457200" cy="457200"/>
          </a:xfrm>
          <a:prstGeom prst="ellipse">
            <a:avLst/>
          </a:prstGeom>
          <a:solidFill>
            <a:srgbClr val="FCA311"/>
          </a:solidFill>
          <a:ln w="12700">
            <a:solidFill>
              <a:srgbClr val="FCA311"/>
            </a:solidFill>
            <a:prstDash val="solid"/>
          </a:ln>
        </p:spPr>
      </p:sp>
      <p:sp>
        <p:nvSpPr>
          <p:cNvPr id="6" name="Text 4"/>
          <p:cNvSpPr txBox="1"/>
          <p:nvPr/>
        </p:nvSpPr>
        <p:spPr>
          <a:xfrm>
            <a:off x="457200" y="137160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51560" y="1325880"/>
            <a:ext cx="3657600" cy="292608"/>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return does two jobs</a:t>
            </a:r>
            <a:endParaRPr lang="en-US" sz="1500" dirty="0"/>
          </a:p>
        </p:txBody>
      </p:sp>
      <p:sp>
        <p:nvSpPr>
          <p:cNvPr id="8" name="Text 6"/>
          <p:cNvSpPr txBox="1"/>
          <p:nvPr/>
        </p:nvSpPr>
        <p:spPr>
          <a:xfrm>
            <a:off x="1051560" y="1627632"/>
            <a:ext cx="3657600" cy="47548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It sends a value back and ends the function immediately. Code after it does not run.</a:t>
            </a:r>
            <a:endParaRPr lang="en-US" sz="1200" dirty="0"/>
          </a:p>
        </p:txBody>
      </p:sp>
      <p:sp>
        <p:nvSpPr>
          <p:cNvPr id="9" name="Shape 7"/>
          <p:cNvSpPr/>
          <p:nvPr/>
        </p:nvSpPr>
        <p:spPr>
          <a:xfrm>
            <a:off x="457200" y="2194560"/>
            <a:ext cx="457200" cy="457200"/>
          </a:xfrm>
          <a:prstGeom prst="ellipse">
            <a:avLst/>
          </a:prstGeom>
          <a:solidFill>
            <a:srgbClr val="FCA311"/>
          </a:solidFill>
          <a:ln w="12700">
            <a:solidFill>
              <a:srgbClr val="FCA311"/>
            </a:solidFill>
            <a:prstDash val="solid"/>
          </a:ln>
        </p:spPr>
      </p:sp>
      <p:sp>
        <p:nvSpPr>
          <p:cNvPr id="10" name="Text 8"/>
          <p:cNvSpPr txBox="1"/>
          <p:nvPr/>
        </p:nvSpPr>
        <p:spPr>
          <a:xfrm>
            <a:off x="457200" y="219456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51560" y="2148840"/>
            <a:ext cx="3657600" cy="292608"/>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void cannot be used in an expression</a:t>
            </a:r>
            <a:endParaRPr lang="en-US" sz="1500" dirty="0"/>
          </a:p>
        </p:txBody>
      </p:sp>
      <p:sp>
        <p:nvSpPr>
          <p:cNvPr id="12" name="Text 10"/>
          <p:cNvSpPr txBox="1"/>
          <p:nvPr/>
        </p:nvSpPr>
        <p:spPr>
          <a:xfrm>
            <a:off x="1051560" y="2450592"/>
            <a:ext cx="3657600" cy="47548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int x = greet(); is an error because greet() returns nothing.</a:t>
            </a:r>
            <a:endParaRPr lang="en-US" sz="1200" dirty="0"/>
          </a:p>
        </p:txBody>
      </p:sp>
      <p:sp>
        <p:nvSpPr>
          <p:cNvPr id="13" name="Shape 11"/>
          <p:cNvSpPr/>
          <p:nvPr/>
        </p:nvSpPr>
        <p:spPr>
          <a:xfrm>
            <a:off x="457200" y="3017520"/>
            <a:ext cx="457200" cy="457200"/>
          </a:xfrm>
          <a:prstGeom prst="ellipse">
            <a:avLst/>
          </a:prstGeom>
          <a:solidFill>
            <a:srgbClr val="FCA311"/>
          </a:solidFill>
          <a:ln w="12700">
            <a:solidFill>
              <a:srgbClr val="FCA311"/>
            </a:solidFill>
            <a:prstDash val="solid"/>
          </a:ln>
        </p:spPr>
      </p:sp>
      <p:sp>
        <p:nvSpPr>
          <p:cNvPr id="14" name="Text 12"/>
          <p:cNvSpPr txBox="1"/>
          <p:nvPr/>
        </p:nvSpPr>
        <p:spPr>
          <a:xfrm>
            <a:off x="457200" y="301752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051560" y="2971800"/>
            <a:ext cx="3657600" cy="292608"/>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Many returns, one executes</a:t>
            </a:r>
            <a:endParaRPr lang="en-US" sz="1500" dirty="0"/>
          </a:p>
        </p:txBody>
      </p:sp>
      <p:sp>
        <p:nvSpPr>
          <p:cNvPr id="16" name="Text 14"/>
          <p:cNvSpPr txBox="1"/>
          <p:nvPr/>
        </p:nvSpPr>
        <p:spPr>
          <a:xfrm>
            <a:off x="1051560" y="3273552"/>
            <a:ext cx="3657600" cy="47548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 function may have several return statements, but only one runs per call.</a:t>
            </a:r>
            <a:endParaRPr lang="en-US" sz="1200" dirty="0"/>
          </a:p>
        </p:txBody>
      </p:sp>
      <p:sp>
        <p:nvSpPr>
          <p:cNvPr id="17" name="Shape 15"/>
          <p:cNvSpPr/>
          <p:nvPr/>
        </p:nvSpPr>
        <p:spPr>
          <a:xfrm>
            <a:off x="457200" y="3840480"/>
            <a:ext cx="457200" cy="457200"/>
          </a:xfrm>
          <a:prstGeom prst="ellipse">
            <a:avLst/>
          </a:prstGeom>
          <a:solidFill>
            <a:srgbClr val="FCA311"/>
          </a:solidFill>
          <a:ln w="12700">
            <a:solidFill>
              <a:srgbClr val="FCA311"/>
            </a:solidFill>
            <a:prstDash val="solid"/>
          </a:ln>
        </p:spPr>
      </p:sp>
      <p:sp>
        <p:nvSpPr>
          <p:cNvPr id="18" name="Text 16"/>
          <p:cNvSpPr txBox="1"/>
          <p:nvPr/>
        </p:nvSpPr>
        <p:spPr>
          <a:xfrm>
            <a:off x="457200" y="384048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051560" y="3794760"/>
            <a:ext cx="3657600" cy="292608"/>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main() returns int</a:t>
            </a:r>
            <a:endParaRPr lang="en-US" sz="1500" dirty="0"/>
          </a:p>
        </p:txBody>
      </p:sp>
      <p:sp>
        <p:nvSpPr>
          <p:cNvPr id="20" name="Text 18"/>
          <p:cNvSpPr txBox="1"/>
          <p:nvPr/>
        </p:nvSpPr>
        <p:spPr>
          <a:xfrm>
            <a:off x="1051560" y="4096512"/>
            <a:ext cx="3657600" cy="47548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It reports to the operating system: 0 means success, non-zero means an error.</a:t>
            </a:r>
            <a:endParaRPr lang="en-US" sz="1200" dirty="0"/>
          </a:p>
        </p:txBody>
      </p:sp>
      <p:sp>
        <p:nvSpPr>
          <p:cNvPr id="21" name="Shape 19"/>
          <p:cNvSpPr/>
          <p:nvPr/>
        </p:nvSpPr>
        <p:spPr>
          <a:xfrm>
            <a:off x="5029200" y="1325880"/>
            <a:ext cx="3657600" cy="3246120"/>
          </a:xfrm>
          <a:prstGeom prst="roundRect">
            <a:avLst>
              <a:gd name="adj" fmla="val 2254"/>
            </a:avLst>
          </a:prstGeom>
          <a:solidFill>
            <a:srgbClr val="1E293B"/>
          </a:solidFill>
          <a:ln w="12700">
            <a:solidFill>
              <a:srgbClr val="1E293B"/>
            </a:solidFill>
            <a:prstDash val="solid"/>
          </a:ln>
        </p:spPr>
      </p:sp>
      <p:sp>
        <p:nvSpPr>
          <p:cNvPr id="22" name="Text 20"/>
          <p:cNvSpPr txBox="1"/>
          <p:nvPr/>
        </p:nvSpPr>
        <p:spPr>
          <a:xfrm>
            <a:off x="5166360" y="1417320"/>
            <a:ext cx="3383280" cy="3063240"/>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char grade(int marks)</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if (marks &gt;= 90)</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return 'A';</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else if (marks &gt;= 75)</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return 'B';</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else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return 'C';</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94D2A5"/>
                </a:solidFill>
                <a:latin typeface="Courier New" pitchFamily="34" charset="0"/>
                <a:ea typeface="Courier New" pitchFamily="34" charset="-122"/>
                <a:cs typeface="Courier New" pitchFamily="34" charset="-120"/>
              </a:rPr>
              <a:t>// grade(82) returns 'B'</a:t>
            </a:r>
            <a:endParaRPr lang="en-US" sz="1200" dirty="0"/>
          </a:p>
          <a:p>
            <a:pPr indent="0" marL="0">
              <a:buNone/>
            </a:pPr>
            <a:r>
              <a:rPr lang="en-US" sz="1200" dirty="0">
                <a:solidFill>
                  <a:srgbClr val="94D2A5"/>
                </a:solidFill>
                <a:latin typeface="Courier New" pitchFamily="34" charset="0"/>
                <a:ea typeface="Courier New" pitchFamily="34" charset="-122"/>
                <a:cs typeface="Courier New" pitchFamily="34" charset="-120"/>
              </a:rPr>
              <a:t>// only ONE return runs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719072"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719072"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2 · DIFFERENT TYPE</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Automatic conversion on return</a:t>
            </a:r>
            <a:endParaRPr lang="en-US" sz="2800" dirty="0"/>
          </a:p>
        </p:txBody>
      </p:sp>
      <p:sp>
        <p:nvSpPr>
          <p:cNvPr id="5" name="Shape 3"/>
          <p:cNvSpPr/>
          <p:nvPr/>
        </p:nvSpPr>
        <p:spPr>
          <a:xfrm>
            <a:off x="457200" y="1325880"/>
            <a:ext cx="4480560" cy="3291840"/>
          </a:xfrm>
          <a:prstGeom prst="roundRect">
            <a:avLst>
              <a:gd name="adj" fmla="val 2222"/>
            </a:avLst>
          </a:prstGeom>
          <a:solidFill>
            <a:srgbClr val="1E293B"/>
          </a:solidFill>
          <a:ln w="12700">
            <a:solidFill>
              <a:srgbClr val="1E293B"/>
            </a:solidFill>
            <a:prstDash val="solid"/>
          </a:ln>
        </p:spPr>
      </p:sp>
      <p:sp>
        <p:nvSpPr>
          <p:cNvPr id="6" name="Text 4"/>
          <p:cNvSpPr txBox="1"/>
          <p:nvPr/>
        </p:nvSpPr>
        <p:spPr>
          <a:xfrm>
            <a:off x="594360" y="1417320"/>
            <a:ext cx="4206240" cy="310896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int getValue(void)</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return 7.89;   </a:t>
            </a:r>
            <a:pPr indent="0" marL="0">
              <a:buNone/>
            </a:pPr>
            <a:r>
              <a:rPr lang="en-US" sz="1100" dirty="0">
                <a:solidFill>
                  <a:srgbClr val="94D2A5"/>
                </a:solidFill>
                <a:latin typeface="Courier New" pitchFamily="34" charset="0"/>
                <a:ea typeface="Courier New" pitchFamily="34" charset="-122"/>
                <a:cs typeface="Courier New" pitchFamily="34" charset="-120"/>
              </a:rPr>
              <a:t>// double from int fn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float divide(int a, int b)</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return a / b;  </a:t>
            </a:r>
            <a:pPr indent="0" marL="0">
              <a:buNone/>
            </a:pPr>
            <a:r>
              <a:rPr lang="en-US" sz="1100" dirty="0">
                <a:solidFill>
                  <a:srgbClr val="94D2A5"/>
                </a:solidFill>
                <a:latin typeface="Courier New" pitchFamily="34" charset="0"/>
                <a:ea typeface="Courier New" pitchFamily="34" charset="-122"/>
                <a:cs typeface="Courier New" pitchFamily="34" charset="-120"/>
              </a:rPr>
              <a:t>// int division first!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printf("%d", getValue());     </a:t>
            </a:r>
            <a:pPr indent="0" marL="0">
              <a:buNone/>
            </a:pPr>
            <a:r>
              <a:rPr lang="en-US" sz="1100" dirty="0">
                <a:solidFill>
                  <a:srgbClr val="94D2A5"/>
                </a:solidFill>
                <a:latin typeface="Courier New" pitchFamily="34" charset="0"/>
                <a:ea typeface="Courier New" pitchFamily="34" charset="-122"/>
                <a:cs typeface="Courier New" pitchFamily="34" charset="-120"/>
              </a:rPr>
              <a:t>// 7</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printf("%.2f", divide(7, 2)); </a:t>
            </a:r>
            <a:pPr indent="0" marL="0">
              <a:buNone/>
            </a:pPr>
            <a:r>
              <a:rPr lang="en-US" sz="1100" dirty="0">
                <a:solidFill>
                  <a:srgbClr val="94D2A5"/>
                </a:solidFill>
                <a:latin typeface="Courier New" pitchFamily="34" charset="0"/>
                <a:ea typeface="Courier New" pitchFamily="34" charset="-122"/>
                <a:cs typeface="Courier New" pitchFamily="34" charset="-120"/>
              </a:rPr>
              <a:t>// 3.00</a:t>
            </a:r>
            <a:endParaRPr lang="en-US" sz="1100" dirty="0"/>
          </a:p>
        </p:txBody>
      </p:sp>
      <p:sp>
        <p:nvSpPr>
          <p:cNvPr id="7" name="Shape 5"/>
          <p:cNvSpPr/>
          <p:nvPr/>
        </p:nvSpPr>
        <p:spPr>
          <a:xfrm>
            <a:off x="5212080" y="1325880"/>
            <a:ext cx="3474720" cy="1005840"/>
          </a:xfrm>
          <a:prstGeom prst="roundRect">
            <a:avLst>
              <a:gd name="adj" fmla="val 9091"/>
            </a:avLst>
          </a:prstGeom>
          <a:solidFill>
            <a:srgbClr val="FBE4E7"/>
          </a:solidFill>
          <a:ln w="12700">
            <a:solidFill>
              <a:srgbClr val="FBE4E7"/>
            </a:solidFill>
            <a:prstDash val="solid"/>
          </a:ln>
        </p:spPr>
      </p:sp>
      <p:sp>
        <p:nvSpPr>
          <p:cNvPr id="8" name="Text 6"/>
          <p:cNvSpPr txBox="1"/>
          <p:nvPr/>
        </p:nvSpPr>
        <p:spPr>
          <a:xfrm>
            <a:off x="5394960" y="1417320"/>
            <a:ext cx="3108960" cy="274320"/>
          </a:xfrm>
          <a:prstGeom prst="rect">
            <a:avLst/>
          </a:prstGeom>
          <a:noFill/>
          <a:ln/>
        </p:spPr>
        <p:txBody>
          <a:bodyPr wrap="square" lIns="0" tIns="0" rIns="0" bIns="0" rtlCol="0" anchor="t"/>
          <a:lstStyle/>
          <a:p>
            <a:pPr indent="0" marL="0">
              <a:buNone/>
            </a:pPr>
            <a:r>
              <a:rPr lang="en-US" sz="1400" b="1" dirty="0">
                <a:solidFill>
                  <a:srgbClr val="D1495B"/>
                </a:solidFill>
                <a:latin typeface="Calibri" pitchFamily="34" charset="0"/>
                <a:ea typeface="Calibri" pitchFamily="34" charset="-122"/>
                <a:cs typeface="Calibri" pitchFamily="34" charset="-120"/>
              </a:rPr>
              <a:t>The trap</a:t>
            </a:r>
            <a:endParaRPr lang="en-US" sz="1400" dirty="0"/>
          </a:p>
        </p:txBody>
      </p:sp>
      <p:sp>
        <p:nvSpPr>
          <p:cNvPr id="9" name="Text 7"/>
          <p:cNvSpPr txBox="1"/>
          <p:nvPr/>
        </p:nvSpPr>
        <p:spPr>
          <a:xfrm>
            <a:off x="5394960" y="1719072"/>
            <a:ext cx="3108960" cy="5486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7 / 2 uses two ints, so it gives 3. Only then is 3 converted to 3.00.</a:t>
            </a:r>
            <a:endParaRPr lang="en-US" sz="1200" dirty="0"/>
          </a:p>
        </p:txBody>
      </p:sp>
      <p:sp>
        <p:nvSpPr>
          <p:cNvPr id="10" name="Shape 8"/>
          <p:cNvSpPr/>
          <p:nvPr/>
        </p:nvSpPr>
        <p:spPr>
          <a:xfrm>
            <a:off x="5212080" y="2468880"/>
            <a:ext cx="3474720" cy="1005840"/>
          </a:xfrm>
          <a:prstGeom prst="roundRect">
            <a:avLst>
              <a:gd name="adj" fmla="val 9091"/>
            </a:avLst>
          </a:prstGeom>
          <a:solidFill>
            <a:srgbClr val="E3F2F0"/>
          </a:solidFill>
          <a:ln w="12700">
            <a:solidFill>
              <a:srgbClr val="E3F2F0"/>
            </a:solidFill>
            <a:prstDash val="solid"/>
          </a:ln>
        </p:spPr>
      </p:sp>
      <p:sp>
        <p:nvSpPr>
          <p:cNvPr id="11" name="Text 9"/>
          <p:cNvSpPr txBox="1"/>
          <p:nvPr/>
        </p:nvSpPr>
        <p:spPr>
          <a:xfrm>
            <a:off x="5394960" y="2560320"/>
            <a:ext cx="3108960" cy="274320"/>
          </a:xfrm>
          <a:prstGeom prst="rect">
            <a:avLst/>
          </a:prstGeom>
          <a:noFill/>
          <a:ln/>
        </p:spPr>
        <p:txBody>
          <a:bodyPr wrap="square" lIns="0" tIns="0" rIns="0" bIns="0" rtlCol="0" anchor="t"/>
          <a:lstStyle/>
          <a:p>
            <a:pPr indent="0" marL="0">
              <a:buNone/>
            </a:pPr>
            <a:r>
              <a:rPr lang="en-US" sz="1400" b="1" dirty="0">
                <a:solidFill>
                  <a:srgbClr val="2A9D8F"/>
                </a:solidFill>
                <a:latin typeface="Calibri" pitchFamily="34" charset="0"/>
                <a:ea typeface="Calibri" pitchFamily="34" charset="-122"/>
                <a:cs typeface="Calibri" pitchFamily="34" charset="-120"/>
              </a:rPr>
              <a:t>The fix</a:t>
            </a:r>
            <a:endParaRPr lang="en-US" sz="1400" dirty="0"/>
          </a:p>
        </p:txBody>
      </p:sp>
      <p:sp>
        <p:nvSpPr>
          <p:cNvPr id="12" name="Text 10"/>
          <p:cNvSpPr txBox="1"/>
          <p:nvPr/>
        </p:nvSpPr>
        <p:spPr>
          <a:xfrm>
            <a:off x="5394960" y="2862072"/>
            <a:ext cx="3108960" cy="548640"/>
          </a:xfrm>
          <a:prstGeom prst="rect">
            <a:avLst/>
          </a:prstGeom>
          <a:noFill/>
          <a:ln/>
        </p:spPr>
        <p:txBody>
          <a:bodyPr wrap="square" lIns="0" tIns="0" rIns="0" bIns="0" rtlCol="0" anchor="t"/>
          <a:lstStyle/>
          <a:p>
            <a:pPr indent="0" marL="0">
              <a:buNone/>
            </a:pPr>
            <a:r>
              <a:rPr lang="en-US" sz="1200" b="1" dirty="0">
                <a:solidFill>
                  <a:srgbClr val="1F2937"/>
                </a:solidFill>
                <a:latin typeface="Courier New" pitchFamily="34" charset="0"/>
                <a:ea typeface="Courier New" pitchFamily="34" charset="-122"/>
                <a:cs typeface="Courier New" pitchFamily="34" charset="-120"/>
              </a:rPr>
              <a:t>return (float)a / b;</a:t>
            </a:r>
            <a:pPr indent="0" marL="0">
              <a:buNone/>
            </a:pPr>
            <a:r>
              <a:rPr lang="en-US" sz="1200" dirty="0">
                <a:solidFill>
                  <a:srgbClr val="1F2937"/>
                </a:solidFill>
                <a:latin typeface="Calibri" pitchFamily="34" charset="0"/>
                <a:ea typeface="Calibri" pitchFamily="34" charset="-122"/>
                <a:cs typeface="Calibri" pitchFamily="34" charset="-120"/>
              </a:rPr>
              <a:t>  now gives 3.50</a:t>
            </a:r>
            <a:endParaRPr lang="en-US" sz="1200" dirty="0"/>
          </a:p>
        </p:txBody>
      </p:sp>
      <p:sp>
        <p:nvSpPr>
          <p:cNvPr id="13" name="Shape 11"/>
          <p:cNvSpPr/>
          <p:nvPr/>
        </p:nvSpPr>
        <p:spPr>
          <a:xfrm>
            <a:off x="5212080" y="3611880"/>
            <a:ext cx="3474720" cy="1005840"/>
          </a:xfrm>
          <a:prstGeom prst="roundRect">
            <a:avLst>
              <a:gd name="adj" fmla="val 9091"/>
            </a:avLst>
          </a:prstGeom>
          <a:solidFill>
            <a:srgbClr val="14213D"/>
          </a:solidFill>
          <a:ln w="12700">
            <a:solidFill>
              <a:srgbClr val="14213D"/>
            </a:solidFill>
            <a:prstDash val="solid"/>
          </a:ln>
        </p:spPr>
      </p:sp>
      <p:sp>
        <p:nvSpPr>
          <p:cNvPr id="14" name="Text 12"/>
          <p:cNvSpPr txBox="1"/>
          <p:nvPr/>
        </p:nvSpPr>
        <p:spPr>
          <a:xfrm>
            <a:off x="5394960" y="3657600"/>
            <a:ext cx="3108960"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Rule: the return type decides what the caller receives. Decimal to integer loses data.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87452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87452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3 · SCOPE &amp; LIFETIME</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Scope vs lifetime</a:t>
            </a:r>
            <a:endParaRPr lang="en-US" sz="2800" dirty="0"/>
          </a:p>
        </p:txBody>
      </p:sp>
      <p:sp>
        <p:nvSpPr>
          <p:cNvPr id="5" name="Shape 3"/>
          <p:cNvSpPr/>
          <p:nvPr/>
        </p:nvSpPr>
        <p:spPr>
          <a:xfrm>
            <a:off x="457200" y="1325880"/>
            <a:ext cx="4023360" cy="3291840"/>
          </a:xfrm>
          <a:prstGeom prst="roundRect">
            <a:avLst>
              <a:gd name="adj" fmla="val 2778"/>
            </a:avLst>
          </a:prstGeom>
          <a:solidFill>
            <a:srgbClr val="E3F2F0"/>
          </a:solidFill>
          <a:ln w="12700">
            <a:solidFill>
              <a:srgbClr val="E3F2F0"/>
            </a:solidFill>
            <a:prstDash val="solid"/>
          </a:ln>
        </p:spPr>
      </p:sp>
      <p:sp>
        <p:nvSpPr>
          <p:cNvPr id="6" name="Text 4"/>
          <p:cNvSpPr txBox="1"/>
          <p:nvPr/>
        </p:nvSpPr>
        <p:spPr>
          <a:xfrm>
            <a:off x="731520" y="1554480"/>
            <a:ext cx="3474720" cy="45720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SCOPE</a:t>
            </a:r>
            <a:endParaRPr lang="en-US" sz="2600" dirty="0"/>
          </a:p>
        </p:txBody>
      </p:sp>
      <p:sp>
        <p:nvSpPr>
          <p:cNvPr id="7" name="Text 5"/>
          <p:cNvSpPr txBox="1"/>
          <p:nvPr/>
        </p:nvSpPr>
        <p:spPr>
          <a:xfrm>
            <a:off x="731520" y="2148840"/>
            <a:ext cx="3474720" cy="914400"/>
          </a:xfrm>
          <a:prstGeom prst="rect">
            <a:avLst/>
          </a:prstGeom>
          <a:noFill/>
          <a:ln/>
        </p:spPr>
        <p:txBody>
          <a:bodyPr wrap="square" lIns="0" tIns="0" rIns="0" bIns="0" rtlCol="0" anchor="t"/>
          <a:lstStyle/>
          <a:p>
            <a:pPr indent="0" marL="0">
              <a:buNone/>
            </a:pPr>
            <a:r>
              <a:rPr lang="en-US" sz="1800" dirty="0">
                <a:solidFill>
                  <a:srgbClr val="1F2937"/>
                </a:solidFill>
                <a:latin typeface="Calibri" pitchFamily="34" charset="0"/>
                <a:ea typeface="Calibri" pitchFamily="34" charset="-122"/>
                <a:cs typeface="Calibri" pitchFamily="34" charset="-120"/>
              </a:rPr>
              <a:t>Where in the program can this variable be used?</a:t>
            </a:r>
            <a:endParaRPr lang="en-US" sz="1800" dirty="0"/>
          </a:p>
        </p:txBody>
      </p:sp>
      <p:sp>
        <p:nvSpPr>
          <p:cNvPr id="8" name="Shape 6"/>
          <p:cNvSpPr/>
          <p:nvPr/>
        </p:nvSpPr>
        <p:spPr>
          <a:xfrm>
            <a:off x="731520" y="3429000"/>
            <a:ext cx="3474720" cy="914400"/>
          </a:xfrm>
          <a:prstGeom prst="roundRect">
            <a:avLst>
              <a:gd name="adj" fmla="val 10000"/>
            </a:avLst>
          </a:prstGeom>
          <a:solidFill>
            <a:srgbClr val="FFFFFF"/>
          </a:solidFill>
          <a:ln w="12700">
            <a:solidFill>
              <a:srgbClr val="FFFFFF"/>
            </a:solidFill>
            <a:prstDash val="solid"/>
          </a:ln>
        </p:spPr>
      </p:sp>
      <p:sp>
        <p:nvSpPr>
          <p:cNvPr id="9" name="Text 7"/>
          <p:cNvSpPr txBox="1"/>
          <p:nvPr/>
        </p:nvSpPr>
        <p:spPr>
          <a:xfrm>
            <a:off x="914400" y="3429000"/>
            <a:ext cx="3108960" cy="91440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Hotel key card: which rooms it opens</a:t>
            </a:r>
            <a:endParaRPr lang="en-US" sz="1300" dirty="0"/>
          </a:p>
        </p:txBody>
      </p:sp>
      <p:sp>
        <p:nvSpPr>
          <p:cNvPr id="10" name="Shape 8"/>
          <p:cNvSpPr/>
          <p:nvPr/>
        </p:nvSpPr>
        <p:spPr>
          <a:xfrm>
            <a:off x="4663440" y="1325880"/>
            <a:ext cx="4023360" cy="3291840"/>
          </a:xfrm>
          <a:prstGeom prst="roundRect">
            <a:avLst>
              <a:gd name="adj" fmla="val 2778"/>
            </a:avLst>
          </a:prstGeom>
          <a:solidFill>
            <a:srgbClr val="FFF1D6"/>
          </a:solidFill>
          <a:ln w="12700">
            <a:solidFill>
              <a:srgbClr val="FFF1D6"/>
            </a:solidFill>
            <a:prstDash val="solid"/>
          </a:ln>
        </p:spPr>
      </p:sp>
      <p:sp>
        <p:nvSpPr>
          <p:cNvPr id="11" name="Text 9"/>
          <p:cNvSpPr txBox="1"/>
          <p:nvPr/>
        </p:nvSpPr>
        <p:spPr>
          <a:xfrm>
            <a:off x="4937760" y="1554480"/>
            <a:ext cx="3474720" cy="45720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LIFETIME</a:t>
            </a:r>
            <a:endParaRPr lang="en-US" sz="2600" dirty="0"/>
          </a:p>
        </p:txBody>
      </p:sp>
      <p:sp>
        <p:nvSpPr>
          <p:cNvPr id="12" name="Text 10"/>
          <p:cNvSpPr txBox="1"/>
          <p:nvPr/>
        </p:nvSpPr>
        <p:spPr>
          <a:xfrm>
            <a:off x="4937760" y="2148840"/>
            <a:ext cx="3474720" cy="914400"/>
          </a:xfrm>
          <a:prstGeom prst="rect">
            <a:avLst/>
          </a:prstGeom>
          <a:noFill/>
          <a:ln/>
        </p:spPr>
        <p:txBody>
          <a:bodyPr wrap="square" lIns="0" tIns="0" rIns="0" bIns="0" rtlCol="0" anchor="t"/>
          <a:lstStyle/>
          <a:p>
            <a:pPr indent="0" marL="0">
              <a:buNone/>
            </a:pPr>
            <a:r>
              <a:rPr lang="en-US" sz="1800" dirty="0">
                <a:solidFill>
                  <a:srgbClr val="1F2937"/>
                </a:solidFill>
                <a:latin typeface="Calibri" pitchFamily="34" charset="0"/>
                <a:ea typeface="Calibri" pitchFamily="34" charset="-122"/>
                <a:cs typeface="Calibri" pitchFamily="34" charset="-120"/>
              </a:rPr>
              <a:t>How long does this variable exist in memory?</a:t>
            </a:r>
            <a:endParaRPr lang="en-US" sz="1800" dirty="0"/>
          </a:p>
        </p:txBody>
      </p:sp>
      <p:sp>
        <p:nvSpPr>
          <p:cNvPr id="13" name="Shape 11"/>
          <p:cNvSpPr/>
          <p:nvPr/>
        </p:nvSpPr>
        <p:spPr>
          <a:xfrm>
            <a:off x="4937760" y="3429000"/>
            <a:ext cx="3474720" cy="914400"/>
          </a:xfrm>
          <a:prstGeom prst="roundRect">
            <a:avLst>
              <a:gd name="adj" fmla="val 10000"/>
            </a:avLst>
          </a:prstGeom>
          <a:solidFill>
            <a:srgbClr val="FFFFFF"/>
          </a:solidFill>
          <a:ln w="12700">
            <a:solidFill>
              <a:srgbClr val="FFFFFF"/>
            </a:solidFill>
            <a:prstDash val="solid"/>
          </a:ln>
        </p:spPr>
      </p:sp>
      <p:sp>
        <p:nvSpPr>
          <p:cNvPr id="14" name="Text 12"/>
          <p:cNvSpPr txBox="1"/>
          <p:nvPr/>
        </p:nvSpPr>
        <p:spPr>
          <a:xfrm>
            <a:off x="5120640" y="3429000"/>
            <a:ext cx="3108960" cy="91440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Hotel booking: how many days it lasts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87452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87452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3 · SCOPE &amp; LIFETIME</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Local vs global variables</a:t>
            </a:r>
            <a:endParaRPr lang="en-US" sz="2800" dirty="0"/>
          </a:p>
        </p:txBody>
      </p:sp>
      <p:sp>
        <p:nvSpPr>
          <p:cNvPr id="5" name="Text 3"/>
          <p:cNvSpPr txBox="1"/>
          <p:nvPr/>
        </p:nvSpPr>
        <p:spPr>
          <a:xfrm>
            <a:off x="457200" y="1280160"/>
            <a:ext cx="4023360" cy="32004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Local variable</a:t>
            </a:r>
            <a:endParaRPr lang="en-US" sz="1700" dirty="0"/>
          </a:p>
        </p:txBody>
      </p:sp>
      <p:sp>
        <p:nvSpPr>
          <p:cNvPr id="6" name="Shape 4"/>
          <p:cNvSpPr/>
          <p:nvPr/>
        </p:nvSpPr>
        <p:spPr>
          <a:xfrm>
            <a:off x="457200" y="1645920"/>
            <a:ext cx="4023360" cy="1783080"/>
          </a:xfrm>
          <a:prstGeom prst="roundRect">
            <a:avLst>
              <a:gd name="adj" fmla="val 4103"/>
            </a:avLst>
          </a:prstGeom>
          <a:solidFill>
            <a:srgbClr val="1E293B"/>
          </a:solidFill>
          <a:ln w="12700">
            <a:solidFill>
              <a:srgbClr val="1E293B"/>
            </a:solidFill>
            <a:prstDash val="solid"/>
          </a:ln>
        </p:spPr>
      </p:sp>
      <p:sp>
        <p:nvSpPr>
          <p:cNvPr id="7" name="Text 5"/>
          <p:cNvSpPr txBox="1"/>
          <p:nvPr/>
        </p:nvSpPr>
        <p:spPr>
          <a:xfrm>
            <a:off x="594360" y="1737360"/>
            <a:ext cx="3749040" cy="1600200"/>
          </a:xfrm>
          <a:prstGeom prst="rect">
            <a:avLst/>
          </a:prstGeom>
          <a:noFill/>
          <a:ln/>
        </p:spPr>
        <p:txBody>
          <a:bodyPr wrap="square" lIns="0" tIns="0" rIns="0" bIns="0" rtlCol="0" anchor="t"/>
          <a:lstStyle/>
          <a:p>
            <a:pPr indent="0" marL="0">
              <a:buNone/>
            </a:pPr>
            <a:r>
              <a:rPr lang="en-US" sz="1150" dirty="0">
                <a:solidFill>
                  <a:srgbClr val="E2E8F0"/>
                </a:solidFill>
                <a:latin typeface="Courier New" pitchFamily="34" charset="0"/>
                <a:ea typeface="Courier New" pitchFamily="34" charset="-122"/>
                <a:cs typeface="Courier New" pitchFamily="34" charset="-120"/>
              </a:rPr>
              <a:t>void show(void)</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    int count = 0;  </a:t>
            </a:r>
            <a:pPr indent="0" marL="0">
              <a:buNone/>
            </a:pPr>
            <a:r>
              <a:rPr lang="en-US" sz="1150" dirty="0">
                <a:solidFill>
                  <a:srgbClr val="94D2A5"/>
                </a:solidFill>
                <a:latin typeface="Courier New" pitchFamily="34" charset="0"/>
                <a:ea typeface="Courier New" pitchFamily="34" charset="-122"/>
                <a:cs typeface="Courier New" pitchFamily="34" charset="-120"/>
              </a:rPr>
              <a:t>// local</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    count++;</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    printf("%d\n", count);</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94D2A5"/>
                </a:solidFill>
                <a:latin typeface="Courier New" pitchFamily="34" charset="0"/>
                <a:ea typeface="Courier New" pitchFamily="34" charset="-122"/>
                <a:cs typeface="Courier New" pitchFamily="34" charset="-120"/>
              </a:rPr>
              <a:t>// show(); show(); prints 1, 1</a:t>
            </a:r>
            <a:endParaRPr lang="en-US" sz="1150" dirty="0"/>
          </a:p>
        </p:txBody>
      </p:sp>
      <p:sp>
        <p:nvSpPr>
          <p:cNvPr id="8" name="Shape 6"/>
          <p:cNvSpPr/>
          <p:nvPr/>
        </p:nvSpPr>
        <p:spPr>
          <a:xfrm>
            <a:off x="457200" y="3566160"/>
            <a:ext cx="4023360" cy="1097280"/>
          </a:xfrm>
          <a:prstGeom prst="roundRect">
            <a:avLst>
              <a:gd name="adj" fmla="val 8333"/>
            </a:avLst>
          </a:prstGeom>
          <a:solidFill>
            <a:srgbClr val="EEF2F7"/>
          </a:solidFill>
          <a:ln w="12700">
            <a:solidFill>
              <a:srgbClr val="EEF2F7"/>
            </a:solidFill>
            <a:prstDash val="solid"/>
          </a:ln>
        </p:spPr>
      </p:sp>
      <p:sp>
        <p:nvSpPr>
          <p:cNvPr id="9" name="Text 7"/>
          <p:cNvSpPr txBox="1"/>
          <p:nvPr/>
        </p:nvSpPr>
        <p:spPr>
          <a:xfrm>
            <a:off x="640080" y="3611880"/>
            <a:ext cx="3657600" cy="1005840"/>
          </a:xfrm>
          <a:prstGeom prst="rect">
            <a:avLst/>
          </a:prstGeom>
          <a:noFill/>
          <a:ln/>
        </p:spPr>
        <p:txBody>
          <a:bodyPr wrap="square" lIns="0" tIns="0" rIns="0" bIns="0" rtlCol="0" anchor="ctr"/>
          <a:lstStyle/>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Scope: only inside the function</a:t>
            </a:r>
            <a:endParaRPr lang="en-US" sz="13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Lifetime: created on each call, destroyed when it ends</a:t>
            </a:r>
            <a:endParaRPr lang="en-US" sz="1300" dirty="0"/>
          </a:p>
        </p:txBody>
      </p:sp>
      <p:sp>
        <p:nvSpPr>
          <p:cNvPr id="10" name="Text 8"/>
          <p:cNvSpPr txBox="1"/>
          <p:nvPr/>
        </p:nvSpPr>
        <p:spPr>
          <a:xfrm>
            <a:off x="4663440" y="1280160"/>
            <a:ext cx="4023360" cy="32004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Global variable</a:t>
            </a:r>
            <a:endParaRPr lang="en-US" sz="1700" dirty="0"/>
          </a:p>
        </p:txBody>
      </p:sp>
      <p:sp>
        <p:nvSpPr>
          <p:cNvPr id="11" name="Shape 9"/>
          <p:cNvSpPr/>
          <p:nvPr/>
        </p:nvSpPr>
        <p:spPr>
          <a:xfrm>
            <a:off x="4663440" y="1645920"/>
            <a:ext cx="4023360" cy="1783080"/>
          </a:xfrm>
          <a:prstGeom prst="roundRect">
            <a:avLst>
              <a:gd name="adj" fmla="val 4103"/>
            </a:avLst>
          </a:prstGeom>
          <a:solidFill>
            <a:srgbClr val="1E293B"/>
          </a:solidFill>
          <a:ln w="12700">
            <a:solidFill>
              <a:srgbClr val="1E293B"/>
            </a:solidFill>
            <a:prstDash val="solid"/>
          </a:ln>
        </p:spPr>
      </p:sp>
      <p:sp>
        <p:nvSpPr>
          <p:cNvPr id="12" name="Text 10"/>
          <p:cNvSpPr txBox="1"/>
          <p:nvPr/>
        </p:nvSpPr>
        <p:spPr>
          <a:xfrm>
            <a:off x="4800600" y="1737360"/>
            <a:ext cx="3749040" cy="1600200"/>
          </a:xfrm>
          <a:prstGeom prst="rect">
            <a:avLst/>
          </a:prstGeom>
          <a:noFill/>
          <a:ln/>
        </p:spPr>
        <p:txBody>
          <a:bodyPr wrap="square" lIns="0" tIns="0" rIns="0" bIns="0" rtlCol="0" anchor="t"/>
          <a:lstStyle/>
          <a:p>
            <a:pPr indent="0" marL="0">
              <a:buNone/>
            </a:pPr>
            <a:r>
              <a:rPr lang="en-US" sz="1150" dirty="0">
                <a:solidFill>
                  <a:srgbClr val="E2E8F0"/>
                </a:solidFill>
                <a:latin typeface="Courier New" pitchFamily="34" charset="0"/>
                <a:ea typeface="Courier New" pitchFamily="34" charset="-122"/>
                <a:cs typeface="Courier New" pitchFamily="34" charset="-120"/>
              </a:rPr>
              <a:t>int total = 0;     </a:t>
            </a:r>
            <a:pPr indent="0" marL="0">
              <a:buNone/>
            </a:pPr>
            <a:r>
              <a:rPr lang="en-US" sz="1150" dirty="0">
                <a:solidFill>
                  <a:srgbClr val="94D2A5"/>
                </a:solidFill>
                <a:latin typeface="Courier New" pitchFamily="34" charset="0"/>
                <a:ea typeface="Courier New" pitchFamily="34" charset="-122"/>
                <a:cs typeface="Courier New" pitchFamily="34" charset="-120"/>
              </a:rPr>
              <a:t>// global</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void addMarks(int m)</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    total += m;</a:t>
            </a:r>
            <a:endParaRPr lang="en-US" sz="1150" dirty="0"/>
          </a:p>
          <a:p>
            <a:pPr indent="0" marL="0">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94D2A5"/>
                </a:solidFill>
                <a:latin typeface="Courier New" pitchFamily="34" charset="0"/>
                <a:ea typeface="Courier New" pitchFamily="34" charset="-122"/>
                <a:cs typeface="Courier New" pitchFamily="34" charset="-120"/>
              </a:rPr>
              <a:t>// addMarks(40); addMarks(35);</a:t>
            </a:r>
            <a:endParaRPr lang="en-US" sz="1150" dirty="0"/>
          </a:p>
          <a:p>
            <a:pPr indent="0" marL="0">
              <a:buNone/>
            </a:pPr>
            <a:r>
              <a:rPr lang="en-US" sz="1150" dirty="0">
                <a:solidFill>
                  <a:srgbClr val="94D2A5"/>
                </a:solidFill>
                <a:latin typeface="Courier New" pitchFamily="34" charset="0"/>
                <a:ea typeface="Courier New" pitchFamily="34" charset="-122"/>
                <a:cs typeface="Courier New" pitchFamily="34" charset="-120"/>
              </a:rPr>
              <a:t>// total is now 75</a:t>
            </a:r>
            <a:endParaRPr lang="en-US" sz="1150" dirty="0"/>
          </a:p>
        </p:txBody>
      </p:sp>
      <p:sp>
        <p:nvSpPr>
          <p:cNvPr id="13" name="Shape 11"/>
          <p:cNvSpPr/>
          <p:nvPr/>
        </p:nvSpPr>
        <p:spPr>
          <a:xfrm>
            <a:off x="4663440" y="3566160"/>
            <a:ext cx="4023360" cy="1097280"/>
          </a:xfrm>
          <a:prstGeom prst="roundRect">
            <a:avLst>
              <a:gd name="adj" fmla="val 8333"/>
            </a:avLst>
          </a:prstGeom>
          <a:solidFill>
            <a:srgbClr val="EEF2F7"/>
          </a:solidFill>
          <a:ln w="12700">
            <a:solidFill>
              <a:srgbClr val="EEF2F7"/>
            </a:solidFill>
            <a:prstDash val="solid"/>
          </a:ln>
        </p:spPr>
      </p:sp>
      <p:sp>
        <p:nvSpPr>
          <p:cNvPr id="14" name="Text 12"/>
          <p:cNvSpPr txBox="1"/>
          <p:nvPr/>
        </p:nvSpPr>
        <p:spPr>
          <a:xfrm>
            <a:off x="4846320" y="3611880"/>
            <a:ext cx="3657600" cy="1005840"/>
          </a:xfrm>
          <a:prstGeom prst="rect">
            <a:avLst/>
          </a:prstGeom>
          <a:noFill/>
          <a:ln/>
        </p:spPr>
        <p:txBody>
          <a:bodyPr wrap="square" lIns="0" tIns="0" rIns="0" bIns="0" rtlCol="0" anchor="ctr"/>
          <a:lstStyle/>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Scope: every function below it</a:t>
            </a:r>
            <a:endParaRPr lang="en-US" sz="13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Lifetime: the entire program run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29968"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2029968"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4 · RETURNING AN ARRAY</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 cannot return a whole array</a:t>
            </a:r>
            <a:endParaRPr lang="en-US" sz="2800" dirty="0"/>
          </a:p>
        </p:txBody>
      </p:sp>
      <p:sp>
        <p:nvSpPr>
          <p:cNvPr id="5" name="Text 3"/>
          <p:cNvSpPr txBox="1"/>
          <p:nvPr/>
        </p:nvSpPr>
        <p:spPr>
          <a:xfrm>
            <a:off x="457200" y="1280160"/>
            <a:ext cx="8229600" cy="6400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Instead, the function returns the address of the first element. That address is held in a pointer, so the return type is written as int* ("pointer to int").</a:t>
            </a:r>
            <a:endParaRPr lang="en-US" sz="1500" dirty="0"/>
          </a:p>
        </p:txBody>
      </p:sp>
      <p:sp>
        <p:nvSpPr>
          <p:cNvPr id="6" name="Shape 4"/>
          <p:cNvSpPr/>
          <p:nvPr/>
        </p:nvSpPr>
        <p:spPr>
          <a:xfrm>
            <a:off x="457200" y="2103120"/>
            <a:ext cx="1828800" cy="1188720"/>
          </a:xfrm>
          <a:prstGeom prst="roundRect">
            <a:avLst>
              <a:gd name="adj" fmla="val 7692"/>
            </a:avLst>
          </a:prstGeom>
          <a:solidFill>
            <a:srgbClr val="E3F2F0"/>
          </a:solidFill>
          <a:ln w="12700">
            <a:solidFill>
              <a:srgbClr val="E3F2F0"/>
            </a:solidFill>
            <a:prstDash val="solid"/>
          </a:ln>
        </p:spPr>
      </p:sp>
      <p:sp>
        <p:nvSpPr>
          <p:cNvPr id="7" name="Text 5"/>
          <p:cNvSpPr txBox="1"/>
          <p:nvPr/>
        </p:nvSpPr>
        <p:spPr>
          <a:xfrm>
            <a:off x="548640" y="2194560"/>
            <a:ext cx="164592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getMarks()</a:t>
            </a:r>
            <a:endParaRPr lang="en-US" sz="1300" dirty="0"/>
          </a:p>
        </p:txBody>
      </p:sp>
      <p:sp>
        <p:nvSpPr>
          <p:cNvPr id="8" name="Text 6"/>
          <p:cNvSpPr txBox="1"/>
          <p:nvPr/>
        </p:nvSpPr>
        <p:spPr>
          <a:xfrm>
            <a:off x="548640" y="2651760"/>
            <a:ext cx="1645920" cy="54864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function builds the array</a:t>
            </a:r>
            <a:endParaRPr lang="en-US" sz="1200" dirty="0"/>
          </a:p>
        </p:txBody>
      </p:sp>
      <p:sp>
        <p:nvSpPr>
          <p:cNvPr id="9" name="Text 7"/>
          <p:cNvSpPr txBox="1"/>
          <p:nvPr/>
        </p:nvSpPr>
        <p:spPr>
          <a:xfrm>
            <a:off x="2286000" y="2423160"/>
            <a:ext cx="301752" cy="457200"/>
          </a:xfrm>
          <a:prstGeom prst="rect">
            <a:avLst/>
          </a:prstGeom>
          <a:noFill/>
          <a:ln/>
        </p:spPr>
        <p:txBody>
          <a:bodyPr wrap="square" lIns="0" tIns="0" rIns="0" bIns="0" rtlCol="0" anchor="ctr"/>
          <a:lstStyle/>
          <a:p>
            <a:pPr algn="ctr" indent="0" marL="0">
              <a:buNone/>
            </a:pPr>
            <a:r>
              <a:rPr lang="en-US" sz="2200" b="1" dirty="0">
                <a:solidFill>
                  <a:srgbClr val="14213D"/>
                </a:solidFill>
              </a:rPr>
              <a:t>→</a:t>
            </a:r>
            <a:endParaRPr lang="en-US" sz="2200" dirty="0"/>
          </a:p>
        </p:txBody>
      </p:sp>
      <p:sp>
        <p:nvSpPr>
          <p:cNvPr id="10" name="Shape 8"/>
          <p:cNvSpPr/>
          <p:nvPr/>
        </p:nvSpPr>
        <p:spPr>
          <a:xfrm>
            <a:off x="2587752" y="2103120"/>
            <a:ext cx="1828800" cy="1188720"/>
          </a:xfrm>
          <a:prstGeom prst="roundRect">
            <a:avLst>
              <a:gd name="adj" fmla="val 7692"/>
            </a:avLst>
          </a:prstGeom>
          <a:solidFill>
            <a:srgbClr val="FFF1D6"/>
          </a:solidFill>
          <a:ln w="12700">
            <a:solidFill>
              <a:srgbClr val="FFF1D6"/>
            </a:solidFill>
            <a:prstDash val="solid"/>
          </a:ln>
        </p:spPr>
      </p:sp>
      <p:sp>
        <p:nvSpPr>
          <p:cNvPr id="11" name="Text 9"/>
          <p:cNvSpPr txBox="1"/>
          <p:nvPr/>
        </p:nvSpPr>
        <p:spPr>
          <a:xfrm>
            <a:off x="2679192" y="2194560"/>
            <a:ext cx="164592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return marks;</a:t>
            </a:r>
            <a:endParaRPr lang="en-US" sz="1300" dirty="0"/>
          </a:p>
        </p:txBody>
      </p:sp>
      <p:sp>
        <p:nvSpPr>
          <p:cNvPr id="12" name="Text 10"/>
          <p:cNvSpPr txBox="1"/>
          <p:nvPr/>
        </p:nvSpPr>
        <p:spPr>
          <a:xfrm>
            <a:off x="2679192" y="2651760"/>
            <a:ext cx="1645920" cy="54864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sends address of marks[0]</a:t>
            </a:r>
            <a:endParaRPr lang="en-US" sz="1200" dirty="0"/>
          </a:p>
        </p:txBody>
      </p:sp>
      <p:sp>
        <p:nvSpPr>
          <p:cNvPr id="13" name="Text 11"/>
          <p:cNvSpPr txBox="1"/>
          <p:nvPr/>
        </p:nvSpPr>
        <p:spPr>
          <a:xfrm>
            <a:off x="4416552" y="2423160"/>
            <a:ext cx="301752" cy="457200"/>
          </a:xfrm>
          <a:prstGeom prst="rect">
            <a:avLst/>
          </a:prstGeom>
          <a:noFill/>
          <a:ln/>
        </p:spPr>
        <p:txBody>
          <a:bodyPr wrap="square" lIns="0" tIns="0" rIns="0" bIns="0" rtlCol="0" anchor="ctr"/>
          <a:lstStyle/>
          <a:p>
            <a:pPr algn="ctr" indent="0" marL="0">
              <a:buNone/>
            </a:pPr>
            <a:r>
              <a:rPr lang="en-US" sz="2200" b="1" dirty="0">
                <a:solidFill>
                  <a:srgbClr val="14213D"/>
                </a:solidFill>
              </a:rPr>
              <a:t>→</a:t>
            </a:r>
            <a:endParaRPr lang="en-US" sz="2200" dirty="0"/>
          </a:p>
        </p:txBody>
      </p:sp>
      <p:sp>
        <p:nvSpPr>
          <p:cNvPr id="14" name="Shape 12"/>
          <p:cNvSpPr/>
          <p:nvPr/>
        </p:nvSpPr>
        <p:spPr>
          <a:xfrm>
            <a:off x="4718304" y="2103120"/>
            <a:ext cx="1828800" cy="1188720"/>
          </a:xfrm>
          <a:prstGeom prst="roundRect">
            <a:avLst>
              <a:gd name="adj" fmla="val 7692"/>
            </a:avLst>
          </a:prstGeom>
          <a:solidFill>
            <a:srgbClr val="E3F2F0"/>
          </a:solidFill>
          <a:ln w="12700">
            <a:solidFill>
              <a:srgbClr val="E3F2F0"/>
            </a:solidFill>
            <a:prstDash val="solid"/>
          </a:ln>
        </p:spPr>
      </p:sp>
      <p:sp>
        <p:nvSpPr>
          <p:cNvPr id="15" name="Text 13"/>
          <p:cNvSpPr txBox="1"/>
          <p:nvPr/>
        </p:nvSpPr>
        <p:spPr>
          <a:xfrm>
            <a:off x="4809744" y="2194560"/>
            <a:ext cx="164592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int *p</a:t>
            </a:r>
            <a:endParaRPr lang="en-US" sz="1300" dirty="0"/>
          </a:p>
        </p:txBody>
      </p:sp>
      <p:sp>
        <p:nvSpPr>
          <p:cNvPr id="16" name="Text 14"/>
          <p:cNvSpPr txBox="1"/>
          <p:nvPr/>
        </p:nvSpPr>
        <p:spPr>
          <a:xfrm>
            <a:off x="4809744" y="2651760"/>
            <a:ext cx="1645920" cy="54864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caller stores the address</a:t>
            </a:r>
            <a:endParaRPr lang="en-US" sz="1200" dirty="0"/>
          </a:p>
        </p:txBody>
      </p:sp>
      <p:sp>
        <p:nvSpPr>
          <p:cNvPr id="17" name="Text 15"/>
          <p:cNvSpPr txBox="1"/>
          <p:nvPr/>
        </p:nvSpPr>
        <p:spPr>
          <a:xfrm>
            <a:off x="6547104" y="2423160"/>
            <a:ext cx="301752" cy="457200"/>
          </a:xfrm>
          <a:prstGeom prst="rect">
            <a:avLst/>
          </a:prstGeom>
          <a:noFill/>
          <a:ln/>
        </p:spPr>
        <p:txBody>
          <a:bodyPr wrap="square" lIns="0" tIns="0" rIns="0" bIns="0" rtlCol="0" anchor="ctr"/>
          <a:lstStyle/>
          <a:p>
            <a:pPr algn="ctr" indent="0" marL="0">
              <a:buNone/>
            </a:pPr>
            <a:r>
              <a:rPr lang="en-US" sz="2200" b="1" dirty="0">
                <a:solidFill>
                  <a:srgbClr val="14213D"/>
                </a:solidFill>
              </a:rPr>
              <a:t>→</a:t>
            </a:r>
            <a:endParaRPr lang="en-US" sz="2200" dirty="0"/>
          </a:p>
        </p:txBody>
      </p:sp>
      <p:sp>
        <p:nvSpPr>
          <p:cNvPr id="18" name="Shape 16"/>
          <p:cNvSpPr/>
          <p:nvPr/>
        </p:nvSpPr>
        <p:spPr>
          <a:xfrm>
            <a:off x="6848856" y="2103120"/>
            <a:ext cx="1828800" cy="1188720"/>
          </a:xfrm>
          <a:prstGeom prst="roundRect">
            <a:avLst>
              <a:gd name="adj" fmla="val 7692"/>
            </a:avLst>
          </a:prstGeom>
          <a:solidFill>
            <a:srgbClr val="FFF1D6"/>
          </a:solidFill>
          <a:ln w="12700">
            <a:solidFill>
              <a:srgbClr val="FFF1D6"/>
            </a:solidFill>
            <a:prstDash val="solid"/>
          </a:ln>
        </p:spPr>
      </p:sp>
      <p:sp>
        <p:nvSpPr>
          <p:cNvPr id="19" name="Text 17"/>
          <p:cNvSpPr txBox="1"/>
          <p:nvPr/>
        </p:nvSpPr>
        <p:spPr>
          <a:xfrm>
            <a:off x="6940296" y="2194560"/>
            <a:ext cx="164592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p[0], p[1] …</a:t>
            </a:r>
            <a:endParaRPr lang="en-US" sz="1300" dirty="0"/>
          </a:p>
        </p:txBody>
      </p:sp>
      <p:sp>
        <p:nvSpPr>
          <p:cNvPr id="20" name="Text 18"/>
          <p:cNvSpPr txBox="1"/>
          <p:nvPr/>
        </p:nvSpPr>
        <p:spPr>
          <a:xfrm>
            <a:off x="6940296" y="2651760"/>
            <a:ext cx="1645920" cy="548640"/>
          </a:xfrm>
          <a:prstGeom prst="rect">
            <a:avLst/>
          </a:prstGeom>
          <a:noFill/>
          <a:ln/>
        </p:spPr>
        <p:txBody>
          <a:bodyPr wrap="square" lIns="0" tIns="0" rIns="0" bIns="0" rtlCol="0" anchor="t"/>
          <a:lstStyle/>
          <a:p>
            <a:pPr algn="ctr" indent="0" marL="0">
              <a:buNone/>
            </a:pPr>
            <a:r>
              <a:rPr lang="en-US" sz="1200" dirty="0">
                <a:solidFill>
                  <a:srgbClr val="5B6472"/>
                </a:solidFill>
                <a:latin typeface="Calibri" pitchFamily="34" charset="0"/>
                <a:ea typeface="Calibri" pitchFamily="34" charset="-122"/>
                <a:cs typeface="Calibri" pitchFamily="34" charset="-120"/>
              </a:rPr>
              <a:t>used just like an array</a:t>
            </a:r>
            <a:endParaRPr lang="en-US" sz="1200" dirty="0"/>
          </a:p>
        </p:txBody>
      </p:sp>
      <p:sp>
        <p:nvSpPr>
          <p:cNvPr id="21" name="Shape 19"/>
          <p:cNvSpPr/>
          <p:nvPr/>
        </p:nvSpPr>
        <p:spPr>
          <a:xfrm>
            <a:off x="457200" y="3520440"/>
            <a:ext cx="4023360" cy="1143000"/>
          </a:xfrm>
          <a:prstGeom prst="roundRect">
            <a:avLst>
              <a:gd name="adj" fmla="val 8000"/>
            </a:avLst>
          </a:prstGeom>
          <a:solidFill>
            <a:srgbClr val="EEF2F7"/>
          </a:solidFill>
          <a:ln w="12700">
            <a:solidFill>
              <a:srgbClr val="EEF2F7"/>
            </a:solidFill>
            <a:prstDash val="solid"/>
          </a:ln>
        </p:spPr>
      </p:sp>
      <p:sp>
        <p:nvSpPr>
          <p:cNvPr id="22" name="Text 20"/>
          <p:cNvSpPr txBox="1"/>
          <p:nvPr/>
        </p:nvSpPr>
        <p:spPr>
          <a:xfrm>
            <a:off x="640080" y="3566160"/>
            <a:ext cx="3657600" cy="105156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Analogy: </a:t>
            </a:r>
            <a:pPr indent="0" marL="0">
              <a:buNone/>
            </a:pPr>
            <a:r>
              <a:rPr lang="en-US" sz="1200" dirty="0">
                <a:solidFill>
                  <a:srgbClr val="1F2937"/>
                </a:solidFill>
                <a:latin typeface="Calibri" pitchFamily="34" charset="0"/>
                <a:ea typeface="Calibri" pitchFamily="34" charset="-122"/>
                <a:cs typeface="Calibri" pitchFamily="34" charset="-120"/>
              </a:rPr>
              <a:t>Instead of carrying a whole bookshelf to a friend, you give them the library's address. With it, they can reach every book.</a:t>
            </a:r>
            <a:endParaRPr lang="en-US" sz="1200" dirty="0"/>
          </a:p>
        </p:txBody>
      </p:sp>
      <p:sp>
        <p:nvSpPr>
          <p:cNvPr id="23" name="Shape 21"/>
          <p:cNvSpPr/>
          <p:nvPr/>
        </p:nvSpPr>
        <p:spPr>
          <a:xfrm>
            <a:off x="4663440" y="3520440"/>
            <a:ext cx="4023360" cy="1143000"/>
          </a:xfrm>
          <a:prstGeom prst="roundRect">
            <a:avLst>
              <a:gd name="adj" fmla="val 8000"/>
            </a:avLst>
          </a:prstGeom>
          <a:solidFill>
            <a:srgbClr val="14213D"/>
          </a:solidFill>
          <a:ln w="12700">
            <a:solidFill>
              <a:srgbClr val="14213D"/>
            </a:solidFill>
            <a:prstDash val="solid"/>
          </a:ln>
        </p:spPr>
      </p:sp>
      <p:sp>
        <p:nvSpPr>
          <p:cNvPr id="24" name="Text 22"/>
          <p:cNvSpPr txBox="1"/>
          <p:nvPr/>
        </p:nvSpPr>
        <p:spPr>
          <a:xfrm>
            <a:off x="4846320" y="3566160"/>
            <a:ext cx="3657600" cy="1051560"/>
          </a:xfrm>
          <a:prstGeom prst="rect">
            <a:avLst/>
          </a:prstGeom>
          <a:noFill/>
          <a:ln/>
        </p:spPr>
        <p:txBody>
          <a:bodyPr wrap="square" lIns="0" tIns="0" rIns="0" bIns="0" rtlCol="0" anchor="ctr"/>
          <a:lstStyle/>
          <a:p>
            <a:pPr indent="0" marL="0">
              <a:buNone/>
            </a:pPr>
            <a:r>
              <a:rPr lang="en-US" sz="1200" b="1" dirty="0">
                <a:solidFill>
                  <a:srgbClr val="FCA311"/>
                </a:solidFill>
                <a:latin typeface="Calibri" pitchFamily="34" charset="0"/>
                <a:ea typeface="Calibri" pitchFamily="34" charset="-122"/>
                <a:cs typeface="Calibri" pitchFamily="34" charset="-120"/>
              </a:rPr>
              <a:t>One condition: </a:t>
            </a:r>
            <a:pPr indent="0" marL="0">
              <a:buNone/>
            </a:pPr>
            <a:r>
              <a:rPr lang="en-US" sz="1200" dirty="0">
                <a:solidFill>
                  <a:srgbClr val="FFFFFF"/>
                </a:solidFill>
                <a:latin typeface="Calibri" pitchFamily="34" charset="0"/>
                <a:ea typeface="Calibri" pitchFamily="34" charset="-122"/>
                <a:cs typeface="Calibri" pitchFamily="34" charset="-120"/>
              </a:rPr>
              <a:t>the array must still exist after the function ends. The keyword static keeps it in memory for the whole program.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29968"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2029968"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4 · RETURNING AN ARRAY</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Basic example</a:t>
            </a:r>
            <a:endParaRPr lang="en-US" sz="2800" dirty="0"/>
          </a:p>
        </p:txBody>
      </p:sp>
      <p:sp>
        <p:nvSpPr>
          <p:cNvPr id="5" name="Shape 3"/>
          <p:cNvSpPr/>
          <p:nvPr/>
        </p:nvSpPr>
        <p:spPr>
          <a:xfrm>
            <a:off x="457200" y="1280160"/>
            <a:ext cx="5029200" cy="3383280"/>
          </a:xfrm>
          <a:prstGeom prst="roundRect">
            <a:avLst>
              <a:gd name="adj" fmla="val 2162"/>
            </a:avLst>
          </a:prstGeom>
          <a:solidFill>
            <a:srgbClr val="1E293B"/>
          </a:solidFill>
          <a:ln w="12700">
            <a:solidFill>
              <a:srgbClr val="1E293B"/>
            </a:solidFill>
            <a:prstDash val="solid"/>
          </a:ln>
        </p:spPr>
      </p:sp>
      <p:sp>
        <p:nvSpPr>
          <p:cNvPr id="6" name="Text 4"/>
          <p:cNvSpPr txBox="1"/>
          <p:nvPr/>
        </p:nvSpPr>
        <p:spPr>
          <a:xfrm>
            <a:off x="594360" y="1371600"/>
            <a:ext cx="4754880" cy="3200400"/>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int* getMarks(void)       </a:t>
            </a:r>
            <a:pPr indent="0" marL="0">
              <a:buNone/>
            </a:pPr>
            <a:r>
              <a:rPr lang="en-US" sz="1200" dirty="0">
                <a:solidFill>
                  <a:srgbClr val="94D2A5"/>
                </a:solidFill>
                <a:latin typeface="Courier New" pitchFamily="34" charset="0"/>
                <a:ea typeface="Courier New" pitchFamily="34" charset="-122"/>
                <a:cs typeface="Courier New" pitchFamily="34" charset="-120"/>
              </a:rPr>
              <a:t>// pointer to int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static int marks[5] = {78, 85, 92, 66, 70};</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return marks;         </a:t>
            </a:r>
            <a:pPr indent="0" marL="0">
              <a:buNone/>
            </a:pPr>
            <a:r>
              <a:rPr lang="en-US" sz="1200" dirty="0">
                <a:solidFill>
                  <a:srgbClr val="94D2A5"/>
                </a:solidFill>
                <a:latin typeface="Courier New" pitchFamily="34" charset="0"/>
                <a:ea typeface="Courier New" pitchFamily="34" charset="-122"/>
                <a:cs typeface="Courier New" pitchFamily="34" charset="-120"/>
              </a:rPr>
              <a:t>// address of marks[0]</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int main(void)</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int *p = getMarks();</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for (int i = 0; i &lt; 5; i++)</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printf("%d ", p[i]);</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94D2A5"/>
                </a:solidFill>
                <a:latin typeface="Courier New" pitchFamily="34" charset="0"/>
                <a:ea typeface="Courier New" pitchFamily="34" charset="-122"/>
                <a:cs typeface="Courier New" pitchFamily="34" charset="-120"/>
              </a:rPr>
              <a:t>// Output: 78 85 92 66 70</a:t>
            </a:r>
            <a:endParaRPr lang="en-US" sz="1200" dirty="0"/>
          </a:p>
        </p:txBody>
      </p:sp>
      <p:sp>
        <p:nvSpPr>
          <p:cNvPr id="7" name="Shape 5"/>
          <p:cNvSpPr/>
          <p:nvPr/>
        </p:nvSpPr>
        <p:spPr>
          <a:xfrm>
            <a:off x="5760720" y="1371600"/>
            <a:ext cx="411480" cy="411480"/>
          </a:xfrm>
          <a:prstGeom prst="ellipse">
            <a:avLst/>
          </a:prstGeom>
          <a:solidFill>
            <a:srgbClr val="2A9D8F"/>
          </a:solidFill>
          <a:ln w="12700">
            <a:solidFill>
              <a:srgbClr val="2A9D8F"/>
            </a:solidFill>
            <a:prstDash val="solid"/>
          </a:ln>
        </p:spPr>
      </p:sp>
      <p:sp>
        <p:nvSpPr>
          <p:cNvPr id="8" name="Text 6"/>
          <p:cNvSpPr txBox="1"/>
          <p:nvPr/>
        </p:nvSpPr>
        <p:spPr>
          <a:xfrm>
            <a:off x="5760720" y="13716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6309360" y="1280160"/>
            <a:ext cx="23774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int* means the function returns an address.</a:t>
            </a:r>
            <a:endParaRPr lang="en-US" sz="1300" dirty="0"/>
          </a:p>
        </p:txBody>
      </p:sp>
      <p:sp>
        <p:nvSpPr>
          <p:cNvPr id="10" name="Shape 8"/>
          <p:cNvSpPr/>
          <p:nvPr/>
        </p:nvSpPr>
        <p:spPr>
          <a:xfrm>
            <a:off x="5760720" y="2221992"/>
            <a:ext cx="411480" cy="411480"/>
          </a:xfrm>
          <a:prstGeom prst="ellipse">
            <a:avLst/>
          </a:prstGeom>
          <a:solidFill>
            <a:srgbClr val="2A9D8F"/>
          </a:solidFill>
          <a:ln w="12700">
            <a:solidFill>
              <a:srgbClr val="2A9D8F"/>
            </a:solidFill>
            <a:prstDash val="solid"/>
          </a:ln>
        </p:spPr>
      </p:sp>
      <p:sp>
        <p:nvSpPr>
          <p:cNvPr id="11" name="Text 9"/>
          <p:cNvSpPr txBox="1"/>
          <p:nvPr/>
        </p:nvSpPr>
        <p:spPr>
          <a:xfrm>
            <a:off x="5760720" y="22219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309360" y="2130552"/>
            <a:ext cx="23774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return marks; sends the address of marks[0].</a:t>
            </a:r>
            <a:endParaRPr lang="en-US" sz="1300" dirty="0"/>
          </a:p>
        </p:txBody>
      </p:sp>
      <p:sp>
        <p:nvSpPr>
          <p:cNvPr id="13" name="Shape 11"/>
          <p:cNvSpPr/>
          <p:nvPr/>
        </p:nvSpPr>
        <p:spPr>
          <a:xfrm>
            <a:off x="5760720" y="3072384"/>
            <a:ext cx="411480" cy="411480"/>
          </a:xfrm>
          <a:prstGeom prst="ellipse">
            <a:avLst/>
          </a:prstGeom>
          <a:solidFill>
            <a:srgbClr val="2A9D8F"/>
          </a:solidFill>
          <a:ln w="12700">
            <a:solidFill>
              <a:srgbClr val="2A9D8F"/>
            </a:solidFill>
            <a:prstDash val="solid"/>
          </a:ln>
        </p:spPr>
      </p:sp>
      <p:sp>
        <p:nvSpPr>
          <p:cNvPr id="14" name="Text 12"/>
          <p:cNvSpPr txBox="1"/>
          <p:nvPr/>
        </p:nvSpPr>
        <p:spPr>
          <a:xfrm>
            <a:off x="5760720" y="307238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6309360" y="2980944"/>
            <a:ext cx="23774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main() stores that address in pointer p.</a:t>
            </a:r>
            <a:endParaRPr lang="en-US" sz="1300" dirty="0"/>
          </a:p>
        </p:txBody>
      </p:sp>
      <p:sp>
        <p:nvSpPr>
          <p:cNvPr id="16" name="Shape 14"/>
          <p:cNvSpPr/>
          <p:nvPr/>
        </p:nvSpPr>
        <p:spPr>
          <a:xfrm>
            <a:off x="5760720" y="3922776"/>
            <a:ext cx="411480" cy="411480"/>
          </a:xfrm>
          <a:prstGeom prst="ellipse">
            <a:avLst/>
          </a:prstGeom>
          <a:solidFill>
            <a:srgbClr val="2A9D8F"/>
          </a:solidFill>
          <a:ln w="12700">
            <a:solidFill>
              <a:srgbClr val="2A9D8F"/>
            </a:solidFill>
            <a:prstDash val="solid"/>
          </a:ln>
        </p:spPr>
      </p:sp>
      <p:sp>
        <p:nvSpPr>
          <p:cNvPr id="17" name="Text 15"/>
          <p:cNvSpPr txBox="1"/>
          <p:nvPr/>
        </p:nvSpPr>
        <p:spPr>
          <a:xfrm>
            <a:off x="5760720" y="392277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6309360" y="3831336"/>
            <a:ext cx="237744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p[i] reads each element, exactly like marks[i].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87452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87452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5 · PASSING AN ARRAY</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Writing and calling the function</a:t>
            </a:r>
            <a:endParaRPr lang="en-US" sz="2800" dirty="0"/>
          </a:p>
        </p:txBody>
      </p:sp>
      <p:sp>
        <p:nvSpPr>
          <p:cNvPr id="5" name="Text 3"/>
          <p:cNvSpPr txBox="1"/>
          <p:nvPr/>
        </p:nvSpPr>
        <p:spPr>
          <a:xfrm>
            <a:off x="457200" y="1280160"/>
            <a:ext cx="4023360" cy="3200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Three equivalent parameter forms</a:t>
            </a:r>
            <a:endParaRPr lang="en-US" sz="1500" dirty="0"/>
          </a:p>
        </p:txBody>
      </p:sp>
      <p:sp>
        <p:nvSpPr>
          <p:cNvPr id="6" name="Shape 4"/>
          <p:cNvSpPr/>
          <p:nvPr/>
        </p:nvSpPr>
        <p:spPr>
          <a:xfrm>
            <a:off x="457200" y="1645920"/>
            <a:ext cx="4023360" cy="2286000"/>
          </a:xfrm>
          <a:prstGeom prst="roundRect">
            <a:avLst>
              <a:gd name="adj" fmla="val 3200"/>
            </a:avLst>
          </a:prstGeom>
          <a:solidFill>
            <a:srgbClr val="1E293B"/>
          </a:solidFill>
          <a:ln w="12700">
            <a:solidFill>
              <a:srgbClr val="1E293B"/>
            </a:solidFill>
            <a:prstDash val="solid"/>
          </a:ln>
        </p:spPr>
      </p:sp>
      <p:sp>
        <p:nvSpPr>
          <p:cNvPr id="7" name="Text 5"/>
          <p:cNvSpPr txBox="1"/>
          <p:nvPr/>
        </p:nvSpPr>
        <p:spPr>
          <a:xfrm>
            <a:off x="594360" y="1737360"/>
            <a:ext cx="3749040" cy="2103120"/>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void display(int arr[], int n);</a:t>
            </a:r>
            <a:endParaRPr lang="en-US" sz="1200" dirty="0"/>
          </a:p>
          <a:p>
            <a:pPr indent="0" marL="0">
              <a:buNone/>
            </a:pPr>
            <a:r>
              <a:rPr lang="en-US" sz="1200" dirty="0">
                <a:solidFill>
                  <a:srgbClr val="94D2A5"/>
                </a:solidFill>
                <a:latin typeface="Courier New" pitchFamily="34" charset="0"/>
                <a:ea typeface="Courier New" pitchFamily="34" charset="-122"/>
                <a:cs typeface="Courier New" pitchFamily="34" charset="-120"/>
              </a:rPr>
              <a:t>// most readable for beginners</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void display(int arr[10], int n);</a:t>
            </a:r>
            <a:endParaRPr lang="en-US" sz="1200" dirty="0"/>
          </a:p>
          <a:p>
            <a:pPr indent="0" marL="0">
              <a:buNone/>
            </a:pPr>
            <a:r>
              <a:rPr lang="en-US" sz="1200" dirty="0">
                <a:solidFill>
                  <a:srgbClr val="94D2A5"/>
                </a:solidFill>
                <a:latin typeface="Courier New" pitchFamily="34" charset="0"/>
                <a:ea typeface="Courier New" pitchFamily="34" charset="-122"/>
                <a:cs typeface="Courier New" pitchFamily="34" charset="-120"/>
              </a:rPr>
              <a:t>// the 10 is ignored</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void display(int *arr, int n);</a:t>
            </a:r>
            <a:endParaRPr lang="en-US" sz="1200" dirty="0"/>
          </a:p>
          <a:p>
            <a:pPr indent="0" marL="0">
              <a:buNone/>
            </a:pPr>
            <a:r>
              <a:rPr lang="en-US" sz="1200" dirty="0">
                <a:solidFill>
                  <a:srgbClr val="94D2A5"/>
                </a:solidFill>
                <a:latin typeface="Courier New" pitchFamily="34" charset="0"/>
                <a:ea typeface="Courier New" pitchFamily="34" charset="-122"/>
                <a:cs typeface="Courier New" pitchFamily="34" charset="-120"/>
              </a:rPr>
              <a:t>// what really happens</a:t>
            </a:r>
            <a:endParaRPr lang="en-US" sz="1200" dirty="0"/>
          </a:p>
        </p:txBody>
      </p:sp>
      <p:sp>
        <p:nvSpPr>
          <p:cNvPr id="8" name="Shape 6"/>
          <p:cNvSpPr/>
          <p:nvPr/>
        </p:nvSpPr>
        <p:spPr>
          <a:xfrm>
            <a:off x="457200" y="4069080"/>
            <a:ext cx="4023360" cy="594360"/>
          </a:xfrm>
          <a:prstGeom prst="roundRect">
            <a:avLst>
              <a:gd name="adj" fmla="val 15385"/>
            </a:avLst>
          </a:prstGeom>
          <a:solidFill>
            <a:srgbClr val="FFF1D6"/>
          </a:solidFill>
          <a:ln w="12700">
            <a:solidFill>
              <a:srgbClr val="FFF1D6"/>
            </a:solidFill>
            <a:prstDash val="solid"/>
          </a:ln>
        </p:spPr>
      </p:sp>
      <p:sp>
        <p:nvSpPr>
          <p:cNvPr id="9" name="Text 7"/>
          <p:cNvSpPr txBox="1"/>
          <p:nvPr/>
        </p:nvSpPr>
        <p:spPr>
          <a:xfrm>
            <a:off x="640080" y="4069080"/>
            <a:ext cx="3657600" cy="59436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When calling: </a:t>
            </a:r>
            <a:pPr indent="0" marL="0">
              <a:buNone/>
            </a:pPr>
            <a:r>
              <a:rPr lang="en-US" sz="1300" dirty="0">
                <a:solidFill>
                  <a:srgbClr val="1F2937"/>
                </a:solidFill>
                <a:latin typeface="Courier New" pitchFamily="34" charset="0"/>
                <a:ea typeface="Courier New" pitchFamily="34" charset="-122"/>
                <a:cs typeface="Courier New" pitchFamily="34" charset="-120"/>
              </a:rPr>
              <a:t>sum(nums, 5)</a:t>
            </a:r>
            <a:pPr indent="0" marL="0">
              <a:buNone/>
            </a:pPr>
            <a:r>
              <a:rPr lang="en-US" sz="1300" dirty="0">
                <a:solidFill>
                  <a:srgbClr val="1F2937"/>
                </a:solidFill>
                <a:latin typeface="Calibri" pitchFamily="34" charset="0"/>
                <a:ea typeface="Calibri" pitchFamily="34" charset="-122"/>
                <a:cs typeface="Calibri" pitchFamily="34" charset="-120"/>
              </a:rPr>
              <a:t> with no [ ]</a:t>
            </a:r>
            <a:endParaRPr lang="en-US" sz="1300" dirty="0"/>
          </a:p>
        </p:txBody>
      </p:sp>
      <p:sp>
        <p:nvSpPr>
          <p:cNvPr id="10" name="Text 8"/>
          <p:cNvSpPr txBox="1"/>
          <p:nvPr/>
        </p:nvSpPr>
        <p:spPr>
          <a:xfrm>
            <a:off x="4663440" y="1280160"/>
            <a:ext cx="4023360" cy="3200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Example: sum of elements</a:t>
            </a:r>
            <a:endParaRPr lang="en-US" sz="1500" dirty="0"/>
          </a:p>
        </p:txBody>
      </p:sp>
      <p:sp>
        <p:nvSpPr>
          <p:cNvPr id="11" name="Shape 9"/>
          <p:cNvSpPr/>
          <p:nvPr/>
        </p:nvSpPr>
        <p:spPr>
          <a:xfrm>
            <a:off x="4663440" y="1645920"/>
            <a:ext cx="4023360" cy="3017520"/>
          </a:xfrm>
          <a:prstGeom prst="roundRect">
            <a:avLst>
              <a:gd name="adj" fmla="val 2424"/>
            </a:avLst>
          </a:prstGeom>
          <a:solidFill>
            <a:srgbClr val="1E293B"/>
          </a:solidFill>
          <a:ln w="12700">
            <a:solidFill>
              <a:srgbClr val="1E293B"/>
            </a:solidFill>
            <a:prstDash val="solid"/>
          </a:ln>
        </p:spPr>
      </p:sp>
      <p:sp>
        <p:nvSpPr>
          <p:cNvPr id="12" name="Text 10"/>
          <p:cNvSpPr txBox="1"/>
          <p:nvPr/>
        </p:nvSpPr>
        <p:spPr>
          <a:xfrm>
            <a:off x="4800600" y="1737360"/>
            <a:ext cx="3749040" cy="2834640"/>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int sum(int arr[], int n)</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int total = 0;</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for (int i = 0; i &lt; n; i++)</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total += arr[i];</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return total;</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int nums[5] = {4, 8, 15, 16, 23};</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printf("Sum = %d", sum(nums, 5));</a:t>
            </a:r>
            <a:endParaRPr lang="en-US" sz="1200" dirty="0"/>
          </a:p>
          <a:p>
            <a:pPr indent="0" marL="0">
              <a:buNone/>
            </a:pPr>
            <a:r>
              <a:rPr lang="en-US" sz="1200" dirty="0">
                <a:solidFill>
                  <a:srgbClr val="94D2A5"/>
                </a:solidFill>
                <a:latin typeface="Courier New" pitchFamily="34" charset="0"/>
                <a:ea typeface="Courier New" pitchFamily="34" charset="-122"/>
                <a:cs typeface="Courier New" pitchFamily="34" charset="-120"/>
              </a:rPr>
              <a:t>// Sum = 66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874520"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1874520"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5 · PASSING AN ARRAY</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The function changes the original</a:t>
            </a:r>
            <a:endParaRPr lang="en-US" sz="2800" dirty="0"/>
          </a:p>
        </p:txBody>
      </p:sp>
      <p:sp>
        <p:nvSpPr>
          <p:cNvPr id="5" name="Shape 3"/>
          <p:cNvSpPr/>
          <p:nvPr/>
        </p:nvSpPr>
        <p:spPr>
          <a:xfrm>
            <a:off x="457200" y="1280160"/>
            <a:ext cx="4572000" cy="3383280"/>
          </a:xfrm>
          <a:prstGeom prst="roundRect">
            <a:avLst>
              <a:gd name="adj" fmla="val 2162"/>
            </a:avLst>
          </a:prstGeom>
          <a:solidFill>
            <a:srgbClr val="1E293B"/>
          </a:solidFill>
          <a:ln w="12700">
            <a:solidFill>
              <a:srgbClr val="1E293B"/>
            </a:solidFill>
            <a:prstDash val="solid"/>
          </a:ln>
        </p:spPr>
      </p:sp>
      <p:sp>
        <p:nvSpPr>
          <p:cNvPr id="6" name="Text 4"/>
          <p:cNvSpPr txBox="1"/>
          <p:nvPr/>
        </p:nvSpPr>
        <p:spPr>
          <a:xfrm>
            <a:off x="594360" y="1371600"/>
            <a:ext cx="4297680" cy="3200400"/>
          </a:xfrm>
          <a:prstGeom prst="rect">
            <a:avLst/>
          </a:prstGeom>
          <a:noFill/>
          <a:ln/>
        </p:spPr>
        <p:txBody>
          <a:bodyPr wrap="square" lIns="0" tIns="0" rIns="0" bIns="0" rtlCol="0" anchor="t"/>
          <a:lstStyle/>
          <a:p>
            <a:pPr indent="0" marL="0">
              <a:buNone/>
            </a:pPr>
            <a:r>
              <a:rPr lang="en-US" sz="1300" dirty="0">
                <a:solidFill>
                  <a:srgbClr val="E2E8F0"/>
                </a:solidFill>
                <a:latin typeface="Courier New" pitchFamily="34" charset="0"/>
                <a:ea typeface="Courier New" pitchFamily="34" charset="-122"/>
                <a:cs typeface="Courier New" pitchFamily="34" charset="-120"/>
              </a:rPr>
              <a:t>void doubleValues(int arr[], int n)</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for (int i = 0; i &lt; n; i++)</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arr[i] = arr[i] * 2;</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int main(void)</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int a[4] = {1, 2, 3, 4};</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doubleValues(a, 4);</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pPr indent="0" marL="0">
              <a:buNone/>
            </a:pPr>
            <a:r>
              <a:rPr lang="en-US" sz="1300" dirty="0">
                <a:solidFill>
                  <a:srgbClr val="94D2A5"/>
                </a:solidFill>
                <a:latin typeface="Courier New" pitchFamily="34" charset="0"/>
                <a:ea typeface="Courier New" pitchFamily="34" charset="-122"/>
                <a:cs typeface="Courier New" pitchFamily="34" charset="-120"/>
              </a:rPr>
              <a:t>// a is now 2 4 6 8</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return 0;</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p:txBody>
      </p:sp>
      <p:sp>
        <p:nvSpPr>
          <p:cNvPr id="7" name="Text 5"/>
          <p:cNvSpPr txBox="1"/>
          <p:nvPr/>
        </p:nvSpPr>
        <p:spPr>
          <a:xfrm>
            <a:off x="5394960" y="1280160"/>
            <a:ext cx="3291840" cy="274320"/>
          </a:xfrm>
          <a:prstGeom prst="rect">
            <a:avLst/>
          </a:prstGeom>
          <a:noFill/>
          <a:ln/>
        </p:spPr>
        <p:txBody>
          <a:bodyPr wrap="square" lIns="0" tIns="0" rIns="0" bIns="0" rtlCol="0" anchor="t"/>
          <a:lstStyle/>
          <a:p>
            <a:pPr indent="0" marL="0">
              <a:buNone/>
            </a:pPr>
            <a:r>
              <a:rPr lang="en-US" sz="1300" b="1" dirty="0">
                <a:solidFill>
                  <a:srgbClr val="5B6472"/>
                </a:solidFill>
                <a:latin typeface="Calibri" pitchFamily="34" charset="0"/>
                <a:ea typeface="Calibri" pitchFamily="34" charset="-122"/>
                <a:cs typeface="Calibri" pitchFamily="34" charset="-120"/>
              </a:rPr>
              <a:t>Before</a:t>
            </a:r>
            <a:endParaRPr lang="en-US" sz="1300" dirty="0"/>
          </a:p>
        </p:txBody>
      </p:sp>
      <p:sp>
        <p:nvSpPr>
          <p:cNvPr id="8" name="Shape 6"/>
          <p:cNvSpPr/>
          <p:nvPr/>
        </p:nvSpPr>
        <p:spPr>
          <a:xfrm>
            <a:off x="5394960" y="1600200"/>
            <a:ext cx="731520" cy="548640"/>
          </a:xfrm>
          <a:prstGeom prst="roundRect">
            <a:avLst>
              <a:gd name="adj" fmla="val 16667"/>
            </a:avLst>
          </a:prstGeom>
          <a:solidFill>
            <a:srgbClr val="EEF2F7"/>
          </a:solidFill>
          <a:ln w="12700">
            <a:solidFill>
              <a:srgbClr val="EEF2F7"/>
            </a:solidFill>
            <a:prstDash val="solid"/>
          </a:ln>
        </p:spPr>
      </p:sp>
      <p:sp>
        <p:nvSpPr>
          <p:cNvPr id="9" name="Text 7"/>
          <p:cNvSpPr txBox="1"/>
          <p:nvPr/>
        </p:nvSpPr>
        <p:spPr>
          <a:xfrm>
            <a:off x="5394960" y="1600200"/>
            <a:ext cx="731520" cy="54864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1</a:t>
            </a:r>
            <a:endParaRPr lang="en-US" sz="1800" dirty="0"/>
          </a:p>
        </p:txBody>
      </p:sp>
      <p:sp>
        <p:nvSpPr>
          <p:cNvPr id="10" name="Shape 8"/>
          <p:cNvSpPr/>
          <p:nvPr/>
        </p:nvSpPr>
        <p:spPr>
          <a:xfrm>
            <a:off x="6217920" y="1600200"/>
            <a:ext cx="731520" cy="548640"/>
          </a:xfrm>
          <a:prstGeom prst="roundRect">
            <a:avLst>
              <a:gd name="adj" fmla="val 16667"/>
            </a:avLst>
          </a:prstGeom>
          <a:solidFill>
            <a:srgbClr val="EEF2F7"/>
          </a:solidFill>
          <a:ln w="12700">
            <a:solidFill>
              <a:srgbClr val="EEF2F7"/>
            </a:solidFill>
            <a:prstDash val="solid"/>
          </a:ln>
        </p:spPr>
      </p:sp>
      <p:sp>
        <p:nvSpPr>
          <p:cNvPr id="11" name="Text 9"/>
          <p:cNvSpPr txBox="1"/>
          <p:nvPr/>
        </p:nvSpPr>
        <p:spPr>
          <a:xfrm>
            <a:off x="6217920" y="1600200"/>
            <a:ext cx="731520" cy="54864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2</a:t>
            </a:r>
            <a:endParaRPr lang="en-US" sz="1800" dirty="0"/>
          </a:p>
        </p:txBody>
      </p:sp>
      <p:sp>
        <p:nvSpPr>
          <p:cNvPr id="12" name="Shape 10"/>
          <p:cNvSpPr/>
          <p:nvPr/>
        </p:nvSpPr>
        <p:spPr>
          <a:xfrm>
            <a:off x="7040880" y="1600200"/>
            <a:ext cx="731520" cy="548640"/>
          </a:xfrm>
          <a:prstGeom prst="roundRect">
            <a:avLst>
              <a:gd name="adj" fmla="val 16667"/>
            </a:avLst>
          </a:prstGeom>
          <a:solidFill>
            <a:srgbClr val="EEF2F7"/>
          </a:solidFill>
          <a:ln w="12700">
            <a:solidFill>
              <a:srgbClr val="EEF2F7"/>
            </a:solidFill>
            <a:prstDash val="solid"/>
          </a:ln>
        </p:spPr>
      </p:sp>
      <p:sp>
        <p:nvSpPr>
          <p:cNvPr id="13" name="Text 11"/>
          <p:cNvSpPr txBox="1"/>
          <p:nvPr/>
        </p:nvSpPr>
        <p:spPr>
          <a:xfrm>
            <a:off x="7040880" y="1600200"/>
            <a:ext cx="731520" cy="54864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3</a:t>
            </a:r>
            <a:endParaRPr lang="en-US" sz="1800" dirty="0"/>
          </a:p>
        </p:txBody>
      </p:sp>
      <p:sp>
        <p:nvSpPr>
          <p:cNvPr id="14" name="Shape 12"/>
          <p:cNvSpPr/>
          <p:nvPr/>
        </p:nvSpPr>
        <p:spPr>
          <a:xfrm>
            <a:off x="7863840" y="1600200"/>
            <a:ext cx="731520" cy="548640"/>
          </a:xfrm>
          <a:prstGeom prst="roundRect">
            <a:avLst>
              <a:gd name="adj" fmla="val 16667"/>
            </a:avLst>
          </a:prstGeom>
          <a:solidFill>
            <a:srgbClr val="EEF2F7"/>
          </a:solidFill>
          <a:ln w="12700">
            <a:solidFill>
              <a:srgbClr val="EEF2F7"/>
            </a:solidFill>
            <a:prstDash val="solid"/>
          </a:ln>
        </p:spPr>
      </p:sp>
      <p:sp>
        <p:nvSpPr>
          <p:cNvPr id="15" name="Text 13"/>
          <p:cNvSpPr txBox="1"/>
          <p:nvPr/>
        </p:nvSpPr>
        <p:spPr>
          <a:xfrm>
            <a:off x="7863840" y="1600200"/>
            <a:ext cx="731520" cy="54864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4</a:t>
            </a:r>
            <a:endParaRPr lang="en-US" sz="1800" dirty="0"/>
          </a:p>
        </p:txBody>
      </p:sp>
      <p:sp>
        <p:nvSpPr>
          <p:cNvPr id="16" name="Text 14"/>
          <p:cNvSpPr txBox="1"/>
          <p:nvPr/>
        </p:nvSpPr>
        <p:spPr>
          <a:xfrm>
            <a:off x="5394960" y="2286000"/>
            <a:ext cx="3291840" cy="274320"/>
          </a:xfrm>
          <a:prstGeom prst="rect">
            <a:avLst/>
          </a:prstGeom>
          <a:noFill/>
          <a:ln/>
        </p:spPr>
        <p:txBody>
          <a:bodyPr wrap="square" lIns="0" tIns="0" rIns="0" bIns="0" rtlCol="0" anchor="t"/>
          <a:lstStyle/>
          <a:p>
            <a:pPr indent="0" marL="0">
              <a:buNone/>
            </a:pPr>
            <a:r>
              <a:rPr lang="en-US" sz="1300" b="1" dirty="0">
                <a:solidFill>
                  <a:srgbClr val="5B6472"/>
                </a:solidFill>
                <a:latin typeface="Calibri" pitchFamily="34" charset="0"/>
                <a:ea typeface="Calibri" pitchFamily="34" charset="-122"/>
                <a:cs typeface="Calibri" pitchFamily="34" charset="-120"/>
              </a:rPr>
              <a:t>After doubleValues(a, 4)</a:t>
            </a:r>
            <a:endParaRPr lang="en-US" sz="1300" dirty="0"/>
          </a:p>
        </p:txBody>
      </p:sp>
      <p:sp>
        <p:nvSpPr>
          <p:cNvPr id="17" name="Shape 15"/>
          <p:cNvSpPr/>
          <p:nvPr/>
        </p:nvSpPr>
        <p:spPr>
          <a:xfrm>
            <a:off x="5394960" y="2606040"/>
            <a:ext cx="731520" cy="548640"/>
          </a:xfrm>
          <a:prstGeom prst="roundRect">
            <a:avLst>
              <a:gd name="adj" fmla="val 16667"/>
            </a:avLst>
          </a:prstGeom>
          <a:solidFill>
            <a:srgbClr val="E3F2F0"/>
          </a:solidFill>
          <a:ln w="12700">
            <a:solidFill>
              <a:srgbClr val="E3F2F0"/>
            </a:solidFill>
            <a:prstDash val="solid"/>
          </a:ln>
        </p:spPr>
      </p:sp>
      <p:sp>
        <p:nvSpPr>
          <p:cNvPr id="18" name="Text 16"/>
          <p:cNvSpPr txBox="1"/>
          <p:nvPr/>
        </p:nvSpPr>
        <p:spPr>
          <a:xfrm>
            <a:off x="5394960" y="2606040"/>
            <a:ext cx="731520" cy="548640"/>
          </a:xfrm>
          <a:prstGeom prst="rect">
            <a:avLst/>
          </a:prstGeom>
          <a:noFill/>
          <a:ln/>
        </p:spPr>
        <p:txBody>
          <a:bodyPr wrap="square" lIns="0" tIns="0" rIns="0" bIns="0" rtlCol="0" anchor="ctr"/>
          <a:lstStyle/>
          <a:p>
            <a:pPr algn="ctr" indent="0" marL="0">
              <a:buNone/>
            </a:pPr>
            <a:r>
              <a:rPr lang="en-US" sz="1800" b="1" dirty="0">
                <a:solidFill>
                  <a:srgbClr val="2A9D8F"/>
                </a:solidFill>
                <a:latin typeface="Courier New" pitchFamily="34" charset="0"/>
                <a:ea typeface="Courier New" pitchFamily="34" charset="-122"/>
                <a:cs typeface="Courier New" pitchFamily="34" charset="-120"/>
              </a:rPr>
              <a:t>2</a:t>
            </a:r>
            <a:endParaRPr lang="en-US" sz="1800" dirty="0"/>
          </a:p>
        </p:txBody>
      </p:sp>
      <p:sp>
        <p:nvSpPr>
          <p:cNvPr id="19" name="Shape 17"/>
          <p:cNvSpPr/>
          <p:nvPr/>
        </p:nvSpPr>
        <p:spPr>
          <a:xfrm>
            <a:off x="6217920" y="2606040"/>
            <a:ext cx="731520" cy="548640"/>
          </a:xfrm>
          <a:prstGeom prst="roundRect">
            <a:avLst>
              <a:gd name="adj" fmla="val 16667"/>
            </a:avLst>
          </a:prstGeom>
          <a:solidFill>
            <a:srgbClr val="E3F2F0"/>
          </a:solidFill>
          <a:ln w="12700">
            <a:solidFill>
              <a:srgbClr val="E3F2F0"/>
            </a:solidFill>
            <a:prstDash val="solid"/>
          </a:ln>
        </p:spPr>
      </p:sp>
      <p:sp>
        <p:nvSpPr>
          <p:cNvPr id="20" name="Text 18"/>
          <p:cNvSpPr txBox="1"/>
          <p:nvPr/>
        </p:nvSpPr>
        <p:spPr>
          <a:xfrm>
            <a:off x="6217920" y="2606040"/>
            <a:ext cx="731520" cy="548640"/>
          </a:xfrm>
          <a:prstGeom prst="rect">
            <a:avLst/>
          </a:prstGeom>
          <a:noFill/>
          <a:ln/>
        </p:spPr>
        <p:txBody>
          <a:bodyPr wrap="square" lIns="0" tIns="0" rIns="0" bIns="0" rtlCol="0" anchor="ctr"/>
          <a:lstStyle/>
          <a:p>
            <a:pPr algn="ctr" indent="0" marL="0">
              <a:buNone/>
            </a:pPr>
            <a:r>
              <a:rPr lang="en-US" sz="1800" b="1" dirty="0">
                <a:solidFill>
                  <a:srgbClr val="2A9D8F"/>
                </a:solidFill>
                <a:latin typeface="Courier New" pitchFamily="34" charset="0"/>
                <a:ea typeface="Courier New" pitchFamily="34" charset="-122"/>
                <a:cs typeface="Courier New" pitchFamily="34" charset="-120"/>
              </a:rPr>
              <a:t>4</a:t>
            </a:r>
            <a:endParaRPr lang="en-US" sz="1800" dirty="0"/>
          </a:p>
        </p:txBody>
      </p:sp>
      <p:sp>
        <p:nvSpPr>
          <p:cNvPr id="21" name="Shape 19"/>
          <p:cNvSpPr/>
          <p:nvPr/>
        </p:nvSpPr>
        <p:spPr>
          <a:xfrm>
            <a:off x="7040880" y="2606040"/>
            <a:ext cx="731520" cy="548640"/>
          </a:xfrm>
          <a:prstGeom prst="roundRect">
            <a:avLst>
              <a:gd name="adj" fmla="val 16667"/>
            </a:avLst>
          </a:prstGeom>
          <a:solidFill>
            <a:srgbClr val="E3F2F0"/>
          </a:solidFill>
          <a:ln w="12700">
            <a:solidFill>
              <a:srgbClr val="E3F2F0"/>
            </a:solidFill>
            <a:prstDash val="solid"/>
          </a:ln>
        </p:spPr>
      </p:sp>
      <p:sp>
        <p:nvSpPr>
          <p:cNvPr id="22" name="Text 20"/>
          <p:cNvSpPr txBox="1"/>
          <p:nvPr/>
        </p:nvSpPr>
        <p:spPr>
          <a:xfrm>
            <a:off x="7040880" y="2606040"/>
            <a:ext cx="731520" cy="548640"/>
          </a:xfrm>
          <a:prstGeom prst="rect">
            <a:avLst/>
          </a:prstGeom>
          <a:noFill/>
          <a:ln/>
        </p:spPr>
        <p:txBody>
          <a:bodyPr wrap="square" lIns="0" tIns="0" rIns="0" bIns="0" rtlCol="0" anchor="ctr"/>
          <a:lstStyle/>
          <a:p>
            <a:pPr algn="ctr" indent="0" marL="0">
              <a:buNone/>
            </a:pPr>
            <a:r>
              <a:rPr lang="en-US" sz="1800" b="1" dirty="0">
                <a:solidFill>
                  <a:srgbClr val="2A9D8F"/>
                </a:solidFill>
                <a:latin typeface="Courier New" pitchFamily="34" charset="0"/>
                <a:ea typeface="Courier New" pitchFamily="34" charset="-122"/>
                <a:cs typeface="Courier New" pitchFamily="34" charset="-120"/>
              </a:rPr>
              <a:t>6</a:t>
            </a:r>
            <a:endParaRPr lang="en-US" sz="1800" dirty="0"/>
          </a:p>
        </p:txBody>
      </p:sp>
      <p:sp>
        <p:nvSpPr>
          <p:cNvPr id="23" name="Shape 21"/>
          <p:cNvSpPr/>
          <p:nvPr/>
        </p:nvSpPr>
        <p:spPr>
          <a:xfrm>
            <a:off x="7863840" y="2606040"/>
            <a:ext cx="731520" cy="548640"/>
          </a:xfrm>
          <a:prstGeom prst="roundRect">
            <a:avLst>
              <a:gd name="adj" fmla="val 16667"/>
            </a:avLst>
          </a:prstGeom>
          <a:solidFill>
            <a:srgbClr val="E3F2F0"/>
          </a:solidFill>
          <a:ln w="12700">
            <a:solidFill>
              <a:srgbClr val="E3F2F0"/>
            </a:solidFill>
            <a:prstDash val="solid"/>
          </a:ln>
        </p:spPr>
      </p:sp>
      <p:sp>
        <p:nvSpPr>
          <p:cNvPr id="24" name="Text 22"/>
          <p:cNvSpPr txBox="1"/>
          <p:nvPr/>
        </p:nvSpPr>
        <p:spPr>
          <a:xfrm>
            <a:off x="7863840" y="2606040"/>
            <a:ext cx="731520" cy="548640"/>
          </a:xfrm>
          <a:prstGeom prst="rect">
            <a:avLst/>
          </a:prstGeom>
          <a:noFill/>
          <a:ln/>
        </p:spPr>
        <p:txBody>
          <a:bodyPr wrap="square" lIns="0" tIns="0" rIns="0" bIns="0" rtlCol="0" anchor="ctr"/>
          <a:lstStyle/>
          <a:p>
            <a:pPr algn="ctr" indent="0" marL="0">
              <a:buNone/>
            </a:pPr>
            <a:r>
              <a:rPr lang="en-US" sz="1800" b="1" dirty="0">
                <a:solidFill>
                  <a:srgbClr val="2A9D8F"/>
                </a:solidFill>
                <a:latin typeface="Courier New" pitchFamily="34" charset="0"/>
                <a:ea typeface="Courier New" pitchFamily="34" charset="-122"/>
                <a:cs typeface="Courier New" pitchFamily="34" charset="-120"/>
              </a:rPr>
              <a:t>8</a:t>
            </a:r>
            <a:endParaRPr lang="en-US" sz="1800" dirty="0"/>
          </a:p>
        </p:txBody>
      </p:sp>
      <p:sp>
        <p:nvSpPr>
          <p:cNvPr id="25" name="Shape 23"/>
          <p:cNvSpPr/>
          <p:nvPr/>
        </p:nvSpPr>
        <p:spPr>
          <a:xfrm>
            <a:off x="5394960" y="3383280"/>
            <a:ext cx="3291840" cy="1280160"/>
          </a:xfrm>
          <a:prstGeom prst="roundRect">
            <a:avLst>
              <a:gd name="adj" fmla="val 7143"/>
            </a:avLst>
          </a:prstGeom>
          <a:solidFill>
            <a:srgbClr val="14213D"/>
          </a:solidFill>
          <a:ln w="12700">
            <a:solidFill>
              <a:srgbClr val="14213D"/>
            </a:solidFill>
            <a:prstDash val="solid"/>
          </a:ln>
        </p:spPr>
      </p:sp>
      <p:sp>
        <p:nvSpPr>
          <p:cNvPr id="26" name="Text 24"/>
          <p:cNvSpPr txBox="1"/>
          <p:nvPr/>
        </p:nvSpPr>
        <p:spPr>
          <a:xfrm>
            <a:off x="5577840" y="3429000"/>
            <a:ext cx="2971800" cy="1188720"/>
          </a:xfrm>
          <a:prstGeom prst="rect">
            <a:avLst/>
          </a:prstGeom>
          <a:noFill/>
          <a:ln/>
        </p:spPr>
        <p:txBody>
          <a:bodyPr wrap="square" lIns="0" tIns="0" rIns="0" bIns="0" rtlCol="0" anchor="ctr"/>
          <a:lstStyle/>
          <a:p>
            <a:pPr indent="0" marL="0">
              <a:spcAft>
                <a:spcPts val="400"/>
              </a:spcAft>
              <a:buNone/>
            </a:pPr>
            <a:r>
              <a:rPr lang="en-US" sz="1300" b="1" dirty="0">
                <a:solidFill>
                  <a:srgbClr val="FCA311"/>
                </a:solidFill>
                <a:latin typeface="Calibri" pitchFamily="34" charset="0"/>
                <a:ea typeface="Calibri" pitchFamily="34" charset="-122"/>
                <a:cs typeface="Calibri" pitchFamily="34" charset="-120"/>
              </a:rPr>
              <a:t>To prevent changes, use const</a:t>
            </a:r>
            <a:endParaRPr lang="en-US" sz="1300" dirty="0"/>
          </a:p>
          <a:p>
            <a:pPr indent="0" marL="0">
              <a:spcAft>
                <a:spcPts val="400"/>
              </a:spcAft>
              <a:buNone/>
            </a:pPr>
            <a:r>
              <a:rPr lang="en-US" sz="1000" dirty="0">
                <a:solidFill>
                  <a:srgbClr val="FFFFFF"/>
                </a:solidFill>
                <a:latin typeface="Courier New" pitchFamily="34" charset="0"/>
                <a:ea typeface="Courier New" pitchFamily="34" charset="-122"/>
                <a:cs typeface="Courier New" pitchFamily="34" charset="-120"/>
              </a:rPr>
              <a:t>void display(const int arr[], int n);</a:t>
            </a:r>
            <a:endParaRPr lang="en-US" sz="1300" dirty="0"/>
          </a:p>
          <a:p>
            <a:pPr indent="0" marL="0">
              <a:spcAft>
                <a:spcPts val="400"/>
              </a:spcAft>
              <a:buNone/>
            </a:pPr>
            <a:r>
              <a:rPr lang="en-US" sz="1300" dirty="0">
                <a:solidFill>
                  <a:srgbClr val="CBD5E1"/>
                </a:solidFill>
                <a:latin typeface="Calibri" pitchFamily="34" charset="0"/>
                <a:ea typeface="Calibri" pitchFamily="34" charset="-122"/>
                <a:cs typeface="Calibri" pitchFamily="34" charset="-120"/>
              </a:rPr>
              <a:t>arr[i] = 5; is now an error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Quick recap</a:t>
            </a:r>
            <a:endParaRPr lang="en-US" sz="3000" dirty="0"/>
          </a:p>
        </p:txBody>
      </p:sp>
      <p:sp>
        <p:nvSpPr>
          <p:cNvPr id="3" name="Shape 1"/>
          <p:cNvSpPr/>
          <p:nvPr/>
        </p:nvSpPr>
        <p:spPr>
          <a:xfrm>
            <a:off x="457200" y="1188720"/>
            <a:ext cx="438912" cy="438912"/>
          </a:xfrm>
          <a:prstGeom prst="ellipse">
            <a:avLst/>
          </a:prstGeom>
          <a:solidFill>
            <a:srgbClr val="FCA311"/>
          </a:solidFill>
          <a:ln w="12700">
            <a:solidFill>
              <a:srgbClr val="FCA311"/>
            </a:solidFill>
            <a:prstDash val="solid"/>
          </a:ln>
        </p:spPr>
      </p:sp>
      <p:sp>
        <p:nvSpPr>
          <p:cNvPr id="4" name="Text 2"/>
          <p:cNvSpPr txBox="1"/>
          <p:nvPr/>
        </p:nvSpPr>
        <p:spPr>
          <a:xfrm>
            <a:off x="457200" y="1188720"/>
            <a:ext cx="438912"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51560" y="1097280"/>
            <a:ext cx="763524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return type says what comes back; void means nothing comes back.</a:t>
            </a:r>
            <a:endParaRPr lang="en-US" sz="1400" dirty="0"/>
          </a:p>
        </p:txBody>
      </p:sp>
      <p:sp>
        <p:nvSpPr>
          <p:cNvPr id="6" name="Shape 4"/>
          <p:cNvSpPr/>
          <p:nvPr/>
        </p:nvSpPr>
        <p:spPr>
          <a:xfrm>
            <a:off x="457200" y="1947672"/>
            <a:ext cx="438912" cy="438912"/>
          </a:xfrm>
          <a:prstGeom prst="ellipse">
            <a:avLst/>
          </a:prstGeom>
          <a:solidFill>
            <a:srgbClr val="FCA311"/>
          </a:solidFill>
          <a:ln w="12700">
            <a:solidFill>
              <a:srgbClr val="FCA311"/>
            </a:solidFill>
            <a:prstDash val="solid"/>
          </a:ln>
        </p:spPr>
      </p:sp>
      <p:sp>
        <p:nvSpPr>
          <p:cNvPr id="7" name="Text 5"/>
          <p:cNvSpPr txBox="1"/>
          <p:nvPr/>
        </p:nvSpPr>
        <p:spPr>
          <a:xfrm>
            <a:off x="457200" y="1947672"/>
            <a:ext cx="438912"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051560" y="1856232"/>
            <a:ext cx="763524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mismatched return value is converted automatically to the return type, and can lose data.</a:t>
            </a:r>
            <a:endParaRPr lang="en-US" sz="1400" dirty="0"/>
          </a:p>
        </p:txBody>
      </p:sp>
      <p:sp>
        <p:nvSpPr>
          <p:cNvPr id="9" name="Shape 7"/>
          <p:cNvSpPr/>
          <p:nvPr/>
        </p:nvSpPr>
        <p:spPr>
          <a:xfrm>
            <a:off x="457200" y="2706624"/>
            <a:ext cx="438912" cy="438912"/>
          </a:xfrm>
          <a:prstGeom prst="ellipse">
            <a:avLst/>
          </a:prstGeom>
          <a:solidFill>
            <a:srgbClr val="FCA311"/>
          </a:solidFill>
          <a:ln w="12700">
            <a:solidFill>
              <a:srgbClr val="FCA311"/>
            </a:solidFill>
            <a:prstDash val="solid"/>
          </a:ln>
        </p:spPr>
      </p:sp>
      <p:sp>
        <p:nvSpPr>
          <p:cNvPr id="10" name="Text 8"/>
          <p:cNvSpPr txBox="1"/>
          <p:nvPr/>
        </p:nvSpPr>
        <p:spPr>
          <a:xfrm>
            <a:off x="457200" y="2706624"/>
            <a:ext cx="438912"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051560" y="2615184"/>
            <a:ext cx="763524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Scope is where a variable can be used; lifetime is how long it exists. Locals live while their function runs, globals for the whole program.</a:t>
            </a:r>
            <a:endParaRPr lang="en-US" sz="1400" dirty="0"/>
          </a:p>
        </p:txBody>
      </p:sp>
      <p:sp>
        <p:nvSpPr>
          <p:cNvPr id="12" name="Shape 10"/>
          <p:cNvSpPr/>
          <p:nvPr/>
        </p:nvSpPr>
        <p:spPr>
          <a:xfrm>
            <a:off x="457200" y="3465576"/>
            <a:ext cx="438912" cy="438912"/>
          </a:xfrm>
          <a:prstGeom prst="ellipse">
            <a:avLst/>
          </a:prstGeom>
          <a:solidFill>
            <a:srgbClr val="FCA311"/>
          </a:solidFill>
          <a:ln w="12700">
            <a:solidFill>
              <a:srgbClr val="FCA311"/>
            </a:solidFill>
            <a:prstDash val="solid"/>
          </a:ln>
        </p:spPr>
      </p:sp>
      <p:sp>
        <p:nvSpPr>
          <p:cNvPr id="13" name="Text 11"/>
          <p:cNvSpPr txBox="1"/>
          <p:nvPr/>
        </p:nvSpPr>
        <p:spPr>
          <a:xfrm>
            <a:off x="457200" y="3465576"/>
            <a:ext cx="438912"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051560" y="3374136"/>
            <a:ext cx="763524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 cannot return an array directly. Return the address of its first element with a type like int*, and use the pointer like an array.</a:t>
            </a:r>
            <a:endParaRPr lang="en-US" sz="1400" dirty="0"/>
          </a:p>
        </p:txBody>
      </p:sp>
      <p:sp>
        <p:nvSpPr>
          <p:cNvPr id="15" name="Shape 13"/>
          <p:cNvSpPr/>
          <p:nvPr/>
        </p:nvSpPr>
        <p:spPr>
          <a:xfrm>
            <a:off x="457200" y="4224528"/>
            <a:ext cx="438912" cy="438912"/>
          </a:xfrm>
          <a:prstGeom prst="ellipse">
            <a:avLst/>
          </a:prstGeom>
          <a:solidFill>
            <a:srgbClr val="FCA311"/>
          </a:solidFill>
          <a:ln w="12700">
            <a:solidFill>
              <a:srgbClr val="FCA311"/>
            </a:solidFill>
            <a:prstDash val="solid"/>
          </a:ln>
        </p:spPr>
      </p:sp>
      <p:sp>
        <p:nvSpPr>
          <p:cNvPr id="16" name="Text 14"/>
          <p:cNvSpPr txBox="1"/>
          <p:nvPr/>
        </p:nvSpPr>
        <p:spPr>
          <a:xfrm>
            <a:off x="457200" y="4224528"/>
            <a:ext cx="438912"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5</a:t>
            </a:r>
            <a:endParaRPr lang="en-US" sz="1400" dirty="0"/>
          </a:p>
        </p:txBody>
      </p:sp>
      <p:sp>
        <p:nvSpPr>
          <p:cNvPr id="17" name="Text 15"/>
          <p:cNvSpPr txBox="1"/>
          <p:nvPr/>
        </p:nvSpPr>
        <p:spPr>
          <a:xfrm>
            <a:off x="1051560" y="4133088"/>
            <a:ext cx="763524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passed array sends only its address, so the function can change the original and the size must be passed separately.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941832" cy="256032"/>
          </a:xfrm>
          <a:prstGeom prst="roundRect">
            <a:avLst>
              <a:gd name="adj" fmla="val 28571"/>
            </a:avLst>
          </a:prstGeom>
          <a:solidFill>
            <a:srgbClr val="FCA311"/>
          </a:solidFill>
          <a:ln w="12700">
            <a:solidFill>
              <a:srgbClr val="FCA311"/>
            </a:solidFill>
            <a:prstDash val="solid"/>
          </a:ln>
        </p:spPr>
      </p:sp>
      <p:sp>
        <p:nvSpPr>
          <p:cNvPr id="3" name="Text 1"/>
          <p:cNvSpPr txBox="1"/>
          <p:nvPr/>
        </p:nvSpPr>
        <p:spPr>
          <a:xfrm>
            <a:off x="457200" y="274320"/>
            <a:ext cx="941832" cy="256032"/>
          </a:xfrm>
          <a:prstGeom prst="rect">
            <a:avLst/>
          </a:prstGeom>
          <a:noFill/>
          <a:ln/>
        </p:spPr>
        <p:txBody>
          <a:bodyPr wrap="square" lIns="0" tIns="0" rIns="0" bIns="0" rtlCol="0" anchor="ctr"/>
          <a:lstStyle/>
          <a:p>
            <a:pPr algn="ctr" indent="0" marL="0">
              <a:buNone/>
            </a:pPr>
            <a:r>
              <a:rPr lang="en-US" sz="1000" b="1" dirty="0">
                <a:solidFill>
                  <a:srgbClr val="14213D"/>
                </a:solidFill>
                <a:latin typeface="Calibri" pitchFamily="34" charset="0"/>
                <a:ea typeface="Calibri" pitchFamily="34" charset="-122"/>
                <a:cs typeface="Calibri" pitchFamily="34" charset="-120"/>
              </a:rPr>
              <a:t>PRACTICE</a:t>
            </a:r>
            <a:endParaRPr lang="en-US" sz="1000" dirty="0"/>
          </a:p>
        </p:txBody>
      </p:sp>
      <p:sp>
        <p:nvSpPr>
          <p:cNvPr id="4" name="Text 2"/>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Try these</a:t>
            </a:r>
            <a:endParaRPr lang="en-US" sz="2800" dirty="0"/>
          </a:p>
        </p:txBody>
      </p:sp>
      <p:sp>
        <p:nvSpPr>
          <p:cNvPr id="5" name="Shape 3"/>
          <p:cNvSpPr/>
          <p:nvPr/>
        </p:nvSpPr>
        <p:spPr>
          <a:xfrm>
            <a:off x="457200" y="1280160"/>
            <a:ext cx="4023360" cy="758952"/>
          </a:xfrm>
          <a:prstGeom prst="roundRect">
            <a:avLst>
              <a:gd name="adj" fmla="val 12048"/>
            </a:avLst>
          </a:prstGeom>
          <a:solidFill>
            <a:srgbClr val="EEF2F7"/>
          </a:solidFill>
          <a:ln w="12700">
            <a:solidFill>
              <a:srgbClr val="EEF2F7"/>
            </a:solidFill>
            <a:prstDash val="solid"/>
          </a:ln>
        </p:spPr>
      </p:sp>
      <p:sp>
        <p:nvSpPr>
          <p:cNvPr id="6" name="Shape 4"/>
          <p:cNvSpPr/>
          <p:nvPr/>
        </p:nvSpPr>
        <p:spPr>
          <a:xfrm>
            <a:off x="594360" y="1453896"/>
            <a:ext cx="411480" cy="411480"/>
          </a:xfrm>
          <a:prstGeom prst="ellipse">
            <a:avLst/>
          </a:prstGeom>
          <a:solidFill>
            <a:srgbClr val="2A9D8F"/>
          </a:solidFill>
          <a:ln w="12700">
            <a:solidFill>
              <a:srgbClr val="2A9D8F"/>
            </a:solidFill>
            <a:prstDash val="solid"/>
          </a:ln>
        </p:spPr>
      </p:sp>
      <p:sp>
        <p:nvSpPr>
          <p:cNvPr id="7" name="Text 5"/>
          <p:cNvSpPr txBox="1"/>
          <p:nvPr/>
        </p:nvSpPr>
        <p:spPr>
          <a:xfrm>
            <a:off x="594360" y="14538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280160"/>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Write float percentage(int obtained, int total). Test with 45 out of 60 (watch for integer division).</a:t>
            </a:r>
            <a:endParaRPr lang="en-US" sz="1200" dirty="0"/>
          </a:p>
        </p:txBody>
      </p:sp>
      <p:sp>
        <p:nvSpPr>
          <p:cNvPr id="9" name="Shape 7"/>
          <p:cNvSpPr/>
          <p:nvPr/>
        </p:nvSpPr>
        <p:spPr>
          <a:xfrm>
            <a:off x="457200" y="2130552"/>
            <a:ext cx="4023360" cy="758952"/>
          </a:xfrm>
          <a:prstGeom prst="roundRect">
            <a:avLst>
              <a:gd name="adj" fmla="val 12048"/>
            </a:avLst>
          </a:prstGeom>
          <a:solidFill>
            <a:srgbClr val="EEF2F7"/>
          </a:solidFill>
          <a:ln w="12700">
            <a:solidFill>
              <a:srgbClr val="EEF2F7"/>
            </a:solidFill>
            <a:prstDash val="solid"/>
          </a:ln>
        </p:spPr>
      </p:sp>
      <p:sp>
        <p:nvSpPr>
          <p:cNvPr id="10" name="Shape 8"/>
          <p:cNvSpPr/>
          <p:nvPr/>
        </p:nvSpPr>
        <p:spPr>
          <a:xfrm>
            <a:off x="594360" y="2304288"/>
            <a:ext cx="411480" cy="411480"/>
          </a:xfrm>
          <a:prstGeom prst="ellipse">
            <a:avLst/>
          </a:prstGeom>
          <a:solidFill>
            <a:srgbClr val="2A9D8F"/>
          </a:solidFill>
          <a:ln w="12700">
            <a:solidFill>
              <a:srgbClr val="2A9D8F"/>
            </a:solidFill>
            <a:prstDash val="solid"/>
          </a:ln>
        </p:spPr>
      </p:sp>
      <p:sp>
        <p:nvSpPr>
          <p:cNvPr id="11" name="Text 9"/>
          <p:cNvSpPr txBox="1"/>
          <p:nvPr/>
        </p:nvSpPr>
        <p:spPr>
          <a:xfrm>
            <a:off x="594360" y="23042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43000" y="2130552"/>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int f() contains return 9.99;. What does printf("%d", f()); print, and why?</a:t>
            </a:r>
            <a:endParaRPr lang="en-US" sz="1200" dirty="0"/>
          </a:p>
        </p:txBody>
      </p:sp>
      <p:sp>
        <p:nvSpPr>
          <p:cNvPr id="13" name="Shape 11"/>
          <p:cNvSpPr/>
          <p:nvPr/>
        </p:nvSpPr>
        <p:spPr>
          <a:xfrm>
            <a:off x="457200" y="2980944"/>
            <a:ext cx="4023360" cy="758952"/>
          </a:xfrm>
          <a:prstGeom prst="roundRect">
            <a:avLst>
              <a:gd name="adj" fmla="val 12048"/>
            </a:avLst>
          </a:prstGeom>
          <a:solidFill>
            <a:srgbClr val="EEF2F7"/>
          </a:solidFill>
          <a:ln w="12700">
            <a:solidFill>
              <a:srgbClr val="EEF2F7"/>
            </a:solidFill>
            <a:prstDash val="solid"/>
          </a:ln>
        </p:spPr>
      </p:sp>
      <p:sp>
        <p:nvSpPr>
          <p:cNvPr id="14" name="Shape 12"/>
          <p:cNvSpPr/>
          <p:nvPr/>
        </p:nvSpPr>
        <p:spPr>
          <a:xfrm>
            <a:off x="594360" y="3154680"/>
            <a:ext cx="411480" cy="411480"/>
          </a:xfrm>
          <a:prstGeom prst="ellipse">
            <a:avLst/>
          </a:prstGeom>
          <a:solidFill>
            <a:srgbClr val="2A9D8F"/>
          </a:solidFill>
          <a:ln w="12700">
            <a:solidFill>
              <a:srgbClr val="2A9D8F"/>
            </a:solidFill>
            <a:prstDash val="solid"/>
          </a:ln>
        </p:spPr>
      </p:sp>
      <p:sp>
        <p:nvSpPr>
          <p:cNvPr id="15" name="Text 13"/>
          <p:cNvSpPr txBox="1"/>
          <p:nvPr/>
        </p:nvSpPr>
        <p:spPr>
          <a:xfrm>
            <a:off x="59436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43000" y="2980944"/>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Write a program with a local variable in a function and a global variable. Which can main() access? Why?</a:t>
            </a:r>
            <a:endParaRPr lang="en-US" sz="1200" dirty="0"/>
          </a:p>
        </p:txBody>
      </p:sp>
      <p:sp>
        <p:nvSpPr>
          <p:cNvPr id="17" name="Shape 15"/>
          <p:cNvSpPr/>
          <p:nvPr/>
        </p:nvSpPr>
        <p:spPr>
          <a:xfrm>
            <a:off x="457200" y="3831336"/>
            <a:ext cx="4023360" cy="758952"/>
          </a:xfrm>
          <a:prstGeom prst="roundRect">
            <a:avLst>
              <a:gd name="adj" fmla="val 12048"/>
            </a:avLst>
          </a:prstGeom>
          <a:solidFill>
            <a:srgbClr val="EEF2F7"/>
          </a:solidFill>
          <a:ln w="12700">
            <a:solidFill>
              <a:srgbClr val="EEF2F7"/>
            </a:solidFill>
            <a:prstDash val="solid"/>
          </a:ln>
        </p:spPr>
      </p:sp>
      <p:sp>
        <p:nvSpPr>
          <p:cNvPr id="18" name="Shape 16"/>
          <p:cNvSpPr/>
          <p:nvPr/>
        </p:nvSpPr>
        <p:spPr>
          <a:xfrm>
            <a:off x="594360" y="4005072"/>
            <a:ext cx="411480" cy="411480"/>
          </a:xfrm>
          <a:prstGeom prst="ellipse">
            <a:avLst/>
          </a:prstGeom>
          <a:solidFill>
            <a:srgbClr val="2A9D8F"/>
          </a:solidFill>
          <a:ln w="12700">
            <a:solidFill>
              <a:srgbClr val="2A9D8F"/>
            </a:solidFill>
            <a:prstDash val="solid"/>
          </a:ln>
        </p:spPr>
      </p:sp>
      <p:sp>
        <p:nvSpPr>
          <p:cNvPr id="19" name="Text 17"/>
          <p:cNvSpPr txBox="1"/>
          <p:nvPr/>
        </p:nvSpPr>
        <p:spPr>
          <a:xfrm>
            <a:off x="594360" y="40050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143000" y="3831336"/>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Write int* getEven(void) returning the first five even numbers, and print them in main().</a:t>
            </a:r>
            <a:endParaRPr lang="en-US" sz="1200" dirty="0"/>
          </a:p>
        </p:txBody>
      </p:sp>
      <p:sp>
        <p:nvSpPr>
          <p:cNvPr id="21" name="Shape 19"/>
          <p:cNvSpPr/>
          <p:nvPr/>
        </p:nvSpPr>
        <p:spPr>
          <a:xfrm>
            <a:off x="4663440" y="1280160"/>
            <a:ext cx="4023360" cy="758952"/>
          </a:xfrm>
          <a:prstGeom prst="roundRect">
            <a:avLst>
              <a:gd name="adj" fmla="val 12048"/>
            </a:avLst>
          </a:prstGeom>
          <a:solidFill>
            <a:srgbClr val="EEF2F7"/>
          </a:solidFill>
          <a:ln w="12700">
            <a:solidFill>
              <a:srgbClr val="EEF2F7"/>
            </a:solidFill>
            <a:prstDash val="solid"/>
          </a:ln>
        </p:spPr>
      </p:sp>
      <p:sp>
        <p:nvSpPr>
          <p:cNvPr id="22" name="Shape 20"/>
          <p:cNvSpPr/>
          <p:nvPr/>
        </p:nvSpPr>
        <p:spPr>
          <a:xfrm>
            <a:off x="4800600" y="1453896"/>
            <a:ext cx="411480" cy="411480"/>
          </a:xfrm>
          <a:prstGeom prst="ellipse">
            <a:avLst/>
          </a:prstGeom>
          <a:solidFill>
            <a:srgbClr val="2A9D8F"/>
          </a:solidFill>
          <a:ln w="12700">
            <a:solidFill>
              <a:srgbClr val="2A9D8F"/>
            </a:solidFill>
            <a:prstDash val="solid"/>
          </a:ln>
        </p:spPr>
      </p:sp>
      <p:sp>
        <p:nvSpPr>
          <p:cNvPr id="23" name="Text 21"/>
          <p:cNvSpPr txBox="1"/>
          <p:nvPr/>
        </p:nvSpPr>
        <p:spPr>
          <a:xfrm>
            <a:off x="4800600" y="14538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5349240" y="1280160"/>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Write int findMax(int arr[], int n) that returns the largest element.</a:t>
            </a:r>
            <a:endParaRPr lang="en-US" sz="1200" dirty="0"/>
          </a:p>
        </p:txBody>
      </p:sp>
      <p:sp>
        <p:nvSpPr>
          <p:cNvPr id="25" name="Shape 23"/>
          <p:cNvSpPr/>
          <p:nvPr/>
        </p:nvSpPr>
        <p:spPr>
          <a:xfrm>
            <a:off x="4663440" y="2130552"/>
            <a:ext cx="4023360" cy="758952"/>
          </a:xfrm>
          <a:prstGeom prst="roundRect">
            <a:avLst>
              <a:gd name="adj" fmla="val 12048"/>
            </a:avLst>
          </a:prstGeom>
          <a:solidFill>
            <a:srgbClr val="EEF2F7"/>
          </a:solidFill>
          <a:ln w="12700">
            <a:solidFill>
              <a:srgbClr val="EEF2F7"/>
            </a:solidFill>
            <a:prstDash val="solid"/>
          </a:ln>
        </p:spPr>
      </p:sp>
      <p:sp>
        <p:nvSpPr>
          <p:cNvPr id="26" name="Shape 24"/>
          <p:cNvSpPr/>
          <p:nvPr/>
        </p:nvSpPr>
        <p:spPr>
          <a:xfrm>
            <a:off x="4800600" y="2304288"/>
            <a:ext cx="411480" cy="411480"/>
          </a:xfrm>
          <a:prstGeom prst="ellipse">
            <a:avLst/>
          </a:prstGeom>
          <a:solidFill>
            <a:srgbClr val="2A9D8F"/>
          </a:solidFill>
          <a:ln w="12700">
            <a:solidFill>
              <a:srgbClr val="2A9D8F"/>
            </a:solidFill>
            <a:prstDash val="solid"/>
          </a:ln>
        </p:spPr>
      </p:sp>
      <p:sp>
        <p:nvSpPr>
          <p:cNvPr id="27" name="Text 25"/>
          <p:cNvSpPr txBox="1"/>
          <p:nvPr/>
        </p:nvSpPr>
        <p:spPr>
          <a:xfrm>
            <a:off x="4800600" y="23042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txBox="1"/>
          <p:nvPr/>
        </p:nvSpPr>
        <p:spPr>
          <a:xfrm>
            <a:off x="5349240" y="2130552"/>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Write void reverse(int arr[], int n) and print the array before and after calling it.</a:t>
            </a:r>
            <a:endParaRPr lang="en-US" sz="1200" dirty="0"/>
          </a:p>
        </p:txBody>
      </p:sp>
      <p:sp>
        <p:nvSpPr>
          <p:cNvPr id="29" name="Shape 27"/>
          <p:cNvSpPr/>
          <p:nvPr/>
        </p:nvSpPr>
        <p:spPr>
          <a:xfrm>
            <a:off x="4663440" y="2980944"/>
            <a:ext cx="4023360" cy="758952"/>
          </a:xfrm>
          <a:prstGeom prst="roundRect">
            <a:avLst>
              <a:gd name="adj" fmla="val 12048"/>
            </a:avLst>
          </a:prstGeom>
          <a:solidFill>
            <a:srgbClr val="EEF2F7"/>
          </a:solidFill>
          <a:ln w="12700">
            <a:solidFill>
              <a:srgbClr val="EEF2F7"/>
            </a:solidFill>
            <a:prstDash val="solid"/>
          </a:ln>
        </p:spPr>
      </p:sp>
      <p:sp>
        <p:nvSpPr>
          <p:cNvPr id="30" name="Shape 28"/>
          <p:cNvSpPr/>
          <p:nvPr/>
        </p:nvSpPr>
        <p:spPr>
          <a:xfrm>
            <a:off x="4800600" y="3154680"/>
            <a:ext cx="411480" cy="411480"/>
          </a:xfrm>
          <a:prstGeom prst="ellipse">
            <a:avLst/>
          </a:prstGeom>
          <a:solidFill>
            <a:srgbClr val="2A9D8F"/>
          </a:solidFill>
          <a:ln w="12700">
            <a:solidFill>
              <a:srgbClr val="2A9D8F"/>
            </a:solidFill>
            <a:prstDash val="solid"/>
          </a:ln>
        </p:spPr>
      </p:sp>
      <p:sp>
        <p:nvSpPr>
          <p:cNvPr id="31" name="Text 29"/>
          <p:cNvSpPr txBox="1"/>
          <p:nvPr/>
        </p:nvSpPr>
        <p:spPr>
          <a:xfrm>
            <a:off x="4800600" y="3154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2" name="Text 30"/>
          <p:cNvSpPr txBox="1"/>
          <p:nvPr/>
        </p:nvSpPr>
        <p:spPr>
          <a:xfrm>
            <a:off x="5349240" y="2980944"/>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Use a global x and a local count in a function. Print x from two functions; explain why count fails in main().</a:t>
            </a:r>
            <a:endParaRPr lang="en-US" sz="1200" dirty="0"/>
          </a:p>
        </p:txBody>
      </p:sp>
      <p:sp>
        <p:nvSpPr>
          <p:cNvPr id="33" name="Shape 31"/>
          <p:cNvSpPr/>
          <p:nvPr/>
        </p:nvSpPr>
        <p:spPr>
          <a:xfrm>
            <a:off x="4663440" y="3831336"/>
            <a:ext cx="4023360" cy="758952"/>
          </a:xfrm>
          <a:prstGeom prst="roundRect">
            <a:avLst>
              <a:gd name="adj" fmla="val 12048"/>
            </a:avLst>
          </a:prstGeom>
          <a:solidFill>
            <a:srgbClr val="EEF2F7"/>
          </a:solidFill>
          <a:ln w="12700">
            <a:solidFill>
              <a:srgbClr val="EEF2F7"/>
            </a:solidFill>
            <a:prstDash val="solid"/>
          </a:ln>
        </p:spPr>
      </p:sp>
      <p:sp>
        <p:nvSpPr>
          <p:cNvPr id="34" name="Shape 32"/>
          <p:cNvSpPr/>
          <p:nvPr/>
        </p:nvSpPr>
        <p:spPr>
          <a:xfrm>
            <a:off x="4800600" y="4005072"/>
            <a:ext cx="411480" cy="411480"/>
          </a:xfrm>
          <a:prstGeom prst="ellipse">
            <a:avLst/>
          </a:prstGeom>
          <a:solidFill>
            <a:srgbClr val="2A9D8F"/>
          </a:solidFill>
          <a:ln w="12700">
            <a:solidFill>
              <a:srgbClr val="2A9D8F"/>
            </a:solidFill>
            <a:prstDash val="solid"/>
          </a:ln>
        </p:spPr>
      </p:sp>
      <p:sp>
        <p:nvSpPr>
          <p:cNvPr id="35" name="Text 33"/>
          <p:cNvSpPr txBox="1"/>
          <p:nvPr/>
        </p:nvSpPr>
        <p:spPr>
          <a:xfrm>
            <a:off x="4800600" y="40050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6" name="Text 34"/>
          <p:cNvSpPr txBox="1"/>
          <p:nvPr/>
        </p:nvSpPr>
        <p:spPr>
          <a:xfrm>
            <a:off x="5349240" y="3831336"/>
            <a:ext cx="3246120" cy="75895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Write a function that accepts a 3×3 matrix and returns the sum of its diagonal.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in C</dc:title>
  <dc:subject>PptxGenJS Presentation</dc:subject>
  <dc:creator>PptxGenJS</dc:creator>
  <cp:lastModifiedBy>PptxGenJS</cp:lastModifiedBy>
  <cp:revision>1</cp:revision>
  <dcterms:created xsi:type="dcterms:W3CDTF">2026-09-28T07:05:48Z</dcterms:created>
  <dcterms:modified xsi:type="dcterms:W3CDTF">2026-09-28T07:05:48Z</dcterms:modified>
</cp:coreProperties>
</file>