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856A55B-D62D-41E9-A628-316B235F871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idea that C has no string type; strings are character arrays ending in a null character.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0CB98-C830-4155-AE61-A5492035E9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B43645-E248-4F5E-AA22-A0F9A25DA4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Draw this diagram on the board. Ask students how many bytes "World" needs.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CAE1D6-6B98-4847-8A61-F14BA74386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B20263-DBA4-43FE-89E0-2AE65A4BD4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7E506F-1680-4BD0-B8F1-B027932176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Mention that gets() looks simpler but has no size limit and was removed in C11. Never use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BE24F8-E97A-4818-86B1-7C17A48012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6D4372-B0DE-481E-8ADD-A41020EC70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508663-3131-4EB9-B52E-5A9EEB7AE9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D0F795-CC9C-40B4-A2E7-7699A89E46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D5285E-50C1-4BA9-86A6-1E8A31FD7A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Activity: ask students to predict each result before running the program, then draw str1 and str3 including \0 after each call.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DE0551-9E6B-4A4A-BA14-7F5784DB20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950157-6410-4318-93ED-BCA81D2994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0FBFDC-2A6A-480D-A041-EB691F55DB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256B82-42E6-4FA9-AE54-F8AE6CD49A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826BD5-A79D-4E7C-935C-2609C1ADE5D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5D6DC0-A2A4-433E-8E5C-C8CA0EAE2C1F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548640" y="137160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Strings in C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548640" y="25146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ef1f6"/>
                </a:solidFill>
                <a:latin typeface="Calibri"/>
              </a:rPr>
              <a:t>Character arrays, input/output, and common string functions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548640" y="3657600"/>
            <a:ext cx="685440" cy="685440"/>
          </a:xfrm>
          <a:prstGeom prst="rect">
            <a:avLst/>
          </a:prstGeom>
          <a:solidFill>
            <a:srgbClr val="1f2a44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5486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1234440" y="3657600"/>
            <a:ext cx="685440" cy="685440"/>
          </a:xfrm>
          <a:prstGeom prst="rect">
            <a:avLst/>
          </a:prstGeom>
          <a:solidFill>
            <a:srgbClr val="1f2a44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2344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1920240" y="3657600"/>
            <a:ext cx="685440" cy="685440"/>
          </a:xfrm>
          <a:prstGeom prst="rect">
            <a:avLst/>
          </a:prstGeom>
          <a:solidFill>
            <a:srgbClr val="1f2a44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9202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2606040" y="3657600"/>
            <a:ext cx="685440" cy="685440"/>
          </a:xfrm>
          <a:prstGeom prst="rect">
            <a:avLst/>
          </a:prstGeom>
          <a:solidFill>
            <a:srgbClr val="e07a1f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6060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\0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What we will cover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640080" y="1188720"/>
            <a:ext cx="502560" cy="5025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40080" y="118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325880" y="118872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f2a44"/>
                </a:solidFill>
                <a:latin typeface="Calibri"/>
              </a:rPr>
              <a:t>What is a string?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40080" y="2057400"/>
            <a:ext cx="502560" cy="5025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40080" y="2057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325880" y="20574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f2a44"/>
                </a:solidFill>
                <a:latin typeface="Calibri"/>
              </a:rPr>
              <a:t>Declaring character arrays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640080" y="2926080"/>
            <a:ext cx="502560" cy="5025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640080" y="2926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1325880" y="29260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f2a44"/>
                </a:solidFill>
                <a:latin typeface="Calibri"/>
              </a:rPr>
              <a:t>Reading &amp; printing strings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640080" y="3794760"/>
            <a:ext cx="502560" cy="5025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640080" y="3794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1325880" y="379476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f2a44"/>
                </a:solidFill>
                <a:latin typeface="Calibri"/>
              </a:rPr>
              <a:t>Accessing characters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4754880" y="1188720"/>
            <a:ext cx="502560" cy="5025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4754880" y="118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5440680" y="118872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f2a44"/>
                </a:solidFill>
                <a:latin typeface="Calibri"/>
              </a:rPr>
              <a:t>Common string functions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4754880" y="2057400"/>
            <a:ext cx="502560" cy="5025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4754880" y="2057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5440680" y="20574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f2a44"/>
                </a:solidFill>
                <a:latin typeface="Calibri"/>
              </a:rPr>
              <a:t>Common mistakes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4754880" y="2926080"/>
            <a:ext cx="502560" cy="50256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4754880" y="2926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5440680" y="29260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f2a44"/>
                </a:solidFill>
                <a:latin typeface="Calibri"/>
              </a:rPr>
              <a:t>Practice exercises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sldNum" idx="5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738D64-17AF-421B-AB35-E8DE4ECBB639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A string is a character array ending in \0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1554480" y="10972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1554480" y="1417320"/>
            <a:ext cx="1005480" cy="82260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1554480" y="1417320"/>
            <a:ext cx="1005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2560320" y="10972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2560320" y="1417320"/>
            <a:ext cx="1005480" cy="82260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2560320" y="1417320"/>
            <a:ext cx="1005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3566160" y="10972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3566160" y="1417320"/>
            <a:ext cx="1005480" cy="82260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3566160" y="1417320"/>
            <a:ext cx="1005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4572000" y="10972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4572000" y="1417320"/>
            <a:ext cx="1005480" cy="82260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4572000" y="1417320"/>
            <a:ext cx="1005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5577840" y="10972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5577840" y="1417320"/>
            <a:ext cx="1005480" cy="82260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5577840" y="1417320"/>
            <a:ext cx="1005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6583680" y="10972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6583680" y="1417320"/>
            <a:ext cx="1005480" cy="822600"/>
          </a:xfrm>
          <a:prstGeom prst="rect">
            <a:avLst/>
          </a:prstGeom>
          <a:solidFill>
            <a:srgbClr val="e07a1f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6583680" y="1417320"/>
            <a:ext cx="1005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ourier New"/>
                <a:ea typeface="Courier New"/>
              </a:rPr>
              <a:t>\0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1554480" y="2286000"/>
            <a:ext cx="603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6b8c"/>
                </a:solidFill>
                <a:latin typeface="Calibri"/>
              </a:rPr>
              <a:t>"Hello" in memory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1554480" y="2743200"/>
            <a:ext cx="1096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1f2a44"/>
                </a:solidFill>
                <a:latin typeface="Cambria"/>
                <a:ea typeface="Cambria"/>
              </a:rPr>
              <a:t>5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2651760" y="274320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visible characters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4663440" y="2743200"/>
            <a:ext cx="1096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e07a1f"/>
                </a:solidFill>
                <a:latin typeface="Cambria"/>
                <a:ea typeface="Cambria"/>
              </a:rPr>
              <a:t>6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5760720" y="274320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bytes needed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914400" y="3931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7a1f"/>
                </a:solidFill>
                <a:latin typeface="Calibri"/>
              </a:rPr>
              <a:t>Golden rule: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always leave room for the null terminator \0 (ASCII 0). It tells printf and strlen where the string ends.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6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8C9F77-75A9-4CCE-A106-4CED13511B4C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Declaring and initializing character arrays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457200" y="1051560"/>
            <a:ext cx="4937400" cy="3428640"/>
          </a:xfrm>
          <a:prstGeom prst="roundRect">
            <a:avLst>
              <a:gd name="adj" fmla="val 2133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594360" y="1143000"/>
            <a:ext cx="466308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d39b"/>
                </a:solidFill>
                <a:latin typeface="Courier New"/>
                <a:ea typeface="Courier New"/>
              </a:rPr>
              <a:t>// size given; \0 added automatically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s1[6] = "Hello";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d39b"/>
                </a:solidFill>
                <a:latin typeface="Courier New"/>
                <a:ea typeface="Courier New"/>
              </a:rPr>
              <a:t>// compiler calculates size (6)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s2[]  = "Hello";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d39b"/>
                </a:solidFill>
                <a:latin typeface="Courier New"/>
                <a:ea typeface="Courier New"/>
              </a:rPr>
              <a:t>// character by character: add \0 yourself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s3[]  = {'H','e','l','l','o','\0'};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d39b"/>
                </a:solidFill>
                <a:latin typeface="Courier New"/>
                <a:ea typeface="Courier New"/>
              </a:rPr>
              <a:t>// extra space; unused bytes become \0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s4[20] = "Hi";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d39b"/>
                </a:solidFill>
                <a:latin typeface="Courier New"/>
                <a:ea typeface="Courier New"/>
              </a:rPr>
              <a:t>// uninitialized: contains garbage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s5[20];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669280" y="105156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806440" y="11430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Leave room for \0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char s[5] = "Hello"; is not a valid string.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5669280" y="225864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5806440" y="23500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No = after declaring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s5 = "Hello"; fails. Use strcpy(s5, "Hello");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5669280" y="347472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5806440" y="35661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Array vs literal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char a[] can be changed; char *p = "Hi" is read-only.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7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CE2D41-D6BB-4587-A84B-CBE817C12C43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Reading one word with scanf("%s")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457200" y="1051560"/>
            <a:ext cx="4937400" cy="2377080"/>
          </a:xfrm>
          <a:prstGeom prst="roundRect">
            <a:avLst>
              <a:gd name="adj" fmla="val 3077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94360" y="1143000"/>
            <a:ext cx="46630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#include &lt;stdio.h&gt;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int main(void)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name[30];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printf("Enter your first name: ");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scanf("%29s", name);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printf("Hello, %s!\n", name);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return 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57200" y="35661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b6b8c"/>
                </a:solidFill>
                <a:latin typeface="Calibri"/>
              </a:rPr>
              <a:t>Sample run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457200" y="3840480"/>
            <a:ext cx="4937400" cy="68544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594360" y="388620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d39b"/>
                </a:solidFill>
                <a:latin typeface="Courier New"/>
                <a:ea typeface="Courier New"/>
              </a:rPr>
              <a:t>Enter your first name: Ravi Kumar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d39b"/>
                </a:solidFill>
                <a:latin typeface="Courier New"/>
                <a:ea typeface="Courier New"/>
              </a:rPr>
              <a:t>Hello, Ravi!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5669280" y="105156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5806440" y="11430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No &amp; needed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An array name already gives the address of its first element.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5669280" y="2258640"/>
            <a:ext cx="3017160" cy="100548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5806440" y="23500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Width limit %29s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Size minus 1 keeps room for \0 and prevents overflow.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5669280" y="3474720"/>
            <a:ext cx="3017160" cy="105120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5806440" y="356616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Stops at a space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Only "Ravi" is stored: %s reads a single word.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Num" idx="8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077468-CDAC-4DCB-B227-A198DE195956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Reading a string with spaces using fgets()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457200" y="1051560"/>
            <a:ext cx="5120280" cy="2559960"/>
          </a:xfrm>
          <a:prstGeom prst="roundRect">
            <a:avLst>
              <a:gd name="adj" fmla="val 2857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94360" y="1143000"/>
            <a:ext cx="4845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#include &lt;stdio.h&gt;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#include &lt;string.h&gt;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str[100];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int len;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printf("Enter a sentence: ");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fgets(str, sizeof(str), stdin);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len = strlen(str);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if (len &gt; 0 &amp;&amp; str[len - 1] == '\n')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str[len - 1] = '\0';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printf("You entered: %s\n", str);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57200" y="367596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b6b8c"/>
                </a:solidFill>
                <a:latin typeface="Calibri"/>
              </a:rPr>
              <a:t>Sample run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457200" y="3931920"/>
            <a:ext cx="5120280" cy="62136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594360" y="3950280"/>
            <a:ext cx="4845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bd39b"/>
                </a:solidFill>
                <a:latin typeface="Courier New"/>
                <a:ea typeface="Courier New"/>
              </a:rPr>
              <a:t>Enter a sentence: C programming is fun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bd39b"/>
                </a:solidFill>
                <a:latin typeface="Courier New"/>
                <a:ea typeface="Courier New"/>
              </a:rPr>
              <a:t>You entered: C programming is fun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5852160" y="1051560"/>
            <a:ext cx="2834280" cy="2331360"/>
          </a:xfrm>
          <a:prstGeom prst="roundRect">
            <a:avLst>
              <a:gd name="adj" fmla="val 3137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5943600" y="11156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a44"/>
                </a:solidFill>
                <a:latin typeface="Courier New"/>
                <a:ea typeface="Courier New"/>
              </a:rPr>
              <a:t>fgets(str, sizeof(str), stdin)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5989320" y="1508760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Courier New"/>
              </a:rPr>
              <a:t>The array where the line is stored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5989320" y="2121480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sizeof(str)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Courier New"/>
              </a:rPr>
              <a:t>Maximum size (100): reads up to 99 characters, leaving room for '\0'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5989320" y="2734200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stdin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Courier New"/>
              </a:rPr>
              <a:t>Read from the keyboard (standard input)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5852160" y="3520440"/>
            <a:ext cx="2834280" cy="1032840"/>
          </a:xfrm>
          <a:prstGeom prst="roundRect">
            <a:avLst>
              <a:gd name="adj" fmla="val 7080"/>
            </a:avLst>
          </a:prstGeom>
          <a:solidFill>
            <a:srgbClr val="fbe3cf"/>
          </a:solidFill>
          <a:ln w="12700">
            <a:solidFill>
              <a:srgbClr val="fbe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5989320" y="3611880"/>
            <a:ext cx="255996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e07a1f"/>
                </a:solidFill>
                <a:latin typeface="Calibri"/>
              </a:rPr>
              <a:t>Remove the '\n'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fgets keeps the newline, so replace it with \0.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sldNum" idx="9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B19B88-3525-4EF0-AB10-0A92728627A9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Formatting output with printf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9601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b6b8c"/>
                </a:solidFill>
                <a:latin typeface="Courier New"/>
                <a:ea typeface="Courier New"/>
              </a:rPr>
              <a:t>char s[] = "Hello";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57200" y="1463040"/>
            <a:ext cx="3748680" cy="594000"/>
          </a:xfrm>
          <a:prstGeom prst="roundRect">
            <a:avLst>
              <a:gd name="adj" fmla="val 12308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594360" y="146304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printf("[%s]", s);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4343400" y="1645920"/>
            <a:ext cx="4111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4892040" y="1463040"/>
            <a:ext cx="1828440" cy="594000"/>
          </a:xfrm>
          <a:prstGeom prst="roundRect">
            <a:avLst>
              <a:gd name="adj" fmla="val 12308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983480" y="146304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a44"/>
                </a:solidFill>
                <a:latin typeface="Courier New"/>
                <a:ea typeface="Courier New"/>
              </a:rPr>
              <a:t>[Hello]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6903720" y="14630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Normal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457200" y="2240280"/>
            <a:ext cx="3748680" cy="594000"/>
          </a:xfrm>
          <a:prstGeom prst="roundRect">
            <a:avLst>
              <a:gd name="adj" fmla="val 12308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594360" y="22402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printf("[%10s]", s);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4343400" y="2423160"/>
            <a:ext cx="4111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4892040" y="2240280"/>
            <a:ext cx="1828440" cy="594000"/>
          </a:xfrm>
          <a:prstGeom prst="roundRect">
            <a:avLst>
              <a:gd name="adj" fmla="val 12308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4983480" y="224028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a44"/>
                </a:solidFill>
                <a:latin typeface="Courier New"/>
                <a:ea typeface="Courier New"/>
              </a:rPr>
              <a:t>[     Hello]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6903720" y="224028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Right-aligned, width 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457200" y="3017520"/>
            <a:ext cx="3748680" cy="594000"/>
          </a:xfrm>
          <a:prstGeom prst="roundRect">
            <a:avLst>
              <a:gd name="adj" fmla="val 12308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594360" y="30175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printf("[%-10s]", s);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6"/>
          <p:cNvSpPr/>
          <p:nvPr/>
        </p:nvSpPr>
        <p:spPr>
          <a:xfrm>
            <a:off x="4343400" y="3200400"/>
            <a:ext cx="4111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4892040" y="3017520"/>
            <a:ext cx="1828440" cy="594000"/>
          </a:xfrm>
          <a:prstGeom prst="roundRect">
            <a:avLst>
              <a:gd name="adj" fmla="val 12308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4983480" y="301752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a44"/>
                </a:solidFill>
                <a:latin typeface="Courier New"/>
                <a:ea typeface="Courier New"/>
              </a:rPr>
              <a:t>[Hello     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6903720" y="301752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Left-aligned, width 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457200" y="3794760"/>
            <a:ext cx="3748680" cy="594000"/>
          </a:xfrm>
          <a:prstGeom prst="roundRect">
            <a:avLst>
              <a:gd name="adj" fmla="val 12308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594360" y="37947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printf("[%.3s]", s);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2"/>
          <p:cNvSpPr/>
          <p:nvPr/>
        </p:nvSpPr>
        <p:spPr>
          <a:xfrm>
            <a:off x="4343400" y="3977640"/>
            <a:ext cx="4111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7a1f"/>
          </a:solidFill>
          <a:ln w="12700">
            <a:solidFill>
              <a:srgbClr val="e07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4892040" y="3794760"/>
            <a:ext cx="1828440" cy="594000"/>
          </a:xfrm>
          <a:prstGeom prst="roundRect">
            <a:avLst>
              <a:gd name="adj" fmla="val 12308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4"/>
          <p:cNvSpPr/>
          <p:nvPr/>
        </p:nvSpPr>
        <p:spPr>
          <a:xfrm>
            <a:off x="4983480" y="379476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a44"/>
                </a:solidFill>
                <a:latin typeface="Courier New"/>
                <a:ea typeface="Courier New"/>
              </a:rPr>
              <a:t>[Hel]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5"/>
          <p:cNvSpPr/>
          <p:nvPr/>
        </p:nvSpPr>
        <p:spPr>
          <a:xfrm>
            <a:off x="6903720" y="379476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First 3 characters only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sldNum" idx="10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0D361D-3D15-4331-9644-03CDA21BCC0E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Quick summary: printf and scanf for strings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Table 0"/>
          <p:cNvGraphicFramePr/>
          <p:nvPr/>
        </p:nvGraphicFramePr>
        <p:xfrm>
          <a:off x="822960" y="1051560"/>
          <a:ext cx="7497720" cy="314532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</a:tblGrid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scanf("%29s", s)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Read one word (stops at space)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scanf("%99[^\n]", s)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Read a whole line including spaces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scanf(" %99[^\n]", s)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Read a line after a previous input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scanf("%c", &amp;ch)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Read one character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printf("%s", s)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Print a whole string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printf("%c", s[i])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Print one character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0"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printf("%-10s", s)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lIns="109440" rIns="10944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Print left-aligned in width 10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34" name="PlaceHolder 1"/>
          <p:cNvSpPr>
            <a:spLocks noGrp="1"/>
          </p:cNvSpPr>
          <p:nvPr>
            <p:ph type="sldNum" idx="11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94FF4C-6D07-4748-81A4-D3BDC19B8147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Accessing individual characters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9144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914400" y="1417320"/>
            <a:ext cx="914040" cy="73116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9144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P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8288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1828800" y="1417320"/>
            <a:ext cx="914040" cy="73116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18288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27432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2743200" y="1417320"/>
            <a:ext cx="914040" cy="73116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27432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36576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3657600" y="1417320"/>
            <a:ext cx="914040" cy="73116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36576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45720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4572000" y="1417320"/>
            <a:ext cx="914040" cy="73116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45720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54864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7"/>
          <p:cNvSpPr/>
          <p:nvPr/>
        </p:nvSpPr>
        <p:spPr>
          <a:xfrm>
            <a:off x="5486400" y="1417320"/>
            <a:ext cx="914040" cy="73116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54864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64008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6400800" y="1417320"/>
            <a:ext cx="914040" cy="731160"/>
          </a:xfrm>
          <a:prstGeom prst="rect">
            <a:avLst/>
          </a:prstGeom>
          <a:solidFill>
            <a:srgbClr val="eef1f6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64008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f2a44"/>
                </a:solidFill>
                <a:latin typeface="Courier New"/>
                <a:ea typeface="Courier New"/>
              </a:rPr>
              <a:t>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2"/>
          <p:cNvSpPr/>
          <p:nvPr/>
        </p:nvSpPr>
        <p:spPr>
          <a:xfrm>
            <a:off x="7315200" y="10972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b8c"/>
                </a:solidFill>
                <a:latin typeface="Courier New"/>
                <a:ea typeface="Courier New"/>
              </a:rPr>
              <a:t>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3"/>
          <p:cNvSpPr/>
          <p:nvPr/>
        </p:nvSpPr>
        <p:spPr>
          <a:xfrm>
            <a:off x="7315200" y="1417320"/>
            <a:ext cx="914040" cy="731160"/>
          </a:xfrm>
          <a:prstGeom prst="rect">
            <a:avLst/>
          </a:prstGeom>
          <a:solidFill>
            <a:srgbClr val="e07a1f"/>
          </a:solidFill>
          <a:ln w="15875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4"/>
          <p:cNvSpPr/>
          <p:nvPr/>
        </p:nvSpPr>
        <p:spPr>
          <a:xfrm>
            <a:off x="7315200" y="14173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ourier New"/>
                <a:ea typeface="Courier New"/>
              </a:rPr>
              <a:t>\0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5"/>
          <p:cNvSpPr/>
          <p:nvPr/>
        </p:nvSpPr>
        <p:spPr>
          <a:xfrm>
            <a:off x="457200" y="2377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Each character has an index, just like any array. Loop until you reach \0: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6"/>
          <p:cNvSpPr/>
          <p:nvPr/>
        </p:nvSpPr>
        <p:spPr>
          <a:xfrm>
            <a:off x="457200" y="2880360"/>
            <a:ext cx="5486040" cy="1371240"/>
          </a:xfrm>
          <a:prstGeom prst="roundRect">
            <a:avLst>
              <a:gd name="adj" fmla="val 5333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27"/>
          <p:cNvSpPr/>
          <p:nvPr/>
        </p:nvSpPr>
        <p:spPr>
          <a:xfrm>
            <a:off x="594360" y="2971800"/>
            <a:ext cx="5211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word[] = "Program";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for (int i = 0; word[i] != '\0'; i++)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printf("word[%d] = %c\n", i, word[i]);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8"/>
          <p:cNvSpPr/>
          <p:nvPr/>
        </p:nvSpPr>
        <p:spPr>
          <a:xfrm>
            <a:off x="6217920" y="288036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9"/>
          <p:cNvSpPr/>
          <p:nvPr/>
        </p:nvSpPr>
        <p:spPr>
          <a:xfrm>
            <a:off x="6355080" y="2971800"/>
            <a:ext cx="21942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Try 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Change word[0] to 'p' and print the string again.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sldNum" idx="12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CB9BF6-7CB4-4CC6-A0CB-A9634D7DF721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Library functions in &lt;string.h&gt;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7" name="Table 0"/>
          <p:cNvGraphicFramePr/>
          <p:nvPr/>
        </p:nvGraphicFramePr>
        <p:xfrm>
          <a:off x="457200" y="1005840"/>
          <a:ext cx="8229240" cy="312696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2743200"/>
              </a:tblGrid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strlen(s)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Length (not counting \0)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strlen("Hi") →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strcpy(dest, src)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Copy src into dest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strcpy(a, "Hi")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strncpy(dest, src, n)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Copy at most n characters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Safer copy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strcat(dest, src)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Append src to dest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"Hi" + "!" → "Hi!"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strncat(dest, src, n)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Append at most n characters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Safer append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strcmp(a, b)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0 if equal, &lt;0 or &gt;0 otherwise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strcmp("abc","abd") &lt; 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strchr(s, c)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Find a character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Returns pointer or NULL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3474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f2a44"/>
                          </a:solidFill>
                          <a:latin typeface="Courier New"/>
                          <a:ea typeface="Courier New"/>
                        </a:rPr>
                        <a:t>strstr(s, sub)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Find a substring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ourier New"/>
                          <a:ea typeface="Courier New"/>
                        </a:rPr>
                        <a:t>Returns pointer or NULL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ae3"/>
                      </a:solidFill>
                      <a:prstDash val="solid"/>
                    </a:lnL>
                    <a:lnR w="9360">
                      <a:solidFill>
                        <a:srgbClr val="d5dae3"/>
                      </a:solidFill>
                      <a:prstDash val="solid"/>
                    </a:lnR>
                    <a:lnT w="9360">
                      <a:solidFill>
                        <a:srgbClr val="d5dae3"/>
                      </a:solidFill>
                      <a:prstDash val="solid"/>
                    </a:lnT>
                    <a:lnB w="9360">
                      <a:solidFill>
                        <a:srgbClr val="d5da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Text 1"/>
          <p:cNvSpPr/>
          <p:nvPr/>
        </p:nvSpPr>
        <p:spPr>
          <a:xfrm>
            <a:off x="457200" y="43434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a9d8f"/>
                </a:solidFill>
                <a:latin typeface="Courier New"/>
                <a:ea typeface="Courier New"/>
              </a:rPr>
              <a:t>&lt;ctype.h&gt;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urier New"/>
              </a:rPr>
              <a:t>adds toupper(), tolower(), isalpha(), isdigit(), isspace() for single characters.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sldNum" idx="13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A4FAF-6981-4639-A1C9-81755725423A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Demonstration: using string functions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457200" y="1051560"/>
            <a:ext cx="4571640" cy="3474360"/>
          </a:xfrm>
          <a:prstGeom prst="roundRect">
            <a:avLst>
              <a:gd name="adj" fmla="val 2105"/>
            </a:avLst>
          </a:prstGeom>
          <a:solidFill>
            <a:srgbClr val="1f2a44"/>
          </a:solidFill>
          <a:ln w="12700">
            <a:solidFill>
              <a:srgbClr val="1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94360" y="1143000"/>
            <a:ext cx="42973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str1[50] = "Good";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str2[50] = " Morning";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char str3[50];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printf("%d\n", (int)strlen(str1));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strcpy(str3, str1);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strcat(str1, str2);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if (strcmp(str3, "Good") == 0)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printf("Equal\n");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strncpy(str3, "Welcome", 3);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str3[3] = '\0';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strncat(str3, "comeback", 4);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5303520" y="105156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What happens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5303520" y="141732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strlen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6355080" y="141732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urier New"/>
                <a:ea typeface="Courier New"/>
              </a:rPr>
              <a:t>prints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5303520" y="180144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strcpy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6355080" y="180144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urier New"/>
                <a:ea typeface="Courier New"/>
              </a:rPr>
              <a:t>str3 = "Good"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5303520" y="218556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strcat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6355080" y="218556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urier New"/>
                <a:ea typeface="Courier New"/>
              </a:rPr>
              <a:t>str1 = "Good Morning"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5303520" y="256932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strcmp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6355080" y="256932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urier New"/>
                <a:ea typeface="Courier New"/>
              </a:rPr>
              <a:t>prints 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5303520" y="295344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strncpy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6355080" y="295344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urier New"/>
                <a:ea typeface="Courier New"/>
              </a:rPr>
              <a:t>str3 = "Wel"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5303520" y="3337560"/>
            <a:ext cx="1051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a9d8f"/>
                </a:solidFill>
                <a:latin typeface="Courier New"/>
                <a:ea typeface="Courier New"/>
              </a:rPr>
              <a:t>strncat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6355080" y="333756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urier New"/>
                <a:ea typeface="Courier New"/>
              </a:rPr>
              <a:t>str3 = "Welcome"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5303520" y="3794760"/>
            <a:ext cx="3382920" cy="731160"/>
          </a:xfrm>
          <a:prstGeom prst="roundRect">
            <a:avLst>
              <a:gd name="adj" fmla="val 10000"/>
            </a:avLst>
          </a:prstGeom>
          <a:solidFill>
            <a:srgbClr val="fbe3cf"/>
          </a:solidFill>
          <a:ln w="12700">
            <a:solidFill>
              <a:srgbClr val="fbe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5440680" y="38862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c0392b"/>
                </a:solidFill>
                <a:latin typeface="Calibri"/>
              </a:rPr>
              <a:t>Never compare with ==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== compares addresses. Use strcmp.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sldNum" idx="14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A6673D-0D31-48F5-A2D3-879AD7311909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Common mistakes to watch for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"/>
          <p:cNvSpPr/>
          <p:nvPr/>
        </p:nvSpPr>
        <p:spPr>
          <a:xfrm>
            <a:off x="457200" y="105156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594360" y="118872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594360" y="1188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594360" y="164592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No room for \0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char s[5] = "Hello"; is too small.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2560320" y="105156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2697480" y="118872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2697480" y="1188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2697480" y="164592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Missing \0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Manual strings print garbage.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4663440" y="105156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0"/>
          <p:cNvSpPr/>
          <p:nvPr/>
        </p:nvSpPr>
        <p:spPr>
          <a:xfrm>
            <a:off x="4800600" y="118872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4800600" y="1188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4800600" y="164592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Using = to assign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Use strcpy after declaration.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3"/>
          <p:cNvSpPr/>
          <p:nvPr/>
        </p:nvSpPr>
        <p:spPr>
          <a:xfrm>
            <a:off x="6766560" y="105156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4"/>
          <p:cNvSpPr/>
          <p:nvPr/>
        </p:nvSpPr>
        <p:spPr>
          <a:xfrm>
            <a:off x="6903720" y="118872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6903720" y="1188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6903720" y="164592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Using == to compare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Use strcmp to compare contents.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7"/>
          <p:cNvSpPr/>
          <p:nvPr/>
        </p:nvSpPr>
        <p:spPr>
          <a:xfrm>
            <a:off x="457200" y="283464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8"/>
          <p:cNvSpPr/>
          <p:nvPr/>
        </p:nvSpPr>
        <p:spPr>
          <a:xfrm>
            <a:off x="594360" y="297180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594360" y="2971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0"/>
          <p:cNvSpPr/>
          <p:nvPr/>
        </p:nvSpPr>
        <p:spPr>
          <a:xfrm>
            <a:off x="594360" y="342900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Buffer overflow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Prefer strncpy, strncat, %29s.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1"/>
          <p:cNvSpPr/>
          <p:nvPr/>
        </p:nvSpPr>
        <p:spPr>
          <a:xfrm>
            <a:off x="2560320" y="283464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2"/>
          <p:cNvSpPr/>
          <p:nvPr/>
        </p:nvSpPr>
        <p:spPr>
          <a:xfrm>
            <a:off x="2697480" y="297180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2697480" y="2971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2697480" y="342900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Changing a literal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char *p = "Hi"; is read-only.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5"/>
          <p:cNvSpPr/>
          <p:nvPr/>
        </p:nvSpPr>
        <p:spPr>
          <a:xfrm>
            <a:off x="4663440" y="283464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6"/>
          <p:cNvSpPr/>
          <p:nvPr/>
        </p:nvSpPr>
        <p:spPr>
          <a:xfrm>
            <a:off x="4800600" y="297180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4800600" y="2971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8"/>
          <p:cNvSpPr/>
          <p:nvPr/>
        </p:nvSpPr>
        <p:spPr>
          <a:xfrm>
            <a:off x="4800600" y="342900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sizeof vs strlen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sizeof gives array size, not text length.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9"/>
          <p:cNvSpPr/>
          <p:nvPr/>
        </p:nvSpPr>
        <p:spPr>
          <a:xfrm>
            <a:off x="6766560" y="2834640"/>
            <a:ext cx="1919880" cy="159984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30"/>
          <p:cNvSpPr/>
          <p:nvPr/>
        </p:nvSpPr>
        <p:spPr>
          <a:xfrm>
            <a:off x="6903720" y="2971800"/>
            <a:ext cx="365400" cy="365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31"/>
          <p:cNvSpPr/>
          <p:nvPr/>
        </p:nvSpPr>
        <p:spPr>
          <a:xfrm>
            <a:off x="6903720" y="2971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2"/>
          <p:cNvSpPr/>
          <p:nvPr/>
        </p:nvSpPr>
        <p:spPr>
          <a:xfrm>
            <a:off x="6903720" y="3429000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f2a44"/>
                </a:solidFill>
                <a:latin typeface="Calibri"/>
              </a:rPr>
              <a:t>Skipped input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Use " %99[^\n]" after scanf.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sldNum" idx="15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D57D77-F6A8-4F13-9B4A-17CDFAE30DFA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f2a44"/>
                </a:solidFill>
                <a:latin typeface="Cambria"/>
                <a:ea typeface="Cambria"/>
              </a:rPr>
              <a:t>Practice exercises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"/>
          <p:cNvSpPr/>
          <p:nvPr/>
        </p:nvSpPr>
        <p:spPr>
          <a:xfrm>
            <a:off x="457200" y="114300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457200" y="114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1097280" y="105156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Count uppercase, lowercase, digits, and spaces in a sentence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457200" y="201168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457200" y="2011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1097280" y="192024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Remove all spaces from a string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457200" y="288036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57200" y="2880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1097280" y="278892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Check if two strings are anagrams ("listen", "silent")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457200" y="374904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457200" y="3749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1097280" y="365760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Find the frequency of each character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3"/>
          <p:cNvSpPr/>
          <p:nvPr/>
        </p:nvSpPr>
        <p:spPr>
          <a:xfrm>
            <a:off x="4663440" y="114300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4663440" y="114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5303520" y="105156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Find the position of a word inside a sentence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6"/>
          <p:cNvSpPr/>
          <p:nvPr/>
        </p:nvSpPr>
        <p:spPr>
          <a:xfrm>
            <a:off x="4663440" y="201168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4663440" y="2011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5303520" y="192024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Replace every occurrence of one character with another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4663440" y="288036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4663440" y="2880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5303520" y="278892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Capitalize the first letter of every word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2"/>
          <p:cNvSpPr/>
          <p:nvPr/>
        </p:nvSpPr>
        <p:spPr>
          <a:xfrm>
            <a:off x="4663440" y="3657600"/>
            <a:ext cx="4023000" cy="868320"/>
          </a:xfrm>
          <a:prstGeom prst="roundRect">
            <a:avLst>
              <a:gd name="adj" fmla="val 8421"/>
            </a:avLst>
          </a:prstGeom>
          <a:solidFill>
            <a:srgbClr val="fbe3cf"/>
          </a:solidFill>
          <a:ln w="12700">
            <a:solidFill>
              <a:srgbClr val="fbe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4800600" y="3749040"/>
            <a:ext cx="3748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e07a1f"/>
                </a:solidFill>
                <a:latin typeface="Calibri"/>
              </a:rPr>
              <a:t>Challenge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Try solving 2 and 6 using only loops and \0, without &lt;string.h&gt;.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sldNum" idx="16"/>
          </p:nvPr>
        </p:nvSpPr>
        <p:spPr>
          <a:xfrm>
            <a:off x="841248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5b6b8c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C65910-0FDD-413E-8BC7-17E2D0F2B990}" type="slidenum">
              <a:rPr b="0" lang="en-US" sz="1000" spc="-1" strike="noStrike">
                <a:solidFill>
                  <a:srgbClr val="5b6b8c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548640" y="137160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Every string ends with \0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48640" y="25146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ef1f6"/>
                </a:solidFill>
                <a:latin typeface="Calibri"/>
              </a:rPr>
              <a:t>Memory layout → declaration → input/output → traversal → library functions → mistakes → practice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548640" y="3657600"/>
            <a:ext cx="685440" cy="685440"/>
          </a:xfrm>
          <a:prstGeom prst="rect">
            <a:avLst/>
          </a:prstGeom>
          <a:solidFill>
            <a:srgbClr val="1f2a44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486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1234440" y="3657600"/>
            <a:ext cx="685440" cy="685440"/>
          </a:xfrm>
          <a:prstGeom prst="rect">
            <a:avLst/>
          </a:prstGeom>
          <a:solidFill>
            <a:srgbClr val="1f2a44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12344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1920240" y="3657600"/>
            <a:ext cx="685440" cy="685440"/>
          </a:xfrm>
          <a:prstGeom prst="rect">
            <a:avLst/>
          </a:prstGeom>
          <a:solidFill>
            <a:srgbClr val="1f2a44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19202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2606040" y="3657600"/>
            <a:ext cx="685440" cy="685440"/>
          </a:xfrm>
          <a:prstGeom prst="rect">
            <a:avLst/>
          </a:prstGeom>
          <a:solidFill>
            <a:srgbClr val="e07a1f"/>
          </a:solidFill>
          <a:ln w="15875">
            <a:solidFill>
              <a:srgbClr val="ee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2606040" y="36576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\0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2026-10-02T15:01:46Z</dcterms:created>
  <dc:creator>PptxGenJS</dc:creator>
  <dc:description/>
  <dc:language>en-US</dc:language>
  <cp:lastModifiedBy>PptxGenJS</cp:lastModifiedBy>
  <dcterms:modified xsi:type="dcterms:W3CDTF">2026-10-02T15:01:46Z</dcterms:modified>
  <cp:revision>1</cp:revision>
  <dc:subject>PptxGenJS Presentation</dc:subject>
  <dc:title>Strings in 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