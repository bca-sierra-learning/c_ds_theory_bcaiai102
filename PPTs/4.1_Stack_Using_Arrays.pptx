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Today: what a stack is, why we need it, its operations, how to build one with an array, and where stacks are used in real life. Quick revision first: how do we declare an array, and what is its first index?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with the canteen plates. A washed plate goes on top, and someone needing a plate takes from the top. Nobody pulls a plate from the middle. A stack in a program works exactly the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Put in 10, then 20, then 30. 30 is on top, so it comes out first. This reversing behaviour is the whole point of a stack. Ask: what comes out second?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Undo example slowly. The changes are undone in reverse order. That is LIFO, and a stack does it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Always check isFull() before push and isEmpty() before pop or peek. Overflow is like adding a plate when the shelf has no room; underflow is like taking a plate from an empty shelf.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each operation starts with a check. Push checks for full, pop checks for empty. After pop, the item below becomes the new top.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Peek is like reading the label on the top plate without lifting it. Display does not change the stack either.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Reveal the rows one by one if you can, and ask students to predict each result first. In went 10, 20, 30; out came 30, 20, 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bottom of the stack is stack[0]. Why start top at -1? Because the first push does top++ and lands on index 0. Only top and one array slot change on each push. Pop does the reverse: read stack[top], then top--.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After top--, the old value is still in the array, but it is no longer part of the stack; the next push overwrites it. Returning -1 on underflow is a simple classroom choice that assumes -1 is never a real item.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Peek is the same as pop but without top--. isEmpty and isFull simply compare top. Display loops downwards so the top item is printed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full program in the handout combines these functions with this main(). The sample run is shortened; the menu is printed before every choice. Point out that display shows the top item first, and after one pop, 30 is gone.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to name one more example from their phone or computer. Reversing a word or number is another classic use: push each character, then pop them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Answers. 1: Last In, First Out. 2: pop removes and returns the top item; peek only returns it. 3: overflow is pushing onto a full stack, underflow is popping from an empty one. 4: -1 when empty, 4 (MAX - 1) when full. 5: the first push does top++, landing on index 0. Trace: 5 → 5,8 → pop returns 8 → 5,2 → 5,2,7 → peek returns 7 → pop returns 7 → pop returns 2 → pop returns 5 → pop: underflow.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42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27"/>
            <a:ext cx="10566400" cy="4109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27742"/>
            <a:ext cx="10566400" cy="5028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35427"/>
            <a:ext cx="10566400" cy="41097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072658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08A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DATA STRUCTURES IN C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540000"/>
            <a:ext cx="10883392" cy="162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Stack</a:t>
            </a:r>
            <a:endParaRPr lang="en-US" sz="6000" dirty="0"/>
          </a:p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Using Arrays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812800" y="4394200"/>
            <a:ext cx="10883392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BFD0E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push · pop · peek · LIFO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08A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IS A STACK?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3"/>
            <a:ext cx="10883392" cy="1076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stack is a collection where items are added and removed from </a:t>
            </a:r>
            <a:r>
              <a:rPr lang="en-US" sz="3600" b="1" i="0" dirty="0">
                <a:solidFill>
                  <a:srgbClr val="F08A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only one end: the top</a:t>
            </a:r>
            <a:r>
              <a:rPr lang="en-US" sz="36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534885"/>
            <a:ext cx="3386667" cy="1788054"/>
          </a:xfrm>
          <a:prstGeom prst="roundRect">
            <a:avLst>
              <a:gd name="adj" fmla="val 5682"/>
            </a:avLst>
          </a:prstGeom>
          <a:solidFill>
            <a:srgbClr val="1E2B47"/>
          </a:solidFill>
          <a:ln/>
        </p:spPr>
      </p:sp>
      <p:pic>
        <p:nvPicPr>
          <p:cNvPr id="5" name="Image 0" descr="Hom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1400" y="2763485"/>
            <a:ext cx="355600" cy="355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1400" y="3220685"/>
            <a:ext cx="3017351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Canteen plates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1041400" y="3596570"/>
            <a:ext cx="3017351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New plate goes on top; you take from the top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402667" y="2534885"/>
            <a:ext cx="3386667" cy="1788054"/>
          </a:xfrm>
          <a:prstGeom prst="roundRect">
            <a:avLst>
              <a:gd name="adj" fmla="val 5682"/>
            </a:avLst>
          </a:prstGeom>
          <a:solidFill>
            <a:srgbClr val="1E2B47"/>
          </a:solidFill>
          <a:ln/>
        </p:spPr>
      </p:sp>
      <p:pic>
        <p:nvPicPr>
          <p:cNvPr id="9" name="Image 1" descr="Boo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1267" y="2763485"/>
            <a:ext cx="355600" cy="355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31267" y="3220685"/>
            <a:ext cx="3017351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Pile of books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4631267" y="3596570"/>
            <a:ext cx="3017351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You can only lift the book on top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992533" y="2534885"/>
            <a:ext cx="3386667" cy="1788054"/>
          </a:xfrm>
          <a:prstGeom prst="roundRect">
            <a:avLst>
              <a:gd name="adj" fmla="val 5682"/>
            </a:avLst>
          </a:prstGeom>
          <a:solidFill>
            <a:srgbClr val="1E2B47"/>
          </a:solidFill>
          <a:ln/>
        </p:spPr>
      </p:sp>
      <p:pic>
        <p:nvPicPr>
          <p:cNvPr id="13" name="Image 2" descr="User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1133" y="2763485"/>
            <a:ext cx="355600" cy="355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1133" y="3220685"/>
            <a:ext cx="3017351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Stacked chairs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8221133" y="3596570"/>
            <a:ext cx="3017351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last chair stacked is the first one taken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IT DOES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LIFO: Last In, First Out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354320" y="2529505"/>
            <a:ext cx="726916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PUT 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437640" y="2819048"/>
            <a:ext cx="256032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10, 20, 30</a:t>
            </a:r>
            <a:endParaRPr lang="en-US" sz="28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29100" y="2770805"/>
            <a:ext cx="609600" cy="304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035800" y="1935428"/>
            <a:ext cx="0" cy="1975556"/>
          </a:xfrm>
          <a:prstGeom prst="line">
            <a:avLst/>
          </a:prstGeom>
          <a:noFill/>
          <a:ln w="25400">
            <a:solidFill>
              <a:srgbClr val="8C96A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143500" y="3898283"/>
            <a:ext cx="1905000" cy="0"/>
          </a:xfrm>
          <a:prstGeom prst="line">
            <a:avLst/>
          </a:prstGeom>
          <a:noFill/>
          <a:ln w="25400">
            <a:solidFill>
              <a:srgbClr val="8C96A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56200" y="1935428"/>
            <a:ext cx="0" cy="1975556"/>
          </a:xfrm>
          <a:prstGeom prst="line">
            <a:avLst/>
          </a:prstGeom>
          <a:noFill/>
          <a:ln w="25400">
            <a:solidFill>
              <a:srgbClr val="8C96A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02250" y="2043378"/>
            <a:ext cx="1587500" cy="543278"/>
          </a:xfrm>
          <a:prstGeom prst="roundRect">
            <a:avLst>
              <a:gd name="adj" fmla="val 10519"/>
            </a:avLst>
          </a:prstGeom>
          <a:solidFill>
            <a:srgbClr val="DCE8F5"/>
          </a:solidFill>
          <a:ln w="12700">
            <a:solidFill>
              <a:srgbClr val="2F6FB3"/>
            </a:solidFill>
            <a:prstDash val="solid"/>
          </a:ln>
        </p:spPr>
        <p:txBody>
          <a:bodyPr wrap="square" lIns="51700" tIns="77100" rIns="51700" bIns="51700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30 ← top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5299075" y="2646980"/>
            <a:ext cx="1593850" cy="538339"/>
          </a:xfrm>
          <a:prstGeom prst="roundRect">
            <a:avLst>
              <a:gd name="adj" fmla="val 11206"/>
            </a:avLst>
          </a:prstGeom>
          <a:solidFill>
            <a:srgbClr val="FFFDF8"/>
          </a:solidFill>
          <a:ln w="6350">
            <a:solidFill>
              <a:srgbClr val="8C96A3"/>
            </a:solidFill>
            <a:prstDash val="solid"/>
          </a:ln>
        </p:spPr>
        <p:txBody>
          <a:bodyPr wrap="square" lIns="48301" tIns="73701" rIns="48301" bIns="48301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20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5299075" y="3242469"/>
            <a:ext cx="1593850" cy="538339"/>
          </a:xfrm>
          <a:prstGeom prst="roundRect">
            <a:avLst>
              <a:gd name="adj" fmla="val 11206"/>
            </a:avLst>
          </a:prstGeom>
          <a:solidFill>
            <a:srgbClr val="FFFDF8"/>
          </a:solidFill>
          <a:ln w="6350">
            <a:solidFill>
              <a:srgbClr val="8C96A3"/>
            </a:solidFill>
            <a:prstDash val="solid"/>
          </a:ln>
        </p:spPr>
        <p:txBody>
          <a:bodyPr wrap="square" lIns="48301" tIns="73701" rIns="48301" bIns="48301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</a:t>
            </a:r>
            <a:endParaRPr lang="en-US" sz="20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53300" y="2770805"/>
            <a:ext cx="609600" cy="3048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844867" y="2529505"/>
            <a:ext cx="125862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COMES OUT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8194040" y="2819048"/>
            <a:ext cx="2560320" cy="523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850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30, 20, 10</a:t>
            </a:r>
            <a:endParaRPr lang="en-US" sz="2800" dirty="0"/>
          </a:p>
        </p:txBody>
      </p:sp>
      <p:sp>
        <p:nvSpPr>
          <p:cNvPr id="16" name="Text 12"/>
          <p:cNvSpPr/>
          <p:nvPr/>
        </p:nvSpPr>
        <p:spPr>
          <a:xfrm>
            <a:off x="654304" y="4215783"/>
            <a:ext cx="10883392" cy="309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item that goes in </a:t>
            </a: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last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comes out </a:t>
            </a: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first</a:t>
            </a:r>
            <a:r>
              <a:rPr lang="en-US" sz="16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: the order is reversed.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WHY IS IT NEEDED?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Many problems need the newest item first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603"/>
            <a:ext cx="3380317" cy="2351705"/>
          </a:xfrm>
          <a:prstGeom prst="roundRect">
            <a:avLst>
              <a:gd name="adj" fmla="val 4185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044" y="2169672"/>
            <a:ext cx="3005723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47044" y="2662414"/>
            <a:ext cx="300572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Reversing order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47044" y="3038298"/>
            <a:ext cx="3005723" cy="77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Undo, the Back button and reversing a word all need the newest item first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05842" y="1938603"/>
            <a:ext cx="3380317" cy="2351705"/>
          </a:xfrm>
          <a:prstGeom prst="roundRect">
            <a:avLst>
              <a:gd name="adj" fmla="val 4185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6911" y="2169672"/>
            <a:ext cx="3005723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636911" y="2662414"/>
            <a:ext cx="3005723" cy="5739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Remembering the way back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36911" y="3312584"/>
            <a:ext cx="3005723" cy="7720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When a function calls another, the return point is pushed and popped later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995708" y="1938603"/>
            <a:ext cx="3380317" cy="2351705"/>
          </a:xfrm>
          <a:prstGeom prst="roundRect">
            <a:avLst>
              <a:gd name="adj" fmla="val 4185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6778" y="2169672"/>
            <a:ext cx="3005723" cy="4165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6778" y="2662414"/>
            <a:ext cx="3005723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Safe, limited access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26778" y="3038298"/>
            <a:ext cx="3005723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Only the top can change, so mistakes are much less likely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598282"/>
            <a:ext cx="10566400" cy="520700"/>
          </a:xfrm>
          <a:prstGeom prst="roundRect">
            <a:avLst>
              <a:gd name="adj" fmla="val 14634"/>
            </a:avLst>
          </a:prstGeom>
          <a:solidFill>
            <a:srgbClr val="F3E3D6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Example: Undo.</a:t>
            </a:r>
            <a:r>
              <a:rPr lang="en-US" sz="15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Type, then bold, then colour. Undo removes colour first, then bold: newest first.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STACK OPERATIONS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Six operations at a glance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895915"/>
          <a:ext cx="10555111" cy="2692312"/>
        </p:xfrm>
        <a:graphic>
          <a:graphicData uri="http://schemas.openxmlformats.org/drawingml/2006/table">
            <a:tbl>
              <a:tblPr/>
              <a:tblGrid>
                <a:gridCol w="2322124"/>
                <a:gridCol w="4433147"/>
                <a:gridCol w="3799840"/>
              </a:tblGrid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Operation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What it does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Plate analogy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push(x)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Adds x on the top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Place a plate on the pile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pop()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Removes the top item and returns it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Take the top plate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peek()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Returns the top item, without removing it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Look at the top plate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isEmpty()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Checks if there are no items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Is the pile empty?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isFull()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Checks if there is no room left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Is the shelf full?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616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4213D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display()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Shows all items, top to bottom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Look at the whole pile</a:t>
                      </a:r>
                      <a:endParaRPr lang="en-US" sz="14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842228"/>
            <a:ext cx="5181600" cy="502885"/>
          </a:xfrm>
          <a:prstGeom prst="roundRect">
            <a:avLst>
              <a:gd name="adj" fmla="val 15153"/>
            </a:avLst>
          </a:prstGeom>
          <a:solidFill>
            <a:srgbClr val="F3E3D6"/>
          </a:solidFill>
          <a:ln/>
        </p:spPr>
        <p:txBody>
          <a:bodyPr wrap="square" lIns="155482" tIns="104682" rIns="10702" bIns="792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Overflow:</a:t>
            </a:r>
            <a:r>
              <a:rPr lang="en-US" sz="14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push when the stack is full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197600" y="4842228"/>
            <a:ext cx="5181600" cy="502885"/>
          </a:xfrm>
          <a:prstGeom prst="roundRect">
            <a:avLst>
              <a:gd name="adj" fmla="val 15153"/>
            </a:avLst>
          </a:prstGeom>
          <a:solidFill>
            <a:srgbClr val="F3E3D6"/>
          </a:solidFill>
          <a:ln/>
        </p:spPr>
        <p:txBody>
          <a:bodyPr wrap="square" lIns="155482" tIns="104682" rIns="10702" bIns="792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Underflow:</a:t>
            </a:r>
            <a:r>
              <a:rPr lang="en-US" sz="14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pop or peek when it is empty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OPERATIONS EXPLAINED ·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push adds on top; pop removes from top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601"/>
            <a:ext cx="5175250" cy="2208345"/>
          </a:xfrm>
          <a:prstGeom prst="roundRect">
            <a:avLst>
              <a:gd name="adj" fmla="val 4457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2444" y="2195072"/>
            <a:ext cx="4802180" cy="36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2F6FB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push(x)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13764" y="2682742"/>
            <a:ext cx="4753241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2681" indent="-212681">
              <a:lnSpc>
                <a:spcPts val="217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Is the stack full? Yes: </a:t>
            </a:r>
            <a:r>
              <a:rPr lang="en-US" sz="1500" b="1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overflow</a:t>
            </a:r>
            <a:r>
              <a:rPr lang="en-US" sz="15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, stop.</a:t>
            </a:r>
            <a:endParaRPr lang="en-US" sz="1500" dirty="0"/>
          </a:p>
          <a:p>
            <a:pPr algn="l" marL="212681" indent="-212681">
              <a:lnSpc>
                <a:spcPts val="217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No: place x on top. x is the new top.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72444" y="3387592"/>
            <a:ext cx="4662311" cy="502885"/>
          </a:xfrm>
          <a:prstGeom prst="roundRect">
            <a:avLst>
              <a:gd name="adj" fmla="val 15153"/>
            </a:avLst>
          </a:prstGeom>
          <a:solidFill>
            <a:srgbClr val="EFEBE2"/>
          </a:solidFill>
          <a:ln/>
        </p:spPr>
        <p:txBody>
          <a:bodyPr wrap="square" lIns="155482" tIns="104682" rIns="26280" bIns="792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10, 20 → push(30) → 10, 20, </a:t>
            </a:r>
            <a:r>
              <a:rPr lang="en-US" sz="14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00775" y="1938601"/>
            <a:ext cx="5175250" cy="2208345"/>
          </a:xfrm>
          <a:prstGeom prst="roundRect">
            <a:avLst>
              <a:gd name="adj" fmla="val 4457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7245" y="2195072"/>
            <a:ext cx="4802180" cy="3606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B8501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pop()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8564" y="2682742"/>
            <a:ext cx="4753241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12681" indent="-212681">
              <a:lnSpc>
                <a:spcPts val="217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Is the stack empty? Yes: </a:t>
            </a:r>
            <a:r>
              <a:rPr lang="en-US" sz="1500" b="1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underflow</a:t>
            </a:r>
            <a:r>
              <a:rPr lang="en-US" sz="15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, stop.</a:t>
            </a:r>
            <a:endParaRPr lang="en-US" sz="1500" dirty="0"/>
          </a:p>
          <a:p>
            <a:pPr algn="l" marL="212681" indent="-212681">
              <a:lnSpc>
                <a:spcPts val="2175"/>
              </a:lnSpc>
              <a:buSzPct val="100000"/>
              <a:buFontTx/>
              <a:buAutoNum type="arabicPeriod" startAt="1"/>
            </a:pPr>
            <a:r>
              <a:rPr lang="en-US" sz="15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No: take the top item out and return it.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57245" y="3387592"/>
            <a:ext cx="4662311" cy="502885"/>
          </a:xfrm>
          <a:prstGeom prst="roundRect">
            <a:avLst>
              <a:gd name="adj" fmla="val 15153"/>
            </a:avLst>
          </a:prstGeom>
          <a:solidFill>
            <a:srgbClr val="EFEBE2"/>
          </a:solidFill>
          <a:ln/>
        </p:spPr>
        <p:txBody>
          <a:bodyPr wrap="square" lIns="155482" tIns="104682" rIns="26280" bIns="79282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10, 20, 30 → pop() → 10, 20 (returns 30)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4454922"/>
            <a:ext cx="10883392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Stacks are written bottom → top, so the last number is the top.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OPERATIONS EXPLAINED ·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peek, isEmpty, isFull and display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601"/>
            <a:ext cx="5175250" cy="1259593"/>
          </a:xfrm>
          <a:prstGeom prst="roundRect">
            <a:avLst>
              <a:gd name="adj" fmla="val 7814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1644" y="2144272"/>
            <a:ext cx="490682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peek()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21644" y="2494756"/>
            <a:ext cx="4906828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Returns the top item but </a:t>
            </a:r>
            <a:r>
              <a:rPr lang="en-US" sz="1400" b="1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does not remove it</a:t>
            </a:r>
            <a:r>
              <a:rPr lang="en-US" sz="14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 10, 20, 30 → returns 30, stack unchanged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0775" y="1938601"/>
            <a:ext cx="5175250" cy="1259593"/>
          </a:xfrm>
          <a:prstGeom prst="roundRect">
            <a:avLst>
              <a:gd name="adj" fmla="val 7814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6445" y="2144272"/>
            <a:ext cx="490682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display()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6445" y="2494756"/>
            <a:ext cx="4906828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Prints every item from the </a:t>
            </a:r>
            <a:r>
              <a:rPr lang="en-US" sz="1400" b="1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top down</a:t>
            </a:r>
            <a:r>
              <a:rPr lang="en-US" sz="14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. 10, 20, 30 → prints 30 20 10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5975" y="3407745"/>
            <a:ext cx="5175250" cy="1259593"/>
          </a:xfrm>
          <a:prstGeom prst="roundRect">
            <a:avLst>
              <a:gd name="adj" fmla="val 7814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1644" y="3613414"/>
            <a:ext cx="490682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isEmpty()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21644" y="3963901"/>
            <a:ext cx="4906828" cy="523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(true) if there are no items, else 0. Call it before pop and peek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00775" y="3407745"/>
            <a:ext cx="5175250" cy="1259593"/>
          </a:xfrm>
          <a:prstGeom prst="roundRect">
            <a:avLst>
              <a:gd name="adj" fmla="val 7814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6445" y="3613414"/>
            <a:ext cx="4906828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isFull()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6445" y="3963901"/>
            <a:ext cx="490682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 (true) if there is no room left, else 0. Call it before push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2800" y="4975315"/>
            <a:ext cx="10566400" cy="520700"/>
          </a:xfrm>
          <a:prstGeom prst="roundRect">
            <a:avLst>
              <a:gd name="adj" fmla="val 14634"/>
            </a:avLst>
          </a:prstGeom>
          <a:solidFill>
            <a:srgbClr val="F3E3D6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pop vs peek:</a:t>
            </a:r>
            <a:r>
              <a:rPr lang="en-US" sz="15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both give the top item; only pop removes it.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TRACE IT · STACK OF SIZE 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2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Following the operations step by step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1895915"/>
          <a:ext cx="10555111" cy="3579372"/>
        </p:xfrm>
        <a:graphic>
          <a:graphicData uri="http://schemas.openxmlformats.org/drawingml/2006/table">
            <a:tbl>
              <a:tblPr/>
              <a:tblGrid>
                <a:gridCol w="1055511"/>
                <a:gridCol w="2322124"/>
                <a:gridCol w="3166533"/>
                <a:gridCol w="4010942"/>
              </a:tblGrid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E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Step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E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Operation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E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Stack (bottom → top)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E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Result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push(10)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push(20)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10, 20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push(30)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10, 20, 30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4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push(40)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10, 20, 30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8501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Overflow! Stack is full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5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peek()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10, 20, 30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6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pop()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10, 20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30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7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pop()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20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8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pop()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empty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10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9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pop()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empty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B8501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Underflow! Stack is empty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IMPLEMENTATION USING AN ARRAY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An array plus one integer: top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59229"/>
            <a:ext cx="3556000" cy="838200"/>
          </a:xfrm>
          <a:prstGeom prst="roundRect">
            <a:avLst>
              <a:gd name="adj" fmla="val 9091"/>
            </a:avLst>
          </a:prstGeom>
          <a:solidFill>
            <a:srgbClr val="14213D"/>
          </a:solidFill>
          <a:ln/>
        </p:spPr>
        <p:txBody>
          <a:bodyPr wrap="none" lIns="155482" tIns="130082" rIns="59470" bIns="1046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stack[MAX];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top = -1;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4089" y="2810318"/>
          <a:ext cx="3544711" cy="1431749"/>
        </p:xfrm>
        <a:graphic>
          <a:graphicData uri="http://schemas.openxmlformats.org/drawingml/2006/table">
            <a:tbl>
              <a:tblPr/>
              <a:tblGrid>
                <a:gridCol w="1949591"/>
                <a:gridCol w="1595120"/>
              </a:tblGrid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E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Situation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7F5EF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top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Empty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-1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1E3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One item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0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BE2"/>
                    </a:solidFill>
                  </a:tcPr>
                </a:tc>
              </a:tr>
              <a:tr h="357937"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Full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A5C"/>
                          </a:solidFill>
                          <a:latin typeface="Rubik" pitchFamily="34" charset="0"/>
                          <a:ea typeface="Rubik" pitchFamily="34" charset="-122"/>
                          <a:cs typeface="Rubik" pitchFamily="34" charset="-120"/>
                        </a:rPr>
                        <a:t>MAX - 1</a:t>
                      </a:r>
                      <a:endParaRPr lang="en-US" sz="1300" dirty="0">
                        <a:latin typeface="Rubik" charset="0"/>
                        <a:ea typeface="Rubik" charset="0"/>
                        <a:cs typeface="Rubik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5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673600" y="1859229"/>
            <a:ext cx="690676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push(40) on a stack of size 5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193683" y="2260513"/>
            <a:ext cx="239933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[0]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676775" y="2515127"/>
            <a:ext cx="1273792" cy="424039"/>
          </a:xfrm>
          <a:prstGeom prst="roundRect">
            <a:avLst>
              <a:gd name="adj" fmla="val 11231"/>
            </a:avLst>
          </a:prstGeom>
          <a:solidFill>
            <a:srgbClr val="FFFDF8"/>
          </a:solidFill>
          <a:ln w="6350">
            <a:solidFill>
              <a:srgbClr val="8C96A3"/>
            </a:solidFill>
            <a:prstDash val="solid"/>
          </a:ln>
        </p:spPr>
        <p:txBody>
          <a:bodyPr wrap="square" lIns="39321" tIns="64721" rIns="39321" bIns="393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564489" y="2260513"/>
            <a:ext cx="211049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[1]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033117" y="2515127"/>
            <a:ext cx="1273836" cy="424039"/>
          </a:xfrm>
          <a:prstGeom prst="roundRect">
            <a:avLst>
              <a:gd name="adj" fmla="val 11231"/>
            </a:avLst>
          </a:prstGeom>
          <a:solidFill>
            <a:srgbClr val="FFFDF8"/>
          </a:solidFill>
          <a:ln w="6350">
            <a:solidFill>
              <a:srgbClr val="8C96A3"/>
            </a:solidFill>
            <a:prstDash val="solid"/>
          </a:ln>
        </p:spPr>
        <p:txBody>
          <a:bodyPr wrap="square" lIns="39321" tIns="64721" rIns="39321" bIns="393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20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908616" y="2260513"/>
            <a:ext cx="235567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[2]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392679" y="2518302"/>
            <a:ext cx="1267442" cy="428978"/>
          </a:xfrm>
          <a:prstGeom prst="roundRect">
            <a:avLst>
              <a:gd name="adj" fmla="val 10362"/>
            </a:avLst>
          </a:prstGeom>
          <a:solidFill>
            <a:srgbClr val="FFFDF8"/>
          </a:solidFill>
          <a:ln w="12700">
            <a:solidFill>
              <a:srgbClr val="14213D"/>
            </a:solidFill>
            <a:prstDash val="solid"/>
          </a:ln>
        </p:spPr>
        <p:txBody>
          <a:bodyPr wrap="square" lIns="42720" tIns="68120" rIns="42720" bIns="4272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30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659216" y="2991731"/>
            <a:ext cx="73432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↑ top = 2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261872" y="2260513"/>
            <a:ext cx="241785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[3]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745846" y="2515127"/>
            <a:ext cx="1273836" cy="424039"/>
          </a:xfrm>
          <a:prstGeom prst="roundRect">
            <a:avLst>
              <a:gd name="adj" fmla="val 11231"/>
            </a:avLst>
          </a:prstGeom>
          <a:solidFill>
            <a:srgbClr val="FFFDF8"/>
          </a:solidFill>
          <a:ln w="6350">
            <a:solidFill>
              <a:srgbClr val="8C96A3"/>
            </a:solidFill>
            <a:prstDash val="solid"/>
          </a:ln>
        </p:spPr>
        <p:txBody>
          <a:bodyPr wrap="square" lIns="39321" tIns="64721" rIns="39321" bIns="393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C96A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–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620639" y="2260513"/>
            <a:ext cx="23693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[4]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10102233" y="2515127"/>
            <a:ext cx="1273792" cy="424039"/>
          </a:xfrm>
          <a:prstGeom prst="roundRect">
            <a:avLst>
              <a:gd name="adj" fmla="val 11231"/>
            </a:avLst>
          </a:prstGeom>
          <a:solidFill>
            <a:srgbClr val="FFFDF8"/>
          </a:solidFill>
          <a:ln w="6350">
            <a:solidFill>
              <a:srgbClr val="8C96A3"/>
            </a:solidFill>
            <a:prstDash val="solid"/>
          </a:ln>
        </p:spPr>
        <p:txBody>
          <a:bodyPr wrap="square" lIns="39321" tIns="64721" rIns="39321" bIns="393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C96A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–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673600" y="3357476"/>
            <a:ext cx="6906768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Step 1: top++ (2 becomes 3) · Step 2: stack[top] = 40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676775" y="3744162"/>
            <a:ext cx="1273792" cy="424039"/>
          </a:xfrm>
          <a:prstGeom prst="roundRect">
            <a:avLst>
              <a:gd name="adj" fmla="val 11231"/>
            </a:avLst>
          </a:prstGeom>
          <a:solidFill>
            <a:srgbClr val="FFFDF8"/>
          </a:solidFill>
          <a:ln w="6350">
            <a:solidFill>
              <a:srgbClr val="8C96A3"/>
            </a:solidFill>
            <a:prstDash val="solid"/>
          </a:ln>
        </p:spPr>
        <p:txBody>
          <a:bodyPr wrap="square" lIns="39321" tIns="64721" rIns="39321" bIns="393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10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6033117" y="3744162"/>
            <a:ext cx="1273836" cy="424039"/>
          </a:xfrm>
          <a:prstGeom prst="roundRect">
            <a:avLst>
              <a:gd name="adj" fmla="val 11231"/>
            </a:avLst>
          </a:prstGeom>
          <a:solidFill>
            <a:srgbClr val="FFFDF8"/>
          </a:solidFill>
          <a:ln w="6350">
            <a:solidFill>
              <a:srgbClr val="8C96A3"/>
            </a:solidFill>
            <a:prstDash val="solid"/>
          </a:ln>
        </p:spPr>
        <p:txBody>
          <a:bodyPr wrap="square" lIns="39321" tIns="64721" rIns="39321" bIns="393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20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389504" y="3744162"/>
            <a:ext cx="1273792" cy="424039"/>
          </a:xfrm>
          <a:prstGeom prst="roundRect">
            <a:avLst>
              <a:gd name="adj" fmla="val 11231"/>
            </a:avLst>
          </a:prstGeom>
          <a:solidFill>
            <a:srgbClr val="FFFDF8"/>
          </a:solidFill>
          <a:ln w="6350">
            <a:solidFill>
              <a:srgbClr val="8C96A3"/>
            </a:solidFill>
            <a:prstDash val="solid"/>
          </a:ln>
        </p:spPr>
        <p:txBody>
          <a:bodyPr wrap="square" lIns="39321" tIns="64721" rIns="39321" bIns="393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30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8749021" y="3747337"/>
            <a:ext cx="1267486" cy="428978"/>
          </a:xfrm>
          <a:prstGeom prst="roundRect">
            <a:avLst>
              <a:gd name="adj" fmla="val 10362"/>
            </a:avLst>
          </a:prstGeom>
          <a:solidFill>
            <a:srgbClr val="DCE8F5"/>
          </a:solidFill>
          <a:ln w="12700">
            <a:solidFill>
              <a:srgbClr val="2F6FB3"/>
            </a:solidFill>
            <a:prstDash val="solid"/>
          </a:ln>
        </p:spPr>
        <p:txBody>
          <a:bodyPr wrap="square" lIns="42720" tIns="68120" rIns="42720" bIns="4272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40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9014702" y="4220766"/>
            <a:ext cx="736124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2F6FB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↑ top = 3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0102233" y="3744162"/>
            <a:ext cx="1273792" cy="424039"/>
          </a:xfrm>
          <a:prstGeom prst="roundRect">
            <a:avLst>
              <a:gd name="adj" fmla="val 11231"/>
            </a:avLst>
          </a:prstGeom>
          <a:solidFill>
            <a:srgbClr val="FFFDF8"/>
          </a:solidFill>
          <a:ln w="6350">
            <a:solidFill>
              <a:srgbClr val="8C96A3"/>
            </a:solidFill>
            <a:prstDash val="solid"/>
          </a:ln>
        </p:spPr>
        <p:txBody>
          <a:bodyPr wrap="square" lIns="39321" tIns="64721" rIns="39321" bIns="393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8C96A3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–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CODE ·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push and pop in C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29"/>
            <a:ext cx="533704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push:</a:t>
            </a:r>
            <a:r>
              <a:rPr lang="en-US" sz="14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move top up, then store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235113"/>
            <a:ext cx="5181600" cy="2321278"/>
          </a:xfrm>
          <a:prstGeom prst="roundRect">
            <a:avLst>
              <a:gd name="adj" fmla="val 4377"/>
            </a:avLst>
          </a:prstGeom>
          <a:solidFill>
            <a:srgbClr val="14213D"/>
          </a:solidFill>
          <a:ln/>
        </p:spPr>
        <p:txBody>
          <a:bodyPr wrap="none" lIns="173442" tIns="173442" rIns="30186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push(int x)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(top == MAX - 1)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printf("Overflow!\n");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return;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F5A6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top++;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F5A6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stack[top] = x;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197600" y="1884629"/>
            <a:ext cx="5337048" cy="274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pop:</a:t>
            </a:r>
            <a:r>
              <a:rPr lang="en-US" sz="140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read first, then move top down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97600" y="2235113"/>
            <a:ext cx="5181600" cy="2560638"/>
          </a:xfrm>
          <a:prstGeom prst="roundRect">
            <a:avLst>
              <a:gd name="adj" fmla="val 3968"/>
            </a:avLst>
          </a:prstGeom>
          <a:solidFill>
            <a:srgbClr val="14213D"/>
          </a:solidFill>
          <a:ln/>
        </p:spPr>
        <p:txBody>
          <a:bodyPr wrap="none" lIns="173442" tIns="173442" rIns="30186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pop(void)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(top == -1)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printf("Underflow!\n");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return -1;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F5A6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x = stack[top];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F5A6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top--;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x;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2800" y="5049751"/>
            <a:ext cx="10566400" cy="520700"/>
          </a:xfrm>
          <a:prstGeom prst="roundRect">
            <a:avLst>
              <a:gd name="adj" fmla="val 14634"/>
            </a:avLst>
          </a:prstGeom>
          <a:solidFill>
            <a:srgbClr val="14213D"/>
          </a:solidFill>
          <a:ln/>
        </p:spPr>
        <p:txBody>
          <a:bodyPr wrap="square" lIns="155482" tIns="104682" rIns="0" bIns="79282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08A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Memory trick:</a:t>
            </a:r>
            <a:r>
              <a:rPr lang="en-US" sz="150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 push goes up, then stores. Pop reads, then goes down.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CODE ·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peek, isEmpty, isFull and display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4629"/>
            <a:ext cx="4978400" cy="2081918"/>
          </a:xfrm>
          <a:prstGeom prst="roundRect">
            <a:avLst>
              <a:gd name="adj" fmla="val 4880"/>
            </a:avLst>
          </a:prstGeom>
          <a:solidFill>
            <a:srgbClr val="14213D"/>
          </a:solidFill>
          <a:ln/>
        </p:spPr>
        <p:txBody>
          <a:bodyPr wrap="none" lIns="173442" tIns="173442" rIns="36282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peek(void)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(top == -1)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printf("Stack is empty\n");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return -1;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return stack[top];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4118949"/>
            <a:ext cx="4978400" cy="885119"/>
          </a:xfrm>
          <a:prstGeom prst="roundRect">
            <a:avLst>
              <a:gd name="adj" fmla="val 11479"/>
            </a:avLst>
          </a:prstGeom>
          <a:solidFill>
            <a:srgbClr val="14213D"/>
          </a:solidFill>
          <a:ln/>
        </p:spPr>
        <p:txBody>
          <a:bodyPr wrap="none" lIns="173442" tIns="173442" rIns="36282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isEmpty(void) { return top == -1; 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isFull(void)  { return top == MAX - 1; }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94400" y="1884629"/>
            <a:ext cx="5384800" cy="2799997"/>
          </a:xfrm>
          <a:prstGeom prst="roundRect">
            <a:avLst>
              <a:gd name="adj" fmla="val 3629"/>
            </a:avLst>
          </a:prstGeom>
          <a:solidFill>
            <a:srgbClr val="14213D"/>
          </a:solidFill>
          <a:ln/>
        </p:spPr>
        <p:txBody>
          <a:bodyPr wrap="none" lIns="173442" tIns="173442" rIns="24090" bIns="148042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display(void)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(top == -1) {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printf("Stack is empty\n");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return;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8FA3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from top down to 0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for (int i = top; i &gt;= 0; i--)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printf("%d ", stack[i]);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printf("\n");</a:t>
            </a:r>
            <a:endParaRPr lang="en-US" sz="1300" dirty="0"/>
          </a:p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7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200" kern="0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CODE · 3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1154"/>
            <a:ext cx="10883392" cy="469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20"/>
              </a:lnSpc>
              <a:buNone/>
            </a:pPr>
            <a:r>
              <a:rPr lang="en-US" sz="32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 menu-driven main()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48941"/>
            <a:ext cx="6604000" cy="4317295"/>
          </a:xfrm>
          <a:prstGeom prst="roundRect">
            <a:avLst>
              <a:gd name="adj" fmla="val 2353"/>
            </a:avLst>
          </a:prstGeom>
          <a:solidFill>
            <a:srgbClr val="14213D"/>
          </a:solidFill>
          <a:ln/>
        </p:spPr>
        <p:txBody>
          <a:bodyPr wrap="none" lIns="173442" tIns="148042" rIns="0" bIns="122642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#include &lt;stdio.h&gt;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#define MAX 5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stack[MAX], top = -1;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push, pop, peek, isEmpty, isFull, display here */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main(void) {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int ch, val;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while (1) {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printf("1.Push 2.Pop 3.Peek 4.Display 5.Exit: ");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scanf("%d", &amp;ch);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switch (ch) {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case 1: scanf("%d", &amp;val); push(val); break;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case 2: if (!isEmpty()) printf("%d\n", pop());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else pop(); break;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case 3: if (!isEmpty()) printf("%d\n", peek());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else peek(); break;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case 4: display(); break;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case 5: return 0;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}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200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620000" y="1748941"/>
            <a:ext cx="3871976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4A5568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SAMPLE RUN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0000" y="2063880"/>
            <a:ext cx="3759200" cy="2344341"/>
          </a:xfrm>
          <a:prstGeom prst="roundRect">
            <a:avLst>
              <a:gd name="adj" fmla="val 4334"/>
            </a:avLst>
          </a:prstGeom>
          <a:solidFill>
            <a:srgbClr val="E9E5DA"/>
          </a:solidFill>
          <a:ln/>
        </p:spPr>
        <p:txBody>
          <a:bodyPr wrap="none" lIns="148042" tIns="148042" rIns="45934" bIns="122642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Choice: 1 Value: 10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Choice: 1 Value: 20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Choice: 1 Value: 30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Choice: 4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30 20 10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Choice: 2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30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Choice: 4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4213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20 10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B8501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REAL USE CASES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Wherever the newest item comes first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38604"/>
            <a:ext cx="3397250" cy="1523780"/>
          </a:xfrm>
          <a:prstGeom prst="roundRect">
            <a:avLst>
              <a:gd name="adj" fmla="val 6459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5" name="Image 0" descr="Wrench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96244" y="2118872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6244" y="2499872"/>
            <a:ext cx="312781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Undo / Redo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96244" y="2819884"/>
            <a:ext cx="31278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Each change is pushed; Undo pops the latest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397375" y="1938604"/>
            <a:ext cx="3397250" cy="1523780"/>
          </a:xfrm>
          <a:prstGeom prst="roundRect">
            <a:avLst>
              <a:gd name="adj" fmla="val 6459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9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7645" y="2118872"/>
            <a:ext cx="304800" cy="304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7645" y="2499872"/>
            <a:ext cx="312781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Browser Back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577645" y="2819884"/>
            <a:ext cx="31278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Pages are pushed; Back pops to the last one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978775" y="1938604"/>
            <a:ext cx="3397250" cy="1523780"/>
          </a:xfrm>
          <a:prstGeom prst="roundRect">
            <a:avLst>
              <a:gd name="adj" fmla="val 6459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13" name="Image 2" descr="Cod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59045" y="2118872"/>
            <a:ext cx="304800" cy="304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59045" y="2499872"/>
            <a:ext cx="312781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Function calls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159045" y="2819884"/>
            <a:ext cx="31278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The call stack remembers where to return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5975" y="3646531"/>
            <a:ext cx="3397250" cy="1523780"/>
          </a:xfrm>
          <a:prstGeom prst="roundRect">
            <a:avLst>
              <a:gd name="adj" fmla="val 6459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17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6244" y="3826799"/>
            <a:ext cx="304800" cy="3048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96244" y="4207799"/>
            <a:ext cx="312781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Bracket checking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996244" y="4527817"/>
            <a:ext cx="312781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Compilers match ( [ { with ) ] }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397375" y="3646531"/>
            <a:ext cx="3397250" cy="1523780"/>
          </a:xfrm>
          <a:prstGeom prst="roundRect">
            <a:avLst>
              <a:gd name="adj" fmla="val 6459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21" name="Image 4" descr="Chart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577645" y="3826799"/>
            <a:ext cx="304800" cy="3048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77645" y="4207799"/>
            <a:ext cx="312781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Calculators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4577645" y="4527817"/>
            <a:ext cx="3127812" cy="4876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Postfix like 5 3 + 2 * is solved with a stack</a:t>
            </a:r>
            <a:endParaRPr lang="en-US" sz="1300" dirty="0"/>
          </a:p>
        </p:txBody>
      </p:sp>
      <p:sp>
        <p:nvSpPr>
          <p:cNvPr id="24" name="Shape 17"/>
          <p:cNvSpPr/>
          <p:nvPr/>
        </p:nvSpPr>
        <p:spPr>
          <a:xfrm>
            <a:off x="7978775" y="3646531"/>
            <a:ext cx="3397250" cy="1523780"/>
          </a:xfrm>
          <a:prstGeom prst="roundRect">
            <a:avLst>
              <a:gd name="adj" fmla="val 6459"/>
            </a:avLst>
          </a:prstGeom>
          <a:solidFill>
            <a:srgbClr val="FFFDF8"/>
          </a:solidFill>
          <a:ln w="6350">
            <a:solidFill>
              <a:srgbClr val="E2DED3"/>
            </a:solidFill>
            <a:prstDash val="solid"/>
          </a:ln>
        </p:spPr>
      </p:sp>
      <p:pic>
        <p:nvPicPr>
          <p:cNvPr id="25" name="Image 5" descr="Play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59045" y="3826799"/>
            <a:ext cx="304800" cy="30480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59045" y="4207799"/>
            <a:ext cx="3127812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13D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App screens</a:t>
            </a:r>
            <a:endParaRPr lang="en-US" sz="1600" dirty="0"/>
          </a:p>
        </p:txBody>
      </p:sp>
      <p:sp>
        <p:nvSpPr>
          <p:cNvPr id="27" name="Text 19"/>
          <p:cNvSpPr/>
          <p:nvPr/>
        </p:nvSpPr>
        <p:spPr>
          <a:xfrm>
            <a:off x="8159045" y="4527817"/>
            <a:ext cx="312781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A5C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New screen is pushed; Back pops it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200" kern="0" dirty="0">
                <a:solidFill>
                  <a:srgbClr val="F08A4B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PRACTICE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27745"/>
            <a:ext cx="10883392" cy="52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Quick check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39964" y="1935429"/>
            <a:ext cx="6087124" cy="1498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6836" indent="-226836">
              <a:lnSpc>
                <a:spcPts val="232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E6EB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does LIFO stand for?</a:t>
            </a:r>
            <a:endParaRPr lang="en-US" sz="1600" dirty="0"/>
          </a:p>
          <a:p>
            <a:pPr algn="l" marL="226836" indent="-226836">
              <a:lnSpc>
                <a:spcPts val="232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E6EB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is the difference between pop() and peek()?</a:t>
            </a:r>
            <a:endParaRPr lang="en-US" sz="1600" dirty="0"/>
          </a:p>
          <a:p>
            <a:pPr algn="l" marL="226836" indent="-226836">
              <a:lnSpc>
                <a:spcPts val="232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E6EB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What are overflow and underflow?</a:t>
            </a:r>
            <a:endParaRPr lang="en-US" sz="1600" dirty="0"/>
          </a:p>
          <a:p>
            <a:pPr algn="l" marL="226836" indent="-226836">
              <a:lnSpc>
                <a:spcPts val="232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E6EB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Value of top when empty? When a stack of size 5 is full?</a:t>
            </a:r>
            <a:endParaRPr lang="en-US" sz="1600" dirty="0"/>
          </a:p>
          <a:p>
            <a:pPr algn="l" marL="226836" indent="-226836">
              <a:lnSpc>
                <a:spcPts val="2320"/>
              </a:lnSpc>
              <a:buSzPct val="100000"/>
              <a:buFontTx/>
              <a:buAutoNum type="arabicPeriod" startAt="1"/>
            </a:pPr>
            <a:r>
              <a:rPr lang="en-US" sz="1600" dirty="0">
                <a:solidFill>
                  <a:srgbClr val="E6EBF2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Why does top start at -1 and not 0?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067550" y="1941779"/>
            <a:ext cx="4305300" cy="1969426"/>
          </a:xfrm>
          <a:prstGeom prst="roundRect">
            <a:avLst>
              <a:gd name="adj" fmla="val 4836"/>
            </a:avLst>
          </a:prstGeom>
          <a:solidFill>
            <a:srgbClr val="1E2B47"/>
          </a:solidFill>
          <a:ln w="12700">
            <a:solidFill>
              <a:srgbClr val="F08A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01089" y="2175315"/>
            <a:ext cx="3953369" cy="2996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7F5EF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Trace it (size 4)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01089" y="2576599"/>
            <a:ext cx="3953369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E6EB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push(5), push(8), pop(), push(2), push(7), peek(), pop(), pop(), pop(), pop()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01089" y="3446549"/>
            <a:ext cx="3953369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FD0E6"/>
                </a:solidFill>
                <a:latin typeface="Rubik" pitchFamily="34" charset="0"/>
                <a:ea typeface="Rubik" pitchFamily="34" charset="-122"/>
                <a:cs typeface="Rubik" pitchFamily="34" charset="-120"/>
              </a:rPr>
              <a:t>Write the stack and the result after each step.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ack Using Arrays">
  <a:themeElements>
    <a:clrScheme name="Stack Using Arrays">
      <a:dk1>
        <a:srgbClr val="14213D"/>
      </a:dk1>
      <a:lt1>
        <a:srgbClr val="F7F5EF"/>
      </a:lt1>
      <a:dk2>
        <a:srgbClr val="4D566A"/>
      </a:dk2>
      <a:lt2>
        <a:srgbClr val="E0E0DD"/>
      </a:lt2>
      <a:accent1>
        <a:srgbClr val="B8501F"/>
      </a:accent1>
      <a:accent2>
        <a:srgbClr val="F08A4B"/>
      </a:accent2>
      <a:accent3>
        <a:srgbClr val="BFD0E6"/>
      </a:accent3>
      <a:accent4>
        <a:srgbClr val="2F6FB3"/>
      </a:accent4>
      <a:accent5>
        <a:srgbClr val="3D4A5C"/>
      </a:accent5>
      <a:accent6>
        <a:srgbClr val="4A5568"/>
      </a:accent6>
      <a:hlink>
        <a:srgbClr val="0563C1"/>
      </a:hlink>
      <a:folHlink>
        <a:srgbClr val="954F72"/>
      </a:folHlink>
    </a:clrScheme>
    <a:fontScheme name="Stack Using Arrays">
      <a:majorFont>
        <a:latin typeface="Rubi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ubik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Using Arrays</dc:title>
  <dc:subject/>
  <dc:creator/>
  <cp:lastModifiedBy/>
  <cp:revision>1</cp:revision>
  <dcterms:created xsi:type="dcterms:W3CDTF">2026-10-19T09:07:11Z</dcterms:created>
  <dcterms:modified xsi:type="dcterms:W3CDTF">2026-10-19T09:07:11Z</dcterms:modified>
</cp:coreProperties>
</file>