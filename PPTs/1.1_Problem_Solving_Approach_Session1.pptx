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685800"/>
          </a:xfrm>
          <a:prstGeom prst="ellipse">
            <a:avLst/>
          </a:prstGeom>
          <a:solidFill>
            <a:srgbClr val="2C3768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1417320"/>
            <a:ext cx="1828800" cy="685800"/>
          </a:xfrm>
          <a:prstGeom prst="parallelogram">
            <a:avLst/>
          </a:prstGeom>
          <a:solidFill>
            <a:srgbClr val="2C3768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2286000"/>
            <a:ext cx="1554480" cy="914400"/>
          </a:xfrm>
          <a:prstGeom prst="diamond">
            <a:avLst/>
          </a:prstGeom>
          <a:solidFill>
            <a:srgbClr val="2C3768"/>
          </a:solidFill>
          <a:ln/>
        </p:spPr>
      </p:sp>
      <p:sp>
        <p:nvSpPr>
          <p:cNvPr id="5" name="Shape 3"/>
          <p:cNvSpPr/>
          <p:nvPr/>
        </p:nvSpPr>
        <p:spPr>
          <a:xfrm>
            <a:off x="9738360" y="3429000"/>
            <a:ext cx="1645920" cy="640080"/>
          </a:xfrm>
          <a:prstGeom prst="rect">
            <a:avLst/>
          </a:prstGeom>
          <a:solidFill>
            <a:srgbClr val="2C376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Problem-Solving Approach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Understanding a Problem to Pseudocode and Flowcharts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&amp; Data Structures  •  BCA Program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every programmer uses before writing a single line of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carefully, clarify what is really being asked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33832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AF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32054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3205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comes in, what result must come out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97880" y="33832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72200" y="210312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AF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10946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1094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the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small, ordered steps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0" y="33832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61120" y="210312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EAF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838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8983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9828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35661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the logic in words and in pictures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Start Typing Code?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201168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BEDE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Plan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Jump straight into writing C code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4015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Realize halfway through that a case was missed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9684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Debugging feels like guesswork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5354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Logic errors are hard to trace back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51023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More time spent fixing than building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01168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E7F1F4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Plan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834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the problem before coding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34015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Know exactly what goes in, what comes 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39684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Steps are laid out in order, on paper first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45354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Pseudocode / flowchart catches gaps early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55080" y="51023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Coding becomes translation, not invention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Problem-Solving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737360"/>
            <a:ext cx="0" cy="4206240"/>
          </a:xfrm>
          <a:prstGeom prst="line">
            <a:avLst/>
          </a:prstGeom>
          <a:noFill/>
          <a:ln w="25400">
            <a:solidFill>
              <a:srgbClr val="3E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417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5856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21284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Input &amp; Output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09981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998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054096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Problem into Steps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94106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410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895344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Pseudocode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" y="47823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82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73659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Flowchart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8680" y="5623560"/>
            <a:ext cx="640080" cy="640080"/>
          </a:xfrm>
          <a:prstGeom prst="ellipse">
            <a:avLst/>
          </a:prstGeom>
          <a:solidFill>
            <a:srgbClr val="3E4A8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623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5778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C Code  (next session)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Understanding 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anything, ask yourself: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59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being asked?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163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the problem in your own words.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1945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3591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information am I given?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8163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fact/value mentioned in the problem.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05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result is expected?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4622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the final answer should look like.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84048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0050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there special cases or limits?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44622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negative numbers, equal values, zero, empty input.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Identify Input &amp;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E7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331720"/>
            <a:ext cx="1554480" cy="594360"/>
          </a:xfrm>
          <a:prstGeom prst="parallelogram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2331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program receives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values does the user provide, or what does the problem hand us to work with?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numbers entered by a user, values already stated in the problem, items in a list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201168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331720"/>
            <a:ext cx="1554480" cy="594360"/>
          </a:xfrm>
          <a:prstGeom prst="parallelogram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3317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2331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the program produces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31546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program display or return once it finishes processing?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160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the largest number, a total sum, a printed message, a sorted list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Problem Refinement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big problem into small, manageable steps (top-down / stepwise refinement)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EAF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Big, vague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the largest of three numbers"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refine into smaller steps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160520"/>
            <a:ext cx="448056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605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Read the three numbers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453128"/>
            <a:ext cx="448056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53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Compare them with each other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745736"/>
            <a:ext cx="448056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4573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Decide which one is the largest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5038344"/>
            <a:ext cx="448056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5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383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Display the result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0" y="2194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refine?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0" y="269748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 problems are hard to solve in one go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3600" y="326440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 steps are easier to think through and verify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43600" y="3831336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step can later become one or two lines of C code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0" y="4398264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Mistakes are easier to spot in a small step than in a big block of logic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Pseudocode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FCEFC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is a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plain-language, step-by-step description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program logic — written in plain English, 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tied to any programming language's exact syntax.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33172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Pseudocode Keywords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/ 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63240" y="3063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beginning and end of the logic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/ READ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3240" y="3566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value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/ PRINT / DISPLAY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63240" y="4069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result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... ELSE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63240" y="45720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decision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/ FOR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63240" y="5074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 set of steps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5577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/ LET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63240" y="5577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 assign a value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2331720"/>
            <a:ext cx="5577840" cy="3749040"/>
          </a:xfrm>
          <a:prstGeom prst="roundRect">
            <a:avLst>
              <a:gd name="adj" fmla="val 2439"/>
            </a:avLst>
          </a:prstGeom>
          <a:solidFill>
            <a:srgbClr val="EA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Pseudocode Habits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instruction per line, in the exact order they happen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3611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simple, unambiguous English — no clever shortcuts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4160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Indent steps that belong inside an IF or a loop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4709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Number the steps for easy reference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5257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 should read like a recipe anyone could follow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Flowchart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6070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FCEFC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is a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symbol-based diagram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same logic — showing the flow of steps and every 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glance.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37160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423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/ 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2423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where the flow begins and finishes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19272"/>
            <a:ext cx="1371600" cy="640080"/>
          </a:xfrm>
          <a:prstGeom prst="parallelogram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31927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/ Output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33192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value or displaying a result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15384"/>
            <a:ext cx="1371600" cy="640080"/>
          </a:xfrm>
          <a:prstGeom prst="rect">
            <a:avLst/>
          </a:prstGeom>
          <a:solidFill>
            <a:srgbClr val="3E7CA6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421538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421538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calculation or assignment step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111496"/>
            <a:ext cx="1371600" cy="640080"/>
          </a:xfrm>
          <a:prstGeom prst="diamond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511149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511149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 or true/false branch point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7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Apply 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Largest of Three Numbers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8686800" cy="1188720"/>
          </a:xfrm>
          <a:prstGeom prst="roundRect">
            <a:avLst>
              <a:gd name="adj" fmla="val 7692"/>
            </a:avLst>
          </a:prstGeom>
          <a:solidFill>
            <a:srgbClr val="2C376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Given three numbers, determine which one has the greatest value.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Step 1: Understanding 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920240"/>
            <a:ext cx="10972800" cy="4023360"/>
          </a:xfrm>
          <a:prstGeom prst="roundRect">
            <a:avLst>
              <a:gd name="adj" fmla="val 2273"/>
            </a:avLst>
          </a:prstGeom>
          <a:solidFill>
            <a:srgbClr val="EAF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being asked?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80560" y="21945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must find which of three given numbers is the greatest.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9067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am I given?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309067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— let's call them A, B and 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986784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result is expected?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398678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value: the largest among A, B and 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882896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special cases?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8828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(or all three) numbers could be equal — any one of the equal, largest values is a correct answer.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Step 2: Input &amp;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21945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E7F1F4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514600"/>
            <a:ext cx="1737360" cy="594360"/>
          </a:xfrm>
          <a:prstGeom prst="parallelogram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514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337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9319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numeric values entered by the user (integers or decimals)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1945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EAF2F6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514600"/>
            <a:ext cx="1737360" cy="594360"/>
          </a:xfrm>
          <a:prstGeom prst="parallelogram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5146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337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39319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value among A, B, C that is greatest, displayed to the user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Step 3: Refining into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21031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63040" y="205740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AF2F6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057400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three numbers A, B and 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88950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895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463040" y="2843784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AF2F6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2843784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and B — keep the greater one aside as "largest so far"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75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463040" y="363016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A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3630168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that "largest so far" with 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44622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622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463040" y="4416552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AF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4416552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remains greatest is the final answer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2486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463040" y="5202936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A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5202936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largest value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Step 4: Pseudocode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965960"/>
            <a:ext cx="1078992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194560"/>
            <a:ext cx="10149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A, B, C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 &gt; B THEN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LARGEST = A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LARGEST = B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 &gt; LARGEST THEN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 LARGEST = C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LARGEST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D9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Step 5: Flowchart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166360" y="1691640"/>
            <a:ext cx="18288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16636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80760" y="2148840"/>
            <a:ext cx="0" cy="201168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2350008"/>
            <a:ext cx="2377440" cy="457200"/>
          </a:xfrm>
          <a:prstGeom prst="parallelogram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23500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A, B, 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807208"/>
            <a:ext cx="0" cy="201168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3008376"/>
            <a:ext cx="2377440" cy="731520"/>
          </a:xfrm>
          <a:prstGeom prst="diamond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300837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B 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3794760" y="3374136"/>
            <a:ext cx="2103120" cy="68580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3374136"/>
            <a:ext cx="1554480" cy="68580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33924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33924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80360" y="4059936"/>
            <a:ext cx="1828800" cy="457200"/>
          </a:xfrm>
          <a:prstGeom prst="rect">
            <a:avLst/>
          </a:prstGeom>
          <a:solidFill>
            <a:srgbClr val="3E7CA6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40599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= 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4059936"/>
            <a:ext cx="1828800" cy="457200"/>
          </a:xfrm>
          <a:prstGeom prst="rect">
            <a:avLst/>
          </a:prstGeom>
          <a:solidFill>
            <a:srgbClr val="3E7CA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0599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= 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4517136"/>
            <a:ext cx="2286000" cy="27432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6080760" y="4517136"/>
            <a:ext cx="1737360" cy="27432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4791456"/>
            <a:ext cx="2743200" cy="731520"/>
          </a:xfrm>
          <a:prstGeom prst="diamond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479145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&gt; C 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flipV="1">
            <a:off x="3794760" y="5157216"/>
            <a:ext cx="2103120" cy="68580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157216"/>
            <a:ext cx="2103120" cy="68580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51755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51755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5843016"/>
            <a:ext cx="2103120" cy="457200"/>
          </a:xfrm>
          <a:prstGeom prst="rect">
            <a:avLst/>
          </a:prstGeom>
          <a:solidFill>
            <a:srgbClr val="3E7CA6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58430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LARGEST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0" y="5843016"/>
            <a:ext cx="2103120" cy="457200"/>
          </a:xfrm>
          <a:prstGeom prst="rect">
            <a:avLst/>
          </a:prstGeom>
          <a:solidFill>
            <a:srgbClr val="3E7CA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58430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= 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94760" y="6300216"/>
            <a:ext cx="2286000" cy="27432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080760" y="6300216"/>
            <a:ext cx="2286000" cy="27432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6574536"/>
            <a:ext cx="2560320" cy="457200"/>
          </a:xfrm>
          <a:prstGeom prst="parallelogram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657453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LARGEST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7031736"/>
            <a:ext cx="0" cy="182880"/>
          </a:xfrm>
          <a:prstGeom prst="line">
            <a:avLst/>
          </a:prstGeom>
          <a:noFill/>
          <a:ln w="19050">
            <a:solidFill>
              <a:srgbClr val="9AA9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7214616"/>
            <a:ext cx="18288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72146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20574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starts with understanding the problem, not with code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88950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89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84378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identify what data goes in (input) and what result comes out (output)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6758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6301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big problems into small, ordered steps before doing anything else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4622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62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4165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expresses logic in plain words; a flowchart expresses the same logic visually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524865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48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520293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tools for thinking clearly — code is just the final translation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Flowchart to C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take today's pseudocode and flowchart and translate them, line by line, into working C syntax — variables, if-else, and loops.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Assignment: Practice Problems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problem below — identify input &amp; output, refine the steps, then write pseudocode and draw a flowchart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04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30428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Student Grade Calculator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marks (out of 100) are given. Decide their grade: 90+ = A, 75–89 = B, 60–74 = C, 40–59 = D, below 40 = Fail.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304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86600" y="230428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Electricity Bill Calculator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46520" y="28803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household's monthly units consumed are given. Calculate the bill using slab rates: first 100 units at ₹5/unit, next 100 at ₹7/unit, beyond 200 at ₹10/unit.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074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440740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Leap Year Checker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is given. Determine whether it is a leap year (divisible by 4, but centuries only if divisible by 400).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4074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86600" y="440740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Movie Ticket Pricing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46520" y="49834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person's age is given. Decide the ticket price: below 12 = Child rate, 12–59 = Adult rate, 60 and above = Senior Citizen rate.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short write-up per problem with (a) input/output, (b) pseudocode, (c) flowchart.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Approach  |  C &amp; Data Structures  •  Session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2026-07-10T06:48:44Z</dcterms:created>
  <dcterms:modified xsi:type="dcterms:W3CDTF">2026-07-10T06:48:44Z</dcterms:modified>
</cp:coreProperties>
</file>