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we cover what pointers are, how to create and use them, and which arithmetic operations C allows on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Analogy: the house is the variable, the people inside are the value, the house number is the address. A pointer is a slip of paper with the house number on it. Uses: call by reference, arrays and strings, dynamic memory, linked lists.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pointer type must match the variable type. In int *p, q; only p is a pointer. An uninitialized pointer holds garbage, so set it to NULL if no address is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the value of p equals the address of x. On a 64-bit system every pointer is 8 bytes, whatever type it points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confusion: in a declaration (int *p;) the star means "p is a pointer". In an expression (*p = 5;) it means "go to the address in p". Never dereference NULL or an uninitialized pointer.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swap receives addresses, dereferencing inside it changes the original m and n in 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Pointer arithmetic is meaningful mainly inside an array, where elements sit next to each other. Note a[i] is the same as *(a + 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with int a[5] = {10,20,30,40,50}; int *p = a; then p++ gives 20, p + 2 gives 40, and q - p counts elements. Subtraction and comparison only make sense within the same array.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on the board: p starts at a[0]. p++ moves to a[1] (20). p + 2 moves to a[3] (40). p-- moves to a[2] (30). p - 1 moves to a[1] (20). q is at a[4], so q - p = 4 - 1 = 3 elements. p &lt; q is true because a[1] comes before a[4]. Use printf("%d", *p) after each move to show the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give compile errors such as "invalid operands to binary +". Also warn students: comparing pointers from different arrays or dereferencing past the end compiles but is undefined behaviour.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check: if int *p holds 2000, what is p + 5? (2020). Given int a[] = {2,4,6,8}; int *p = a; what is *(p + 2)? (6).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341084"/>
            <a:ext cx="10566400" cy="50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148769"/>
            <a:ext cx="10566400" cy="3896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341084"/>
            <a:ext cx="10566400" cy="50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148769"/>
            <a:ext cx="10566400" cy="3896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61558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59E4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*p = &amp;x;</a:t>
            </a:r>
            <a:endParaRPr lang="en-US" sz="20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771158"/>
            <a:ext cx="10883392" cy="985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1" i="0" dirty="0">
                <a:solidFill>
                  <a:srgbClr val="F7F6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Pointers in C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12800" y="3985242"/>
            <a:ext cx="850265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9D3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Definition · Creating a pointer · Dereferencing · Pointer arithmetic · What is not allowed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B446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 · WHAT IS A POINTER?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41085"/>
            <a:ext cx="10883392" cy="1031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pointer is a variable that stores the memory address of another variable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089" y="2637543"/>
          <a:ext cx="6262511" cy="1313789"/>
        </p:xfrm>
        <a:graphic>
          <a:graphicData uri="http://schemas.openxmlformats.org/drawingml/2006/table">
            <a:tbl>
              <a:tblPr/>
              <a:tblGrid>
                <a:gridCol w="1878753"/>
                <a:gridCol w="2191879"/>
                <a:gridCol w="2191879"/>
              </a:tblGrid>
              <a:tr h="43793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Variable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Address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DF"/>
                    </a:solidFill>
                  </a:tcPr>
                </a:tc>
              </a:tr>
              <a:tr h="43793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int x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1000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793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int *p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1000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9B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2000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9B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D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078332"/>
            <a:ext cx="646201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 holds the address of x, so p </a:t>
            </a:r>
            <a:r>
              <a:rPr lang="en-US" sz="15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points to</a:t>
            </a: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x.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445375" y="2629429"/>
            <a:ext cx="3930650" cy="1658452"/>
          </a:xfrm>
          <a:prstGeom prst="roundRect">
            <a:avLst>
              <a:gd name="adj" fmla="val 5935"/>
            </a:avLst>
          </a:prstGeom>
          <a:solidFill>
            <a:srgbClr val="FFFFFF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01845" y="2885899"/>
            <a:ext cx="3520242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Remember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01845" y="3231312"/>
            <a:ext cx="352024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byte in memory has an address.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&amp;x gives the address of x.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Print addresses with %p.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B446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 · CREATING A POINTER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4108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Declare it, then give it an address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123370"/>
            <a:ext cx="5765800" cy="2458508"/>
          </a:xfrm>
          <a:prstGeom prst="roundRect">
            <a:avLst>
              <a:gd name="adj" fmla="val 4133"/>
            </a:avLst>
          </a:prstGeom>
          <a:solidFill>
            <a:srgbClr val="1E2A47"/>
          </a:solidFill>
          <a:ln/>
        </p:spPr>
        <p:txBody>
          <a:bodyPr wrap="square" lIns="224242" tIns="224242" rIns="66508" bIns="198842" rtlCol="0" anchor="t">
            <a:normAutofit/>
          </a:bodyPr>
          <a:lstStyle/>
          <a:p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9FB3D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/* syntax */</a:t>
            </a:r>
            <a:endParaRPr lang="en-US" sz="1600" dirty="0"/>
          </a:p>
          <a:p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E8ECF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data_type *ptr_name;</a:t>
            </a:r>
            <a:endParaRPr lang="en-US" sz="1600" dirty="0"/>
          </a:p>
          <a:p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E8ECF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ptr_name = &amp;variable;</a:t>
            </a:r>
            <a:endParaRPr lang="en-US" sz="1600" dirty="0"/>
          </a:p>
          <a:p>
            <a:pPr algn="l" indent="0" marL="0">
              <a:lnSpc>
                <a:spcPts val="2560"/>
              </a:lnSpc>
              <a:buNone/>
            </a:pPr>
            <a:endParaRPr lang="en-US" sz="1600" dirty="0"/>
          </a:p>
          <a:p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9FB3D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/* one line */</a:t>
            </a:r>
            <a:endParaRPr lang="en-US" sz="1600" dirty="0"/>
          </a:p>
          <a:p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E8ECF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*p = &amp;x;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005320" y="2123370"/>
            <a:ext cx="449961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ts val="2250"/>
              </a:lnSpc>
              <a:buSzPct val="100000"/>
              <a:buChar char="•"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data_type</a:t>
            </a:r>
            <a:r>
              <a:rPr lang="en-US" sz="15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– type it points to</a:t>
            </a:r>
            <a:endParaRPr lang="en-US" sz="1500" dirty="0"/>
          </a:p>
          <a:p>
            <a:pPr algn="l" marL="182880" indent="-182880">
              <a:lnSpc>
                <a:spcPts val="2250"/>
              </a:lnSpc>
              <a:buSzPct val="100000"/>
              <a:buChar char="•"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*</a:t>
            </a:r>
            <a:r>
              <a:rPr lang="en-US" sz="15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– marks it as a pointer</a:t>
            </a:r>
            <a:endParaRPr lang="en-US" sz="1500" dirty="0"/>
          </a:p>
          <a:p>
            <a:pPr algn="l" marL="182880" indent="-182880">
              <a:lnSpc>
                <a:spcPts val="2250"/>
              </a:lnSpc>
              <a:buSzPct val="100000"/>
              <a:buChar char="•"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ptr_name</a:t>
            </a:r>
            <a:r>
              <a:rPr lang="en-US" sz="15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– any valid name</a:t>
            </a:r>
            <a:endParaRPr lang="en-US" sz="1500" dirty="0"/>
          </a:p>
          <a:p>
            <a:pPr algn="l" marL="182880" indent="-182880">
              <a:lnSpc>
                <a:spcPts val="2250"/>
              </a:lnSpc>
              <a:buSzPct val="100000"/>
              <a:buChar char="•"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&amp;variable</a:t>
            </a:r>
            <a:r>
              <a:rPr lang="en-US" sz="15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– address to store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A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B446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 · EXAMPLE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4108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 holds the address of x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123370"/>
            <a:ext cx="6248400" cy="2574925"/>
          </a:xfrm>
          <a:prstGeom prst="roundRect">
            <a:avLst>
              <a:gd name="adj" fmla="val 3946"/>
            </a:avLst>
          </a:prstGeom>
          <a:solidFill>
            <a:srgbClr val="1E2A47"/>
          </a:solidFill>
          <a:ln/>
        </p:spPr>
        <p:txBody>
          <a:bodyPr wrap="square" lIns="224242" tIns="224242" rIns="52030" bIns="198842" rtlCol="0" anchor="t">
            <a:normAutofit/>
          </a:bodyPr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E8ECF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x = 10;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E8ECF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*p;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E8ECF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 = &amp;x;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E8ECF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printf("%d", x);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E8ECF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printf("%p", &amp;x);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E8ECF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printf("%p", p);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8375" y="2126545"/>
            <a:ext cx="4057650" cy="2343547"/>
          </a:xfrm>
          <a:prstGeom prst="roundRect">
            <a:avLst>
              <a:gd name="adj" fmla="val 4200"/>
            </a:avLst>
          </a:prstGeom>
          <a:solidFill>
            <a:srgbClr val="FFFFFF"/>
          </a:solidFill>
          <a:ln w="6350">
            <a:solidFill>
              <a:srgbClr val="D9D4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74845" y="2383014"/>
            <a:ext cx="3651052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Output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574845" y="2728427"/>
            <a:ext cx="3651052" cy="911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0x7ffd5e8a3b4c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0x7ffd5e8a3b4c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574845" y="3715852"/>
            <a:ext cx="3651052" cy="523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address twice. Addresses differ on every run.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B446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 · DEREFERENCING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41084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*p means "the value at the address in p"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123371"/>
            <a:ext cx="9810750" cy="5943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Dereferencing reads or changes the value a pointer points to, using the * operator. If p = &amp;x, then *p is another name for x.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089" y="2983002"/>
          <a:ext cx="10555111" cy="1313789"/>
        </p:xfrm>
        <a:graphic>
          <a:graphicData uri="http://schemas.openxmlformats.org/drawingml/2006/table">
            <a:tbl>
              <a:tblPr/>
              <a:tblGrid>
                <a:gridCol w="1688818"/>
                <a:gridCol w="2533227"/>
                <a:gridCol w="3799840"/>
                <a:gridCol w="2533227"/>
              </a:tblGrid>
              <a:tr h="43793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Operator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Name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Gives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x = 10, p = &amp;x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DF"/>
                    </a:solidFill>
                  </a:tcPr>
                </a:tc>
              </a:tr>
              <a:tr h="43793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&amp;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Address-of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Address of a variable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&amp;x → 1000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793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*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Dereference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9B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at an address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9B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*p → 10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9B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D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4576189"/>
            <a:ext cx="10883392" cy="309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Syntax: *ptr (read) · *ptr = value; (write)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A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B446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 · EXAMPLES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41084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Changing x through 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123371"/>
            <a:ext cx="5156200" cy="2175360"/>
          </a:xfrm>
          <a:prstGeom prst="roundRect">
            <a:avLst>
              <a:gd name="adj" fmla="val 4670"/>
            </a:avLst>
          </a:prstGeom>
          <a:solidFill>
            <a:srgbClr val="1E2A47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377371"/>
            <a:ext cx="4787646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59E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and write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66800" y="2666913"/>
            <a:ext cx="4787646" cy="1403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E8ECF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x = 10;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E8ECF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*p = &amp;x;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E8ECF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printf("%d", *p); </a:t>
            </a:r>
            <a:r>
              <a:rPr lang="en-US" sz="1400" dirty="0">
                <a:solidFill>
                  <a:srgbClr val="9FB3D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10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E8ECF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*p = 50;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E8ECF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printf("%d", x); </a:t>
            </a:r>
            <a:r>
              <a:rPr lang="en-US" sz="1400" dirty="0">
                <a:solidFill>
                  <a:srgbClr val="9FB3D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50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23000" y="2123371"/>
            <a:ext cx="5156200" cy="2450924"/>
          </a:xfrm>
          <a:prstGeom prst="roundRect">
            <a:avLst>
              <a:gd name="adj" fmla="val 4145"/>
            </a:avLst>
          </a:prstGeom>
          <a:solidFill>
            <a:srgbClr val="1E2A47"/>
          </a:solidFill>
          <a:ln/>
        </p:spPr>
      </p:sp>
      <p:sp>
        <p:nvSpPr>
          <p:cNvPr id="8" name="Text 6"/>
          <p:cNvSpPr/>
          <p:nvPr/>
        </p:nvSpPr>
        <p:spPr>
          <a:xfrm>
            <a:off x="6477000" y="2377371"/>
            <a:ext cx="4787646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59E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Swap (call by reference)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77000" y="2666913"/>
            <a:ext cx="4787646" cy="167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E8ECF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swap(int *a, int *b) {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E8ECF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int t = *a;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E8ECF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*a = *b;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E8ECF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*b = t;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E8ECF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E8ECF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swap(&amp;m, &amp;n);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B446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 · POINTER ARITHMETIC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41084"/>
            <a:ext cx="10883392" cy="1031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pointer moves by the size of its type, not by one byte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626255"/>
            <a:ext cx="10566400" cy="607042"/>
          </a:xfrm>
          <a:prstGeom prst="roundRect">
            <a:avLst>
              <a:gd name="adj" fmla="val 12553"/>
            </a:avLst>
          </a:prstGeom>
          <a:solidFill>
            <a:srgbClr val="FCE8D6"/>
          </a:solidFill>
          <a:ln/>
        </p:spPr>
        <p:txBody>
          <a:bodyPr wrap="square" lIns="180882" tIns="130082" rIns="0" bIns="104682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new address = old address ± n × sizeof(type)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089" y="3523986"/>
          <a:ext cx="10555111" cy="1751718"/>
        </p:xfrm>
        <a:graphic>
          <a:graphicData uri="http://schemas.openxmlformats.org/drawingml/2006/table">
            <a:tbl>
              <a:tblPr/>
              <a:tblGrid>
                <a:gridCol w="2955431"/>
                <a:gridCol w="2533227"/>
                <a:gridCol w="2533227"/>
                <a:gridCol w="2533227"/>
              </a:tblGrid>
              <a:tr h="43793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Pointer (p = 1000)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sizeof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 + 1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 + 3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DF"/>
                    </a:solidFill>
                  </a:tcPr>
                </a:tc>
              </a:tr>
              <a:tr h="43793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char *p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 byte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1001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1003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793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int *p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 bytes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1004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1012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793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double *p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 bytes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1008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1024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A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B446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 · ALLOWED OPERATIONS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41084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you can do with pointers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089" y="2134660"/>
          <a:ext cx="10555111" cy="2692312"/>
        </p:xfrm>
        <a:graphic>
          <a:graphicData uri="http://schemas.openxmlformats.org/drawingml/2006/table">
            <a:tbl>
              <a:tblPr/>
              <a:tblGrid>
                <a:gridCol w="3588738"/>
                <a:gridCol w="3166533"/>
                <a:gridCol w="3799840"/>
              </a:tblGrid>
              <a:tr h="38461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Operation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AE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AE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9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Example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0AE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AE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AE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9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Result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0AE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AE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AE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9D1"/>
                    </a:solidFill>
                  </a:tcPr>
                </a:tc>
              </a:tr>
              <a:tr h="38461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Increment / decrement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AE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p++ p--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AE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Next / previous element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AE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61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Add or subtract an integer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 + n p - 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Move n elements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61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Subtract two pointers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 - p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Elements between them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61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Compare pointers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 &lt; q p == q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Order or equality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61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Assign same type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 = p;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Point to the same place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61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Assign / test NULL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 = NULL;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Points nowhere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B446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 · EXAMPLE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0284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 allowed operations in one program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021768"/>
            <a:ext cx="10566400" cy="3757436"/>
          </a:xfrm>
          <a:prstGeom prst="roundRect">
            <a:avLst>
              <a:gd name="adj" fmla="val 2704"/>
            </a:avLst>
          </a:prstGeom>
          <a:solidFill>
            <a:srgbClr val="1E2A47"/>
          </a:solidFill>
          <a:ln/>
        </p:spPr>
        <p:txBody>
          <a:bodyPr wrap="square" lIns="224242" tIns="173442" rIns="0" bIns="148042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a[5] = {10, 20, 30, 40, 50};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*p = a; </a:t>
            </a:r>
            <a:r>
              <a:rPr lang="en-US" sz="1300" dirty="0">
                <a:solidFill>
                  <a:srgbClr val="9FB3D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p → a[0]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*q = &amp;a[4]; </a:t>
            </a:r>
            <a:r>
              <a:rPr lang="en-US" sz="1300" dirty="0">
                <a:solidFill>
                  <a:srgbClr val="9FB3D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q → a[4]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p++; </a:t>
            </a:r>
            <a:r>
              <a:rPr lang="en-US" sz="1300" dirty="0">
                <a:solidFill>
                  <a:srgbClr val="F59E4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increment *p = 20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 = p + 2; </a:t>
            </a:r>
            <a:r>
              <a:rPr lang="en-US" sz="1300" dirty="0">
                <a:solidFill>
                  <a:srgbClr val="F59E4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add integer *p = 40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p--; </a:t>
            </a:r>
            <a:r>
              <a:rPr lang="en-US" sz="1300" dirty="0">
                <a:solidFill>
                  <a:srgbClr val="F59E4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decrement *p = 30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 = p - 1; </a:t>
            </a:r>
            <a:r>
              <a:rPr lang="en-US" sz="1300" dirty="0">
                <a:solidFill>
                  <a:srgbClr val="F59E4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subtract int *p = 20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printf("%ld", (long)(q - p)); </a:t>
            </a:r>
            <a:r>
              <a:rPr lang="en-US" sz="1300" dirty="0">
                <a:solidFill>
                  <a:srgbClr val="F59E4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pointer − pointer: 3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(p &lt; q) printf("p before q"); </a:t>
            </a:r>
            <a:r>
              <a:rPr lang="en-US" sz="1300" dirty="0">
                <a:solidFill>
                  <a:srgbClr val="F59E4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compare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*r = p; </a:t>
            </a:r>
            <a:r>
              <a:rPr lang="en-US" sz="1300" dirty="0">
                <a:solidFill>
                  <a:srgbClr val="F59E4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assign same type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 = NULL; </a:t>
            </a:r>
            <a:r>
              <a:rPr lang="en-US" sz="1300" dirty="0">
                <a:solidFill>
                  <a:srgbClr val="F59E4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assign NULL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(r == NULL) printf("r is NULL"); </a:t>
            </a:r>
            <a:r>
              <a:rPr lang="en-US" sz="1300" dirty="0">
                <a:solidFill>
                  <a:srgbClr val="F59E4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test NULL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B446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 · NOT ALLOWED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41084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Operations that cannot be performed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089" y="2134657"/>
          <a:ext cx="10555111" cy="3076928"/>
        </p:xfrm>
        <a:graphic>
          <a:graphicData uri="http://schemas.openxmlformats.org/drawingml/2006/table">
            <a:tbl>
              <a:tblPr/>
              <a:tblGrid>
                <a:gridCol w="3588738"/>
                <a:gridCol w="2955431"/>
                <a:gridCol w="4010942"/>
              </a:tblGrid>
              <a:tr h="38461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Operation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Invalid example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Why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DF"/>
                    </a:solidFill>
                  </a:tcPr>
                </a:tc>
              </a:tr>
              <a:tr h="38461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Add two pointers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 + q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Sum of addresses is meaningless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61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Multiply or divide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 * 2 p / q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meaning for addresses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61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Modulus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 % 2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meaning for addresses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61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Bitwise operations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 &amp; q p &lt;&lt; 1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defined on pointers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61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Add a float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 + 2.5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Must move whole elements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61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Arithmetic on void *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vp++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Size of void is unknown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61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Change an array name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a++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Array name is a constant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F59E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RECAP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17284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7F6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Pointers may only move, measure and compare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275768"/>
            <a:ext cx="5156200" cy="2072614"/>
          </a:xfrm>
          <a:prstGeom prst="roundRect">
            <a:avLst>
              <a:gd name="adj" fmla="val 4902"/>
            </a:avLst>
          </a:prstGeom>
          <a:solidFill>
            <a:srgbClr val="22315A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529768"/>
            <a:ext cx="4787646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59E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Allowed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66800" y="2875186"/>
            <a:ext cx="4787646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8ECF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p++ p-- p + n p - n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8ECF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q - p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8ECF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 &lt; q p == q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8ECF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q = p; p = NULL;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23000" y="2275768"/>
            <a:ext cx="5156200" cy="2072614"/>
          </a:xfrm>
          <a:prstGeom prst="roundRect">
            <a:avLst>
              <a:gd name="adj" fmla="val 4902"/>
            </a:avLst>
          </a:prstGeom>
          <a:solidFill>
            <a:srgbClr val="22315A"/>
          </a:solidFill>
          <a:ln/>
        </p:spPr>
      </p:sp>
      <p:sp>
        <p:nvSpPr>
          <p:cNvPr id="8" name="Text 6"/>
          <p:cNvSpPr/>
          <p:nvPr/>
        </p:nvSpPr>
        <p:spPr>
          <a:xfrm>
            <a:off x="6477000" y="2529768"/>
            <a:ext cx="4787646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59E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allowed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77000" y="2875186"/>
            <a:ext cx="4787646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8ECF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 + q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8ECF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 * q p / q p % 2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8ECF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 &amp; q p + 2.5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8ECF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vp++ a++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inters in C">
  <a:themeElements>
    <a:clrScheme name="Pointers in C">
      <a:dk1>
        <a:srgbClr val="14213D"/>
      </a:dk1>
      <a:lt1>
        <a:srgbClr val="F7F6F1"/>
      </a:lt1>
      <a:dk2>
        <a:srgbClr val="4D566A"/>
      </a:dk2>
      <a:lt2>
        <a:srgbClr val="E0E1DF"/>
      </a:lt2>
      <a:accent1>
        <a:srgbClr val="B4460F"/>
      </a:accent1>
      <a:accent2>
        <a:srgbClr val="F59E4C"/>
      </a:accent2>
      <a:accent3>
        <a:srgbClr val="22315A"/>
      </a:accent3>
      <a:accent4>
        <a:srgbClr val="4A5568"/>
      </a:accent4>
      <a:accent5>
        <a:srgbClr val="FCE8D6"/>
      </a:accent5>
      <a:accent6>
        <a:srgbClr val="C9D3E6"/>
      </a:accent6>
      <a:hlink>
        <a:srgbClr val="0563C1"/>
      </a:hlink>
      <a:folHlink>
        <a:srgbClr val="954F72"/>
      </a:folHlink>
    </a:clrScheme>
    <a:fontScheme name="Pointers in C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Pointers in C</dc:title>
  <dc:subject/>
  <dc:creator/>
  <cp:lastModifiedBy/>
  <cp:revision>1</cp:revision>
  <dcterms:created xsi:type="dcterms:W3CDTF">2026-10-10T13:21:28Z</dcterms:created>
  <dcterms:modified xsi:type="dcterms:W3CDTF">2026-10-10T13:21:28Z</dcterms:modified>
</cp:coreProperties>
</file>