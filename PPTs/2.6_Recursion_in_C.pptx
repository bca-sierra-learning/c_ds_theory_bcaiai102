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Today: what recursion is, its two essential parts, and two worked examples: factorial and printing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out the queue analogy with 4 students. The front person is the base case; the answer travelling back is the recursive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recursive function follows this shape. Ask students to point out the two parts in each example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checklist works for every recursion problem. Use it again for the printing example and the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how closely the code matches the mathematical definition. That's the beauty of recursion.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left column top to bottom (winding), then the right column bottom to top (unwinding). The final answer 24 appears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this stack on the board: boxes pile up as calls are made, then disappear one by one as each call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predict the output of printUp before running it. Most will guess 5 4 3 2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694944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Recursion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2C14E"/>
                </a:solidFill>
                <a:latin typeface="Calibri"/>
              </a:rPr>
              <a:t>Base case, recursive step and recursive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429000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f(3)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776472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f(2)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123944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f(1)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4471416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f(0)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What Is Recursion?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023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A recursive function is a function that calls itself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It solves a big problem by solving a smaller version of the same problem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1B2430"/>
                </a:solidFill>
                <a:latin typeface="Calibri"/>
              </a:rPr>
              <a:t>It keeps shrinking the problem until the answer is obvious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137160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Analogy: your position in a queue</a:t>
            </a:r>
          </a:p>
        </p:txBody>
      </p:sp>
      <p:sp>
        <p:nvSpPr>
          <p:cNvPr id="7" name="Oval 6"/>
          <p:cNvSpPr/>
          <p:nvPr/>
        </p:nvSpPr>
        <p:spPr>
          <a:xfrm>
            <a:off x="5074920" y="1965960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560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C7A89"/>
                </a:solidFill>
                <a:latin typeface="Calibri"/>
              </a:rPr>
              <a:t>Front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965960"/>
            <a:ext cx="548640" cy="548640"/>
          </a:xfrm>
          <a:prstGeom prst="ellipse">
            <a:avLst/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560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6812279" y="1965960"/>
            <a:ext cx="548640" cy="548640"/>
          </a:xfrm>
          <a:prstGeom prst="ellipse">
            <a:avLst/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60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7680959" y="1965960"/>
            <a:ext cx="548640" cy="548640"/>
          </a:xfrm>
          <a:prstGeom prst="ellipse">
            <a:avLst/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560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C7A89"/>
                </a:solidFill>
                <a:latin typeface="Calibri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92608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Ask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the person in front: "What's your position?"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Front person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already knows: 1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Answers travel back,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each person adding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The Two Essential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280160"/>
            <a:ext cx="228600" cy="2286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16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E8B57"/>
                </a:solidFill>
                <a:latin typeface="Cambria"/>
              </a:rPr>
              <a:t>Base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The condition where the function stops calling itself and returns an answer directly. Without it, the function never stops.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1280160"/>
            <a:ext cx="228600" cy="22860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216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07A1F"/>
                </a:solidFill>
                <a:latin typeface="Cambria"/>
              </a:rPr>
              <a:t>Recursive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The function calls itself with a smaller input, moving one step closer to the base case each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8229600" cy="173736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786384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returnType function(parameters) {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    if (base condition)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        return simple answer;                  </a:t>
            </a:r>
            <a:r>
              <a:rPr sz="1400" b="0" i="0">
                <a:solidFill>
                  <a:srgbClr val="F2C14E"/>
                </a:solidFill>
                <a:latin typeface="Courier New"/>
              </a:rPr>
              <a:t>/* base case */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    return ... function(smaller input) ...;    </a:t>
            </a:r>
            <a:r>
              <a:rPr sz="1400" b="0" i="0">
                <a:solidFill>
                  <a:srgbClr val="F2C14E"/>
                </a:solidFill>
                <a:latin typeface="Courier New"/>
              </a:rPr>
              <a:t>/* recursive step */</a:t>
            </a:r>
          </a:p>
          <a:p>
            <a:pPr algn="l"/>
            <a:r>
              <a:rPr sz="1400" b="0" i="0">
                <a:solidFill>
                  <a:srgbClr val="E8EEF2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Three Questions Before You Write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0515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7A89"/>
                </a:solidFill>
                <a:latin typeface="Calibri"/>
              </a:rPr>
              <a:t>For factorial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417320"/>
            <a:ext cx="4206240" cy="8229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527048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430"/>
                </a:solidFill>
                <a:latin typeface="Calibri"/>
              </a:rPr>
              <a:t>What is the smallest input I already know the answer to?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1732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527048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2C14E"/>
                </a:solidFill>
                <a:latin typeface="Courier New"/>
              </a:rPr>
              <a:t>0! = 1  →  base case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468880"/>
            <a:ext cx="4206240" cy="8229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578608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430"/>
                </a:solidFill>
                <a:latin typeface="Calibri"/>
              </a:rPr>
              <a:t>How can I make the problem one step smaller?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46888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578608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2C14E"/>
                </a:solidFill>
                <a:latin typeface="Courier New"/>
              </a:rPr>
              <a:t>n  →  n - 1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520439"/>
            <a:ext cx="4206240" cy="8229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630168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430"/>
                </a:solidFill>
                <a:latin typeface="Calibri"/>
              </a:rPr>
              <a:t>How do I combine the smaller answer?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520439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630168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2C14E"/>
                </a:solidFill>
                <a:latin typeface="Courier New"/>
              </a:rPr>
              <a:t>n × factorial(n - 1)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Example 1: Factorial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C7A89"/>
                </a:solidFill>
                <a:latin typeface="Calibri"/>
              </a:rPr>
              <a:t>The maths is already recursive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07A1F"/>
                </a:solidFill>
                <a:latin typeface="Cambria"/>
              </a:rPr>
              <a:t>n! = n × (n−1)!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8B57"/>
                </a:solidFill>
                <a:latin typeface="Cambria"/>
              </a:rPr>
              <a:t>0! =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29000"/>
            <a:ext cx="3200400" cy="114300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C14E"/>
                </a:solidFill>
                <a:latin typeface="Calibri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8EEF2"/>
                </a:solidFill>
                <a:latin typeface="Courier New"/>
              </a:rPr>
              <a:t>5! = 120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097280"/>
            <a:ext cx="4754880" cy="347472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234439"/>
            <a:ext cx="43891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#include &lt;stdio.h&gt;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int factorial(int n) {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2C14E"/>
                </a:solidFill>
                <a:latin typeface="Courier New"/>
              </a:rPr>
              <a:t>/* base case */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   if (n == 0)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       return 1;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2C14E"/>
                </a:solidFill>
                <a:latin typeface="Courier New"/>
              </a:rPr>
              <a:t>/* recursive step */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   return n * factorial(n - 1);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}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int main(void) {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   int n = 5;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   printf("%d! = %d\n", n, factorial(n));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    return 0;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Tracing factorial(4)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7A1F"/>
                </a:solidFill>
                <a:latin typeface="Calibri"/>
              </a:rPr>
              <a:t>↓  Winding: calls go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0515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Calibri"/>
              </a:rPr>
              <a:t>↑  Unwinding: results come 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ourier New"/>
              </a:rPr>
              <a:t>factorial(4)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needs 4 × factorial(3)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417320"/>
            <a:ext cx="3749039" cy="502920"/>
          </a:xfrm>
          <a:prstGeom prst="roundRect">
            <a:avLst>
              <a:gd name="adj" fmla="val 5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52704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returns 4 × 6 =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57400"/>
            <a:ext cx="3794759" cy="502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67128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ourier New"/>
              </a:rPr>
              <a:t>factorial(3)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needs 3 × factorial(2)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057400"/>
            <a:ext cx="3749039" cy="502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6712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returns 3 × 2 =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97480"/>
            <a:ext cx="3657600" cy="502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07208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ourier New"/>
              </a:rPr>
              <a:t>factorial(2)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needs 2 × factorial(1)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2697480"/>
            <a:ext cx="3749039" cy="502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80720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returns 2 × 1 =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337559"/>
            <a:ext cx="3520439" cy="502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47287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430"/>
                </a:solidFill>
                <a:latin typeface="Courier New"/>
              </a:rPr>
              <a:t>factorial(1)  </a:t>
            </a:r>
            <a:r>
              <a:rPr sz="1400" b="0" i="0">
                <a:solidFill>
                  <a:srgbClr val="6C7A89"/>
                </a:solidFill>
                <a:latin typeface="Calibri"/>
              </a:rPr>
              <a:t>needs 1 × factorial(0)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337559"/>
            <a:ext cx="3749039" cy="502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447287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returns 1 × 1 =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3977639"/>
            <a:ext cx="3383279" cy="50292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19" y="40873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factorial(0)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base case reached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977639"/>
            <a:ext cx="3749039" cy="5029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408736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returns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The Call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291840" cy="457200"/>
          </a:xfrm>
          <a:prstGeom prst="rect">
            <a:avLst/>
          </a:prstGeom>
          <a:solidFill>
            <a:srgbClr val="2F4157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main()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47872"/>
            <a:ext cx="329184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factorial(4)   n =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80944"/>
            <a:ext cx="329184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factorial(3)   n =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14016"/>
            <a:ext cx="329184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factorial(2)   n = 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291840" cy="457200"/>
          </a:xfrm>
          <a:prstGeom prst="rect">
            <a:avLst/>
          </a:prstGeom>
          <a:solidFill>
            <a:srgbClr val="EEF2F5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factorial(1)   n = 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329184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F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factorial(0)   n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0759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libri"/>
              </a:rPr>
              <a:t>← base case (top of stack)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09728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0700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Calibri"/>
              </a:rPr>
              <a:t>Own copy of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Every call gets its own frame, so factorial(3) still remembers n =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28600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957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7A1F"/>
                </a:solidFill>
                <a:latin typeface="Calibri"/>
              </a:rPr>
              <a:t>Grows, then shrinks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974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Frames are added while winding and removed while unwinding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4747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5844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Watch the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862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int overflows after 12!; use long long (up to 20!)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430"/>
                </a:solidFill>
                <a:latin typeface="Cambria"/>
              </a:rPr>
              <a:t>Example 2: Print Before vs After the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977639" cy="178308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void printDown(int n) {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if (n == 0)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return;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printf("%d ", n);   </a:t>
            </a:r>
            <a:r>
              <a:rPr sz="1300" b="0" i="0">
                <a:solidFill>
                  <a:srgbClr val="F2C14E"/>
                </a:solidFill>
                <a:latin typeface="Courier New"/>
              </a:rPr>
              <a:t>/* BEFORE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printDown(n - 1);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3977639" cy="6858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7A1F"/>
                </a:solidFill>
                <a:latin typeface="Calibri"/>
              </a:rPr>
              <a:t>Output:  </a:t>
            </a:r>
            <a:r>
              <a:rPr sz="1800" b="0" i="0">
                <a:solidFill>
                  <a:srgbClr val="1B2430"/>
                </a:solidFill>
                <a:latin typeface="Courier New"/>
              </a:rPr>
              <a:t>5 4 3 2 1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097280"/>
            <a:ext cx="3977639" cy="178308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39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void printUp(int n) {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if (n == 0)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    return;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printUp(n - 1);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    printf("%d ", n);   </a:t>
            </a:r>
            <a:r>
              <a:rPr sz="1300" b="0" i="0">
                <a:solidFill>
                  <a:srgbClr val="F2C14E"/>
                </a:solidFill>
                <a:latin typeface="Courier New"/>
              </a:rPr>
              <a:t>/* AFTER */</a:t>
            </a:r>
          </a:p>
          <a:p>
            <a:pPr algn="l"/>
            <a:r>
              <a:rPr sz="1300" b="0" i="0">
                <a:solidFill>
                  <a:srgbClr val="E8EEF2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3017520"/>
            <a:ext cx="3977639" cy="6858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15468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Output:  </a:t>
            </a:r>
            <a:r>
              <a:rPr sz="1800" b="0" i="0">
                <a:solidFill>
                  <a:srgbClr val="1B2430"/>
                </a:solidFill>
                <a:latin typeface="Courier New"/>
              </a:rPr>
              <a:t>1 2 3 4 5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7A1F"/>
                </a:solidFill>
                <a:latin typeface="Calibri"/>
              </a:rPr>
              <a:t>Print before the call </a:t>
            </a:r>
            <a:r>
              <a:rPr sz="1500" b="0" i="0">
                <a:solidFill>
                  <a:srgbClr val="1B2430"/>
                </a:solidFill>
                <a:latin typeface="Calibri"/>
              </a:rPr>
              <a:t>→ prints while winding.   </a:t>
            </a:r>
            <a:r>
              <a:rPr sz="1500" b="1" i="0">
                <a:solidFill>
                  <a:srgbClr val="0E7C7B"/>
                </a:solidFill>
                <a:latin typeface="Calibri"/>
              </a:rPr>
              <a:t>Print after the call </a:t>
            </a:r>
            <a:r>
              <a:rPr sz="1500" b="0" i="0">
                <a:solidFill>
                  <a:srgbClr val="1B2430"/>
                </a:solidFill>
                <a:latin typeface="Calibri"/>
              </a:rPr>
              <a:t>→ prints while unwinding, in reverse.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417320"/>
            <a:ext cx="228600" cy="2286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Base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Stops the recursion and returns a direct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64408" y="118872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93008" y="1417320"/>
            <a:ext cx="228600" cy="22860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132588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Recursive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92024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Calls itself with a smaller input, closer to the base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18872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2F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0216" y="1417320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5" y="132588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Call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192024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Each call gets its own frame; results return in reverse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F2C14E"/>
                </a:solidFill>
                <a:latin typeface="Calibri"/>
              </a:rPr>
              <a:t>No base case, or a call that doesn't get smaller, means the program never stops.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 in C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