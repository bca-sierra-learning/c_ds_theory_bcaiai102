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B2430"/>
                </a:solidFill>
              </a:rPr>
              <a:t>Worst-case comparisons vs array size 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Linear search</c:v>
                </c:pt>
              </c:strCache>
            </c:strRef>
          </c:tx>
          <c:spPr>
            <a:ln w="38100">
              <a:solidFill>
                <a:srgbClr val="0E7C7B"/>
              </a:solidFill>
            </a:ln>
          </c:spPr>
          <c:marker>
            <c:symbol val="circle"/>
            <c:size val="7"/>
            <c:spPr>
              <a:solidFill>
                <a:srgbClr val="0E7C7B"/>
              </a:solidFill>
              <a:ln>
                <a:solidFill>
                  <a:srgbClr val="0E7C7B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16</c:v>
                </c:pt>
                <c:pt idx="1">
                  <c:v>32</c:v>
                </c:pt>
                <c:pt idx="2">
                  <c:v>64</c:v>
                </c:pt>
                <c:pt idx="3">
                  <c:v>128</c:v>
                </c:pt>
                <c:pt idx="4">
                  <c:v>256</c:v>
                </c:pt>
                <c:pt idx="5">
                  <c:v>512</c:v>
                </c:pt>
                <c:pt idx="6">
                  <c:v>1024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16</c:v>
                </c:pt>
                <c:pt idx="1">
                  <c:v>32</c:v>
                </c:pt>
                <c:pt idx="2">
                  <c:v>64</c:v>
                </c:pt>
                <c:pt idx="3">
                  <c:v>128</c:v>
                </c:pt>
                <c:pt idx="4">
                  <c:v>256</c:v>
                </c:pt>
                <c:pt idx="5">
                  <c:v>512</c:v>
                </c:pt>
                <c:pt idx="6">
                  <c:v>1024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Binary search</c:v>
                </c:pt>
              </c:strCache>
            </c:strRef>
          </c:tx>
          <c:spPr>
            <a:ln w="38100">
              <a:solidFill>
                <a:srgbClr val="E07A1F"/>
              </a:solidFill>
            </a:ln>
          </c:spPr>
          <c:marker>
            <c:symbol val="circle"/>
            <c:size val="7"/>
            <c:spPr>
              <a:solidFill>
                <a:srgbClr val="E07A1F"/>
              </a:solidFill>
              <a:ln>
                <a:solidFill>
                  <a:srgbClr val="E07A1F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16</c:v>
                </c:pt>
                <c:pt idx="1">
                  <c:v>32</c:v>
                </c:pt>
                <c:pt idx="2">
                  <c:v>64</c:v>
                </c:pt>
                <c:pt idx="3">
                  <c:v>128</c:v>
                </c:pt>
                <c:pt idx="4">
                  <c:v>256</c:v>
                </c:pt>
                <c:pt idx="5">
                  <c:v>512</c:v>
                </c:pt>
                <c:pt idx="6">
                  <c:v>1024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100"/>
                  <a:t>Array size (n)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6C7A8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DE3E8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6C7A89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topic: searching is one of the most common operations in programming. Today we compare two methods and see why the choice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Define key, index and the -1 convention. Ask students why we can't return 0 for 'not found'.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Analogy: looking for a friend's name on an unsorted attendance sheet by reading from top to bottom.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out that n is calculated in main and passed in. Inside the function, arr is just a pointer.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each step on the board. Then ask: how many comparisons for key = 62? For key = 100?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Emphasise that the worst case grows directly with n: double the array, double the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the sorted precondition before anything else. Dictionary analogy works well.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main() is the same as linear search, using the sorted array {5, 7, 23, 32, 34, 62, 78, 91}. Output: 62 found at index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Greyed cells are discarded. Compare: linear search would need 6 comparisons for the same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this on the board. It is the clearest way to show why the loop condition is &lt;=.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from main as binarySearchRec(arr, 0, n - 1, key). Same logic as the loop, with the loop replaced by recursive calls.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Linear grows as n, binary as log2 n. Doubling n adds just one comparison for binary 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data is unsorted and searched once, linear is better: sorting costs O(n log n). If searched many times, sort once and use binary 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make almost all of these. Show a live example of the infinite loop with low = mid.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 3 is a great lab: students see the difference in comparisons for themselves.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97280"/>
            <a:ext cx="6949440" cy="146304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mbria"/>
              </a:rPr>
              <a:t>Linear Search and Binary Search in 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697480"/>
            <a:ext cx="6949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F2C14E"/>
                </a:solidFill>
                <a:latin typeface="Calibri"/>
              </a:rPr>
              <a:t>Finding a key in an array: two classic approaches</a:t>
            </a:r>
          </a:p>
        </p:txBody>
      </p:sp>
      <p:pic>
        <p:nvPicPr>
          <p:cNvPr id="4" name="Picture 3" descr="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548640"/>
            <a:ext cx="822960" cy="8229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3840480"/>
            <a:ext cx="548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4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1B2430"/>
                </a:solidFill>
                <a:latin typeface="Calibri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840480"/>
            <a:ext cx="548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4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1B2430"/>
                </a:solidFill>
                <a:latin typeface="Calibri"/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19" y="3840480"/>
            <a:ext cx="548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4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1B2430"/>
                </a:solidFill>
                <a:latin typeface="Calibri"/>
              </a:rPr>
              <a:t>23</a:t>
            </a:r>
          </a:p>
        </p:txBody>
      </p:sp>
      <p:sp>
        <p:nvSpPr>
          <p:cNvPr id="8" name="Rectangle 7"/>
          <p:cNvSpPr/>
          <p:nvPr/>
        </p:nvSpPr>
        <p:spPr>
          <a:xfrm>
            <a:off x="2194560" y="3840480"/>
            <a:ext cx="548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4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1B2430"/>
                </a:solidFill>
                <a:latin typeface="Calibri"/>
              </a:rPr>
              <a:t>32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3840480"/>
            <a:ext cx="548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4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1B2430"/>
                </a:solidFill>
                <a:latin typeface="Calibri"/>
              </a:rPr>
              <a:t>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3840480"/>
            <a:ext cx="548640" cy="457200"/>
          </a:xfrm>
          <a:prstGeom prst="rect">
            <a:avLst/>
          </a:prstGeom>
          <a:solidFill>
            <a:srgbClr val="E07A1F"/>
          </a:solidFill>
          <a:ln w="12700">
            <a:solidFill>
              <a:srgbClr val="2F4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79" y="3840480"/>
            <a:ext cx="548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4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1B2430"/>
                </a:solidFill>
                <a:latin typeface="Calibri"/>
              </a:rPr>
              <a:t>78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3840480"/>
            <a:ext cx="548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4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1B2430"/>
                </a:solidFill>
                <a:latin typeface="Calibri"/>
              </a:rPr>
              <a:t>91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2430"/>
                </a:solidFill>
                <a:latin typeface="Cambria"/>
              </a:rPr>
              <a:t>What Is Searching?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47548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C7A89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402336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1000"/>
              </a:spcAft>
              <a:buChar char="•"/>
            </a:pPr>
            <a:r>
              <a:rPr sz="1600" b="0" i="0">
                <a:solidFill>
                  <a:srgbClr val="1B2430"/>
                </a:solidFill>
                <a:latin typeface="Calibri"/>
              </a:rPr>
              <a:t>Searching means checking whether a value (the key) is present in a collection</a:t>
            </a:r>
          </a:p>
          <a:p>
            <a:pPr algn="l" marL="228600" indent="-228600">
              <a:spcAft>
                <a:spcPts val="1000"/>
              </a:spcAft>
              <a:buChar char="•"/>
            </a:pPr>
            <a:r>
              <a:rPr sz="1600" b="0" i="0">
                <a:solidFill>
                  <a:srgbClr val="1B2430"/>
                </a:solidFill>
                <a:latin typeface="Calibri"/>
              </a:rPr>
              <a:t>If found, return its position (index)</a:t>
            </a:r>
          </a:p>
          <a:p>
            <a:pPr algn="l" marL="228600" indent="-228600">
              <a:spcAft>
                <a:spcPts val="1000"/>
              </a:spcAft>
              <a:buChar char="•"/>
            </a:pPr>
            <a:r>
              <a:rPr sz="1600" b="0" i="0">
                <a:solidFill>
                  <a:srgbClr val="1B2430"/>
                </a:solidFill>
                <a:latin typeface="Calibri"/>
              </a:rPr>
              <a:t>If not found, return -1, because 0 is a valid index</a:t>
            </a:r>
          </a:p>
          <a:p>
            <a:pPr algn="l" marL="228600" indent="-228600">
              <a:spcAft>
                <a:spcPts val="1000"/>
              </a:spcAft>
              <a:buChar char="•"/>
            </a:pPr>
            <a:r>
              <a:rPr sz="1600" b="0" i="0">
                <a:solidFill>
                  <a:srgbClr val="1B2430"/>
                </a:solidFill>
                <a:latin typeface="Calibri"/>
              </a:rPr>
              <a:t>Two classic methods: Linear Search and Binary Search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188720"/>
            <a:ext cx="3931920" cy="3017520"/>
          </a:xfrm>
          <a:prstGeom prst="roundRect">
            <a:avLst>
              <a:gd name="adj" fmla="val 5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74920" y="1463040"/>
            <a:ext cx="1280160" cy="411480"/>
          </a:xfrm>
          <a:prstGeom prst="roundRect">
            <a:avLst>
              <a:gd name="adj" fmla="val 25000"/>
            </a:avLst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key = 23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74920" y="2240280"/>
            <a:ext cx="548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4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1B2430"/>
                </a:solidFill>
                <a:latin typeface="Calibri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74920" y="2724912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6C7A89"/>
                </a:solidFill>
                <a:latin typeface="Calibri"/>
              </a:rPr>
              <a:t>0</a:t>
            </a:r>
          </a:p>
        </p:txBody>
      </p:sp>
      <p:sp>
        <p:nvSpPr>
          <p:cNvPr id="9" name="Rectangle 8"/>
          <p:cNvSpPr/>
          <p:nvPr/>
        </p:nvSpPr>
        <p:spPr>
          <a:xfrm>
            <a:off x="5623559" y="2240280"/>
            <a:ext cx="548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4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1B2430"/>
                </a:solidFill>
                <a:latin typeface="Calibri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23559" y="2724912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6C7A89"/>
                </a:solidFill>
                <a:latin typeface="Calibri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2240280"/>
            <a:ext cx="548640" cy="457200"/>
          </a:xfrm>
          <a:prstGeom prst="rect">
            <a:avLst/>
          </a:prstGeom>
          <a:solidFill>
            <a:srgbClr val="2E8B57"/>
          </a:solidFill>
          <a:ln w="12700">
            <a:solidFill>
              <a:srgbClr val="2F4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724912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6C7A89"/>
                </a:solidFill>
                <a:latin typeface="Calibri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20840" y="2240280"/>
            <a:ext cx="548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4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1B2430"/>
                </a:solidFill>
                <a:latin typeface="Calibri"/>
              </a:rPr>
              <a:t>32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2724912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6C7A89"/>
                </a:solidFill>
                <a:latin typeface="Calibri"/>
              </a:rPr>
              <a:t>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69479" y="2240280"/>
            <a:ext cx="548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4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1B2430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79" y="2724912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6C7A89"/>
                </a:solidFill>
                <a:latin typeface="Calibri"/>
              </a:rPr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18120" y="2240280"/>
            <a:ext cx="548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4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1B2430"/>
                </a:solidFill>
                <a:latin typeface="Calibri"/>
              </a:rPr>
              <a:t>62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2724912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6C7A89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32918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2430"/>
                </a:solidFill>
                <a:latin typeface="Calibri"/>
              </a:rPr>
              <a:t>Result: </a:t>
            </a:r>
            <a:r>
              <a:rPr sz="1600" b="0" i="0">
                <a:solidFill>
                  <a:srgbClr val="1B2430"/>
                </a:solidFill>
                <a:latin typeface="Calibri"/>
              </a:rPr>
              <a:t>found at index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41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05840"/>
            <a:ext cx="1828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0" b="1" i="0">
                <a:solidFill>
                  <a:srgbClr val="F2C14E"/>
                </a:solidFill>
                <a:latin typeface="Cambria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80467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mbria"/>
              </a:rPr>
              <a:t>Linear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834640"/>
            <a:ext cx="8046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EEF2F5"/>
                </a:solidFill>
                <a:latin typeface="Calibri"/>
              </a:rPr>
              <a:t>Check every element, one by 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2430"/>
                </a:solidFill>
                <a:latin typeface="Cambria"/>
              </a:rPr>
              <a:t>Linear Search: 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47548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C7A89"/>
                </a:solidFill>
                <a:latin typeface="Calibri"/>
              </a:rPr>
              <a:t>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234440"/>
            <a:ext cx="457200" cy="45720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188720"/>
            <a:ext cx="3291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2430"/>
                </a:solidFill>
                <a:latin typeface="Calibri"/>
              </a:rPr>
              <a:t>Start at index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499616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C7A89"/>
                </a:solidFill>
                <a:latin typeface="Calibri"/>
              </a:rPr>
              <a:t>Begin with the first element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057400"/>
            <a:ext cx="457200" cy="45720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011680"/>
            <a:ext cx="3291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2430"/>
                </a:solidFill>
                <a:latin typeface="Calibri"/>
              </a:rPr>
              <a:t>Compare arr[i] with key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322576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C7A89"/>
                </a:solidFill>
                <a:latin typeface="Calibri"/>
              </a:rPr>
              <a:t>One element at a time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2880360"/>
            <a:ext cx="457200" cy="45720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834640"/>
            <a:ext cx="3291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2430"/>
                </a:solidFill>
                <a:latin typeface="Calibri"/>
              </a:rPr>
              <a:t>Match? Return 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145536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C7A89"/>
                </a:solidFill>
                <a:latin typeface="Calibri"/>
              </a:rPr>
              <a:t>Stop as soon as the key is found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703320"/>
            <a:ext cx="457200" cy="45720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657600"/>
            <a:ext cx="3291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2430"/>
                </a:solidFill>
                <a:latin typeface="Calibri"/>
              </a:rPr>
              <a:t>Reached the end? Return -1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968496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C7A89"/>
                </a:solidFill>
                <a:latin typeface="Calibri"/>
              </a:rPr>
              <a:t>The key is not in the array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46320" y="1188720"/>
            <a:ext cx="3840480" cy="3200400"/>
          </a:xfrm>
          <a:prstGeom prst="roundRect">
            <a:avLst>
              <a:gd name="adj" fmla="val 5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141732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E7C7B"/>
                </a:solidFill>
                <a:latin typeface="Cambria"/>
              </a:rPr>
              <a:t>Key points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1920240"/>
            <a:ext cx="338328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1000"/>
              </a:spcAft>
              <a:buChar char="•"/>
            </a:pPr>
            <a:r>
              <a:rPr sz="1600" b="0" i="0">
                <a:solidFill>
                  <a:srgbClr val="1B2430"/>
                </a:solidFill>
                <a:latin typeface="Calibri"/>
              </a:rPr>
              <a:t>Array does NOT need to be sorted</a:t>
            </a:r>
          </a:p>
          <a:p>
            <a:pPr algn="l" marL="228600" indent="-228600">
              <a:spcAft>
                <a:spcPts val="1000"/>
              </a:spcAft>
              <a:buChar char="•"/>
            </a:pPr>
            <a:r>
              <a:rPr sz="1600" b="0" i="0">
                <a:solidFill>
                  <a:srgbClr val="1B2430"/>
                </a:solidFill>
                <a:latin typeface="Calibri"/>
              </a:rPr>
              <a:t>Very simple to write</a:t>
            </a:r>
          </a:p>
          <a:p>
            <a:pPr algn="l" marL="228600" indent="-228600">
              <a:spcAft>
                <a:spcPts val="1000"/>
              </a:spcAft>
              <a:buChar char="•"/>
            </a:pPr>
            <a:r>
              <a:rPr sz="1600" b="0" i="0">
                <a:solidFill>
                  <a:srgbClr val="1B2430"/>
                </a:solidFill>
                <a:latin typeface="Calibri"/>
              </a:rPr>
              <a:t>Also works on linked lists</a:t>
            </a:r>
          </a:p>
          <a:p>
            <a:pPr algn="l" marL="228600" indent="-228600">
              <a:spcAft>
                <a:spcPts val="1000"/>
              </a:spcAft>
              <a:buChar char="•"/>
            </a:pPr>
            <a:r>
              <a:rPr sz="1600" b="0" i="0">
                <a:solidFill>
                  <a:srgbClr val="1B2430"/>
                </a:solidFill>
                <a:latin typeface="Calibri"/>
              </a:rPr>
              <a:t>Slow for large arrays: may check every element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2430"/>
                </a:solidFill>
                <a:latin typeface="Cambria"/>
              </a:rPr>
              <a:t>Linear Search: C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47548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C7A89"/>
                </a:solidFill>
                <a:latin typeface="Calibri"/>
              </a:rPr>
              <a:t>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120640" cy="3474720"/>
          </a:xfrm>
          <a:prstGeom prst="roundRect">
            <a:avLst>
              <a:gd name="adj" fmla="val 5000"/>
            </a:avLst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39"/>
            <a:ext cx="4754879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8EEF2"/>
                </a:solidFill>
                <a:latin typeface="Courier New"/>
              </a:rPr>
              <a:t>int linearSearch(int arr[], int n, int key) {</a:t>
            </a:r>
          </a:p>
          <a:p>
            <a:pPr algn="l"/>
            <a:r>
              <a:rPr sz="1300" b="0" i="0">
                <a:solidFill>
                  <a:srgbClr val="E8EEF2"/>
                </a:solidFill>
                <a:latin typeface="Courier New"/>
              </a:rPr>
              <a:t>    for (int i = 0; i &lt; n; i++) {</a:t>
            </a:r>
          </a:p>
          <a:p>
            <a:pPr algn="l"/>
            <a:r>
              <a:rPr sz="1300" b="0" i="0">
                <a:solidFill>
                  <a:srgbClr val="E8EEF2"/>
                </a:solidFill>
                <a:latin typeface="Courier New"/>
              </a:rPr>
              <a:t>        if (arr[i] == key)</a:t>
            </a:r>
          </a:p>
          <a:p>
            <a:pPr algn="l"/>
            <a:r>
              <a:rPr sz="1300" b="0" i="0">
                <a:solidFill>
                  <a:srgbClr val="E8EEF2"/>
                </a:solidFill>
                <a:latin typeface="Courier New"/>
              </a:rPr>
              <a:t>            return i;      </a:t>
            </a:r>
            <a:r>
              <a:rPr sz="1300" b="0" i="0">
                <a:solidFill>
                  <a:srgbClr val="F2C14E"/>
                </a:solidFill>
                <a:latin typeface="Courier New"/>
              </a:rPr>
              <a:t>/* found */</a:t>
            </a:r>
          </a:p>
          <a:p>
            <a:pPr algn="l"/>
            <a:r>
              <a:rPr sz="1300" b="0" i="0">
                <a:solidFill>
                  <a:srgbClr val="E8EEF2"/>
                </a:solidFill>
                <a:latin typeface="Courier New"/>
              </a:rPr>
              <a:t>    }</a:t>
            </a:r>
          </a:p>
          <a:p>
            <a:pPr algn="l"/>
            <a:r>
              <a:rPr sz="1300" b="0" i="0">
                <a:solidFill>
                  <a:srgbClr val="E8EEF2"/>
                </a:solidFill>
                <a:latin typeface="Courier New"/>
              </a:rPr>
              <a:t>    return -1;             </a:t>
            </a:r>
            <a:r>
              <a:rPr sz="1300" b="0" i="0">
                <a:solidFill>
                  <a:srgbClr val="F2C14E"/>
                </a:solidFill>
                <a:latin typeface="Courier New"/>
              </a:rPr>
              <a:t>/* not found */</a:t>
            </a:r>
          </a:p>
          <a:p>
            <a:pPr algn="l"/>
            <a:r>
              <a:rPr sz="1300" b="0" i="0">
                <a:solidFill>
                  <a:srgbClr val="E8EEF2"/>
                </a:solidFill>
                <a:latin typeface="Courier New"/>
              </a:rPr>
              <a:t>}</a:t>
            </a:r>
          </a:p>
          <a:p>
            <a:pPr algn="l"/>
            <a:r>
              <a:rPr sz="1300" b="0" i="0">
                <a:solidFill>
                  <a:srgbClr val="E8EEF2"/>
                </a:solidFill>
                <a:latin typeface="Courier New"/>
              </a:rPr>
              <a:t> </a:t>
            </a:r>
          </a:p>
          <a:p>
            <a:pPr algn="l"/>
            <a:r>
              <a:rPr sz="1300" b="0" i="0">
                <a:solidFill>
                  <a:srgbClr val="F2C14E"/>
                </a:solidFill>
                <a:latin typeface="Courier New"/>
              </a:rPr>
              <a:t>/* in main() */</a:t>
            </a:r>
          </a:p>
          <a:p>
            <a:pPr algn="l"/>
            <a:r>
              <a:rPr sz="1300" b="0" i="0">
                <a:solidFill>
                  <a:srgbClr val="E8EEF2"/>
                </a:solidFill>
                <a:latin typeface="Courier New"/>
              </a:rPr>
              <a:t>int arr[] = {34, 7, 23, 32, 5, 62};</a:t>
            </a:r>
          </a:p>
          <a:p>
            <a:pPr algn="l"/>
            <a:r>
              <a:rPr sz="1300" b="0" i="0">
                <a:solidFill>
                  <a:srgbClr val="E8EEF2"/>
                </a:solidFill>
                <a:latin typeface="Courier New"/>
              </a:rPr>
              <a:t>int n = sizeof(arr) / sizeof(arr[0]);</a:t>
            </a:r>
          </a:p>
          <a:p>
            <a:pPr algn="l"/>
            <a:r>
              <a:rPr sz="1300" b="0" i="0">
                <a:solidFill>
                  <a:srgbClr val="E8EEF2"/>
                </a:solidFill>
                <a:latin typeface="Courier New"/>
              </a:rPr>
              <a:t>int pos = linearSearch(arr, n, 23);</a:t>
            </a:r>
          </a:p>
          <a:p>
            <a:pPr algn="l"/>
            <a:r>
              <a:rPr sz="1300" b="0" i="0">
                <a:solidFill>
                  <a:srgbClr val="F2C14E"/>
                </a:solidFill>
                <a:latin typeface="Courier New"/>
              </a:rPr>
              <a:t>/* Output: 23 found at index 2 */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0" y="1097280"/>
            <a:ext cx="2834640" cy="1005840"/>
          </a:xfrm>
          <a:prstGeom prst="roundRect">
            <a:avLst>
              <a:gd name="adj" fmla="val 5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0" y="1234439"/>
            <a:ext cx="2468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E7C7B"/>
                </a:solidFill>
                <a:latin typeface="Calibri"/>
              </a:rPr>
              <a:t>Inputs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55448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B2430"/>
                </a:solidFill>
                <a:latin typeface="Calibri"/>
              </a:rPr>
              <a:t>The array, its size n, and the key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2286000"/>
            <a:ext cx="2834640" cy="1005840"/>
          </a:xfrm>
          <a:prstGeom prst="roundRect">
            <a:avLst>
              <a:gd name="adj" fmla="val 5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2423160"/>
            <a:ext cx="2468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E7C7B"/>
                </a:solidFill>
                <a:latin typeface="Calibri"/>
              </a:rPr>
              <a:t>On success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274320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B2430"/>
                </a:solidFill>
                <a:latin typeface="Calibri"/>
              </a:rPr>
              <a:t>Returns the index of the first match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3474720"/>
            <a:ext cx="2834640" cy="1005840"/>
          </a:xfrm>
          <a:prstGeom prst="roundRect">
            <a:avLst>
              <a:gd name="adj" fmla="val 5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3611879"/>
            <a:ext cx="2468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E7C7B"/>
                </a:solidFill>
                <a:latin typeface="Calibri"/>
              </a:rPr>
              <a:t>On failure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393192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B2430"/>
                </a:solidFill>
                <a:latin typeface="Calibri"/>
              </a:rPr>
              <a:t>Returns -1 after checking all n elements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2430"/>
                </a:solidFill>
                <a:latin typeface="Cambria"/>
              </a:rPr>
              <a:t>Linear Search: Dry Run (key = 23)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47548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C7A89"/>
                </a:solidFill>
                <a:latin typeface="Calibri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53312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E7C7B"/>
                </a:solidFill>
                <a:latin typeface="Calibri"/>
              </a:rPr>
              <a:t>i = 0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280160"/>
            <a:ext cx="548640" cy="457200"/>
          </a:xfrm>
          <a:prstGeom prst="rect">
            <a:avLst/>
          </a:prstGeom>
          <a:solidFill>
            <a:srgbClr val="6C7A89"/>
          </a:solidFill>
          <a:ln w="12700">
            <a:solidFill>
              <a:srgbClr val="2F4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764792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6C7A89"/>
                </a:solidFill>
                <a:latin typeface="Calibri"/>
              </a:rPr>
              <a:t>0</a:t>
            </a:r>
          </a:p>
        </p:txBody>
      </p:sp>
      <p:sp>
        <p:nvSpPr>
          <p:cNvPr id="7" name="Rectangle 6"/>
          <p:cNvSpPr/>
          <p:nvPr/>
        </p:nvSpPr>
        <p:spPr>
          <a:xfrm>
            <a:off x="1920240" y="1280160"/>
            <a:ext cx="548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4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1B2430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764792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6C7A89"/>
                </a:solidFill>
                <a:latin typeface="Calibri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0" y="1280160"/>
            <a:ext cx="548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4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1B2430"/>
                </a:solidFill>
                <a:latin typeface="Calibri"/>
              </a:rPr>
              <a:t>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1764792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6C7A89"/>
                </a:solidFill>
                <a:latin typeface="Calibri"/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1280160"/>
            <a:ext cx="548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4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1B2430"/>
                </a:solidFill>
                <a:latin typeface="Calibri"/>
              </a:rPr>
              <a:t>32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1764792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6C7A89"/>
                </a:solidFill>
                <a:latin typeface="Calibri"/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66160" y="1280160"/>
            <a:ext cx="548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4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1B2430"/>
                </a:solidFill>
                <a:latin typeface="Calibr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1764792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6C7A89"/>
                </a:solidFill>
                <a:latin typeface="Calibri"/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0" y="1280160"/>
            <a:ext cx="548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4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1B2430"/>
                </a:solidFill>
                <a:latin typeface="Calibri"/>
              </a:rPr>
              <a:t>62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1764792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6C7A89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1353312"/>
            <a:ext cx="3566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B2430"/>
                </a:solidFill>
                <a:latin typeface="Calibri"/>
              </a:rPr>
              <a:t>34 ≠ 23  →  move 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221991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E7C7B"/>
                </a:solidFill>
                <a:latin typeface="Calibri"/>
              </a:rPr>
              <a:t>i = 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0" y="2148839"/>
            <a:ext cx="548640" cy="457200"/>
          </a:xfrm>
          <a:prstGeom prst="rect">
            <a:avLst/>
          </a:prstGeom>
          <a:solidFill>
            <a:srgbClr val="EEF2F5"/>
          </a:solidFill>
          <a:ln w="12700">
            <a:solidFill>
              <a:srgbClr val="2F4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6C7A89"/>
                </a:solidFill>
                <a:latin typeface="Calibri"/>
              </a:rPr>
              <a:t>34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20240" y="2148839"/>
            <a:ext cx="548640" cy="457200"/>
          </a:xfrm>
          <a:prstGeom prst="rect">
            <a:avLst/>
          </a:prstGeom>
          <a:solidFill>
            <a:srgbClr val="6C7A89"/>
          </a:solidFill>
          <a:ln w="12700">
            <a:solidFill>
              <a:srgbClr val="2F4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68880" y="2148839"/>
            <a:ext cx="548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4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1B2430"/>
                </a:solidFill>
                <a:latin typeface="Calibri"/>
              </a:rPr>
              <a:t>23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17520" y="2148839"/>
            <a:ext cx="548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4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1B2430"/>
                </a:solidFill>
                <a:latin typeface="Calibri"/>
              </a:rPr>
              <a:t>32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66160" y="2148839"/>
            <a:ext cx="548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4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1B2430"/>
                </a:solidFill>
                <a:latin typeface="Calibri"/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0" y="2148839"/>
            <a:ext cx="548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4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1B2430"/>
                </a:solidFill>
                <a:latin typeface="Calibri"/>
              </a:rPr>
              <a:t>62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2221991"/>
            <a:ext cx="3566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B2430"/>
                </a:solidFill>
                <a:latin typeface="Calibri"/>
              </a:rPr>
              <a:t>7 ≠ 23  →  move 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090672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E7C7B"/>
                </a:solidFill>
                <a:latin typeface="Calibri"/>
              </a:rPr>
              <a:t>i = 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71600" y="3017520"/>
            <a:ext cx="548640" cy="457200"/>
          </a:xfrm>
          <a:prstGeom prst="rect">
            <a:avLst/>
          </a:prstGeom>
          <a:solidFill>
            <a:srgbClr val="EEF2F5"/>
          </a:solidFill>
          <a:ln w="12700">
            <a:solidFill>
              <a:srgbClr val="2F4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6C7A89"/>
                </a:solidFill>
                <a:latin typeface="Calibri"/>
              </a:rPr>
              <a:t>34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20240" y="3017520"/>
            <a:ext cx="548640" cy="457200"/>
          </a:xfrm>
          <a:prstGeom prst="rect">
            <a:avLst/>
          </a:prstGeom>
          <a:solidFill>
            <a:srgbClr val="EEF2F5"/>
          </a:solidFill>
          <a:ln w="12700">
            <a:solidFill>
              <a:srgbClr val="2F4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6C7A89"/>
                </a:solidFill>
                <a:latin typeface="Calibri"/>
              </a:rPr>
              <a:t>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68880" y="3017520"/>
            <a:ext cx="548640" cy="457200"/>
          </a:xfrm>
          <a:prstGeom prst="rect">
            <a:avLst/>
          </a:prstGeom>
          <a:solidFill>
            <a:srgbClr val="2E8B57"/>
          </a:solidFill>
          <a:ln w="12700">
            <a:solidFill>
              <a:srgbClr val="2F4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17520" y="3017520"/>
            <a:ext cx="548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4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1B2430"/>
                </a:solidFill>
                <a:latin typeface="Calibri"/>
              </a:rPr>
              <a:t>32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66160" y="3017520"/>
            <a:ext cx="548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4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1B2430"/>
                </a:solidFill>
                <a:latin typeface="Calibri"/>
              </a:rPr>
              <a:t>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0" y="3017520"/>
            <a:ext cx="548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4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1B2430"/>
                </a:solidFill>
                <a:latin typeface="Calibri"/>
              </a:rPr>
              <a:t>62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0" y="3090672"/>
            <a:ext cx="3566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E8B57"/>
                </a:solidFill>
                <a:latin typeface="Calibri"/>
              </a:rPr>
              <a:t>23 = 23  →  return 2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3931920"/>
            <a:ext cx="8229600" cy="640080"/>
          </a:xfrm>
          <a:prstGeom prst="roundRect">
            <a:avLst>
              <a:gd name="adj" fmla="val 5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4096512"/>
            <a:ext cx="7772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B2430"/>
                </a:solidFill>
                <a:latin typeface="Calibri"/>
              </a:rPr>
              <a:t>Found in 3 comparisons. Searching for 100 would check all 6 elements and return -1.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2430"/>
                </a:solidFill>
                <a:latin typeface="Cambria"/>
              </a:rPr>
              <a:t>Linear Search: Time Complexity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47548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C7A89"/>
                </a:solidFill>
                <a:latin typeface="Calibri"/>
              </a:rPr>
              <a:t>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C7A89"/>
                </a:solidFill>
                <a:latin typeface="Calibri"/>
              </a:rPr>
              <a:t>Best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0E7C7B"/>
                </a:solidFill>
                <a:latin typeface="Cambria"/>
              </a:rPr>
              <a:t>O(1)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46888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B2430"/>
                </a:solidFill>
                <a:latin typeface="Calibri"/>
              </a:rPr>
              <a:t>Key is the first element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18872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132588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C7A89"/>
                </a:solidFill>
                <a:latin typeface="Calibri"/>
              </a:rPr>
              <a:t>Average 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1645920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0E7C7B"/>
                </a:solidFill>
                <a:latin typeface="Cambria"/>
              </a:rPr>
              <a:t>O(n)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46888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B2430"/>
                </a:solidFill>
                <a:latin typeface="Calibri"/>
              </a:rPr>
              <a:t>About n/2 comparisons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18872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32588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C7A89"/>
                </a:solidFill>
                <a:latin typeface="Calibri"/>
              </a:rPr>
              <a:t>Worst case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645920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0E7C7B"/>
                </a:solidFill>
                <a:latin typeface="Cambria"/>
              </a:rPr>
              <a:t>O(n)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46888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B2430"/>
                </a:solidFill>
                <a:latin typeface="Calibri"/>
              </a:rPr>
              <a:t>Key is last or not present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33756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E8B57"/>
                </a:solidFill>
                <a:latin typeface="Calibri"/>
              </a:rPr>
              <a:t>Advantages: </a:t>
            </a:r>
            <a:r>
              <a:rPr sz="1600" b="0" i="0">
                <a:solidFill>
                  <a:srgbClr val="1B2430"/>
                </a:solidFill>
                <a:latin typeface="Calibri"/>
              </a:rPr>
              <a:t>no sorting needed, simple code, O(1) extra space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C0392B"/>
                </a:solidFill>
                <a:latin typeface="Calibri"/>
              </a:rPr>
              <a:t>Disadvantage: </a:t>
            </a:r>
            <a:r>
              <a:rPr sz="1600" b="0" i="0">
                <a:solidFill>
                  <a:srgbClr val="1B2430"/>
                </a:solidFill>
                <a:latin typeface="Calibri"/>
              </a:rPr>
              <a:t>for large n it becomes slow, since every element may be checked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41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05840"/>
            <a:ext cx="1828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0" b="1" i="0">
                <a:solidFill>
                  <a:srgbClr val="F2C14E"/>
                </a:solidFill>
                <a:latin typeface="Cambria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80467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mbria"/>
              </a:rPr>
              <a:t>Binary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834640"/>
            <a:ext cx="8046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EEF2F5"/>
                </a:solidFill>
                <a:latin typeface="Calibri"/>
              </a:rPr>
              <a:t>Halve the search space at every step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2430"/>
                </a:solidFill>
                <a:latin typeface="Cambria"/>
              </a:rPr>
              <a:t>Binary Search: 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47548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C7A89"/>
                </a:solidFill>
                <a:latin typeface="Calibri"/>
              </a:rPr>
              <a:t>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4480560" cy="457200"/>
          </a:xfrm>
          <a:prstGeom prst="roundRect">
            <a:avLst>
              <a:gd name="adj" fmla="val 15000"/>
            </a:avLst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Precondition: the array must be SORTED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1810512"/>
            <a:ext cx="411480" cy="411480"/>
          </a:xfrm>
          <a:prstGeom prst="ellipse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783080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2430"/>
                </a:solidFill>
                <a:latin typeface="Calibri"/>
              </a:rPr>
              <a:t>Find the middle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075688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C7A89"/>
                </a:solidFill>
                <a:latin typeface="Calibri"/>
              </a:rPr>
              <a:t>mid = low + (high - low) / 2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523744"/>
            <a:ext cx="411480" cy="411480"/>
          </a:xfrm>
          <a:prstGeom prst="ellipse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9631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2430"/>
                </a:solidFill>
                <a:latin typeface="Calibri"/>
              </a:rPr>
              <a:t>arr[mid] == key?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788920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C7A89"/>
                </a:solidFill>
                <a:latin typeface="Calibri"/>
              </a:rPr>
              <a:t>Found: return mid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236975"/>
            <a:ext cx="411480" cy="411480"/>
          </a:xfrm>
          <a:prstGeom prst="ellipse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209544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2430"/>
                </a:solidFill>
                <a:latin typeface="Calibri"/>
              </a:rPr>
              <a:t>Pick a half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502151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C7A89"/>
                </a:solidFill>
                <a:latin typeface="Calibri"/>
              </a:rPr>
              <a:t>key bigger → low = mid + 1, else high = mid - 1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3950208"/>
            <a:ext cx="411480" cy="411480"/>
          </a:xfrm>
          <a:prstGeom prst="ellipse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922776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2430"/>
                </a:solidFill>
                <a:latin typeface="Calibri"/>
              </a:rPr>
              <a:t>low &gt; high?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215384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C7A89"/>
                </a:solidFill>
                <a:latin typeface="Calibri"/>
              </a:rPr>
              <a:t>Stop: return -1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0" y="1097280"/>
            <a:ext cx="3383280" cy="3520440"/>
          </a:xfrm>
          <a:prstGeom prst="roundRect">
            <a:avLst>
              <a:gd name="adj" fmla="val 5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32120" y="128016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07A1F"/>
                </a:solidFill>
                <a:latin typeface="Calibri"/>
              </a:rPr>
              <a:t>Each step halves the range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1783080"/>
            <a:ext cx="1609344" cy="347472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51192" y="1819656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B2430"/>
                </a:solidFill>
                <a:latin typeface="Calibri"/>
              </a:rPr>
              <a:t>8 elements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32120" y="2331720"/>
            <a:ext cx="804672" cy="347472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2368296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B2430"/>
                </a:solidFill>
                <a:latin typeface="Calibri"/>
              </a:rPr>
              <a:t>4 elements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32120" y="2880360"/>
            <a:ext cx="402336" cy="347472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44184" y="2916936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B2430"/>
                </a:solidFill>
                <a:latin typeface="Calibri"/>
              </a:rPr>
              <a:t>2 elements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32120" y="3429000"/>
            <a:ext cx="201168" cy="347472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43016" y="3465576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B2430"/>
                </a:solidFill>
                <a:latin typeface="Calibri"/>
              </a:rPr>
              <a:t>1 element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3977639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C7A89"/>
                </a:solidFill>
                <a:latin typeface="Calibri"/>
              </a:rPr>
              <a:t>Like a dictionary: open in the middle, then pick a half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2430"/>
                </a:solidFill>
                <a:latin typeface="Cambria"/>
              </a:rPr>
              <a:t>Binary Search: C Code (Iterative)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47548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C7A89"/>
                </a:solidFill>
                <a:latin typeface="Calibri"/>
              </a:rPr>
              <a:t>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120640" cy="3474720"/>
          </a:xfrm>
          <a:prstGeom prst="roundRect">
            <a:avLst>
              <a:gd name="adj" fmla="val 5000"/>
            </a:avLst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39"/>
            <a:ext cx="4754879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8EEF2"/>
                </a:solidFill>
                <a:latin typeface="Courier New"/>
              </a:rPr>
              <a:t>int binarySearch(int arr[], int n, int key) {</a:t>
            </a:r>
          </a:p>
          <a:p>
            <a:pPr algn="l"/>
            <a:r>
              <a:rPr sz="1300" b="0" i="0">
                <a:solidFill>
                  <a:srgbClr val="E8EEF2"/>
                </a:solidFill>
                <a:latin typeface="Courier New"/>
              </a:rPr>
              <a:t>    int low = 0, high = n - 1;</a:t>
            </a:r>
          </a:p>
          <a:p>
            <a:pPr algn="l"/>
            <a:r>
              <a:rPr sz="1300" b="0" i="0">
                <a:solidFill>
                  <a:srgbClr val="E8EEF2"/>
                </a:solidFill>
                <a:latin typeface="Courier New"/>
              </a:rPr>
              <a:t> </a:t>
            </a:r>
          </a:p>
          <a:p>
            <a:pPr algn="l"/>
            <a:r>
              <a:rPr sz="1300" b="0" i="0">
                <a:solidFill>
                  <a:srgbClr val="E8EEF2"/>
                </a:solidFill>
                <a:latin typeface="Courier New"/>
              </a:rPr>
              <a:t>    while (low &lt;= high) {</a:t>
            </a:r>
          </a:p>
          <a:p>
            <a:pPr algn="l"/>
            <a:r>
              <a:rPr sz="1300" b="0" i="0">
                <a:solidFill>
                  <a:srgbClr val="E8EEF2"/>
                </a:solidFill>
                <a:latin typeface="Courier New"/>
              </a:rPr>
              <a:t>        int mid = low + (high - low) / 2;</a:t>
            </a:r>
          </a:p>
          <a:p>
            <a:pPr algn="l"/>
            <a:r>
              <a:rPr sz="1300" b="0" i="0">
                <a:solidFill>
                  <a:srgbClr val="E8EEF2"/>
                </a:solidFill>
                <a:latin typeface="Courier New"/>
              </a:rPr>
              <a:t> </a:t>
            </a:r>
          </a:p>
          <a:p>
            <a:pPr algn="l"/>
            <a:r>
              <a:rPr sz="1300" b="0" i="0">
                <a:solidFill>
                  <a:srgbClr val="E8EEF2"/>
                </a:solidFill>
                <a:latin typeface="Courier New"/>
              </a:rPr>
              <a:t>        if (arr[mid] == key)</a:t>
            </a:r>
          </a:p>
          <a:p>
            <a:pPr algn="l"/>
            <a:r>
              <a:rPr sz="1300" b="0" i="0">
                <a:solidFill>
                  <a:srgbClr val="E8EEF2"/>
                </a:solidFill>
                <a:latin typeface="Courier New"/>
              </a:rPr>
              <a:t>            return mid;          </a:t>
            </a:r>
            <a:r>
              <a:rPr sz="1300" b="0" i="0">
                <a:solidFill>
                  <a:srgbClr val="F2C14E"/>
                </a:solidFill>
                <a:latin typeface="Courier New"/>
              </a:rPr>
              <a:t>/* found */</a:t>
            </a:r>
          </a:p>
          <a:p>
            <a:pPr algn="l"/>
            <a:r>
              <a:rPr sz="1300" b="0" i="0">
                <a:solidFill>
                  <a:srgbClr val="E8EEF2"/>
                </a:solidFill>
                <a:latin typeface="Courier New"/>
              </a:rPr>
              <a:t>        else if (arr[mid] &lt; key)</a:t>
            </a:r>
          </a:p>
          <a:p>
            <a:pPr algn="l"/>
            <a:r>
              <a:rPr sz="1300" b="0" i="0">
                <a:solidFill>
                  <a:srgbClr val="E8EEF2"/>
                </a:solidFill>
                <a:latin typeface="Courier New"/>
              </a:rPr>
              <a:t>            low = mid + 1;       </a:t>
            </a:r>
            <a:r>
              <a:rPr sz="1300" b="0" i="0">
                <a:solidFill>
                  <a:srgbClr val="F2C14E"/>
                </a:solidFill>
                <a:latin typeface="Courier New"/>
              </a:rPr>
              <a:t>/* go right */</a:t>
            </a:r>
          </a:p>
          <a:p>
            <a:pPr algn="l"/>
            <a:r>
              <a:rPr sz="1300" b="0" i="0">
                <a:solidFill>
                  <a:srgbClr val="E8EEF2"/>
                </a:solidFill>
                <a:latin typeface="Courier New"/>
              </a:rPr>
              <a:t>        else</a:t>
            </a:r>
          </a:p>
          <a:p>
            <a:pPr algn="l"/>
            <a:r>
              <a:rPr sz="1300" b="0" i="0">
                <a:solidFill>
                  <a:srgbClr val="E8EEF2"/>
                </a:solidFill>
                <a:latin typeface="Courier New"/>
              </a:rPr>
              <a:t>            high = mid - 1;      </a:t>
            </a:r>
            <a:r>
              <a:rPr sz="1300" b="0" i="0">
                <a:solidFill>
                  <a:srgbClr val="F2C14E"/>
                </a:solidFill>
                <a:latin typeface="Courier New"/>
              </a:rPr>
              <a:t>/* go left */</a:t>
            </a:r>
          </a:p>
          <a:p>
            <a:pPr algn="l"/>
            <a:r>
              <a:rPr sz="1300" b="0" i="0">
                <a:solidFill>
                  <a:srgbClr val="E8EEF2"/>
                </a:solidFill>
                <a:latin typeface="Courier New"/>
              </a:rPr>
              <a:t>    }</a:t>
            </a:r>
          </a:p>
          <a:p>
            <a:pPr algn="l"/>
            <a:r>
              <a:rPr sz="1300" b="0" i="0">
                <a:solidFill>
                  <a:srgbClr val="E8EEF2"/>
                </a:solidFill>
                <a:latin typeface="Courier New"/>
              </a:rPr>
              <a:t>    return -1;                   </a:t>
            </a:r>
            <a:r>
              <a:rPr sz="1300" b="0" i="0">
                <a:solidFill>
                  <a:srgbClr val="F2C14E"/>
                </a:solidFill>
                <a:latin typeface="Courier New"/>
              </a:rPr>
              <a:t>/* not found */</a:t>
            </a:r>
          </a:p>
          <a:p>
            <a:pPr algn="l"/>
            <a:r>
              <a:rPr sz="1300" b="0" i="0">
                <a:solidFill>
                  <a:srgbClr val="E8EEF2"/>
                </a:solidFill>
                <a:latin typeface="Courier New"/>
              </a:rPr>
              <a:t>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0" y="1097280"/>
            <a:ext cx="2834640" cy="1005840"/>
          </a:xfrm>
          <a:prstGeom prst="roundRect">
            <a:avLst>
              <a:gd name="adj" fmla="val 5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0" y="1234439"/>
            <a:ext cx="2468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07A1F"/>
                </a:solidFill>
                <a:latin typeface="Courier New"/>
              </a:rPr>
              <a:t>low, high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55448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B2430"/>
                </a:solidFill>
                <a:latin typeface="Calibri"/>
              </a:rPr>
              <a:t>Mark the current search range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2286000"/>
            <a:ext cx="2834640" cy="1005840"/>
          </a:xfrm>
          <a:prstGeom prst="roundRect">
            <a:avLst>
              <a:gd name="adj" fmla="val 5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2423160"/>
            <a:ext cx="2468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07A1F"/>
                </a:solidFill>
                <a:latin typeface="Courier New"/>
              </a:rPr>
              <a:t>mid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274320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B2430"/>
                </a:solidFill>
                <a:latin typeface="Calibri"/>
              </a:rPr>
              <a:t>Splits the range into two halves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3474720"/>
            <a:ext cx="2834640" cy="1005840"/>
          </a:xfrm>
          <a:prstGeom prst="roundRect">
            <a:avLst>
              <a:gd name="adj" fmla="val 5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3611879"/>
            <a:ext cx="2468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07A1F"/>
                </a:solidFill>
                <a:latin typeface="Courier New"/>
              </a:rPr>
              <a:t>while (low &lt;= high)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393192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B2430"/>
                </a:solidFill>
                <a:latin typeface="Calibri"/>
              </a:rPr>
              <a:t>Runs while at least one element is left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2430"/>
                </a:solidFill>
                <a:latin typeface="Cambria"/>
              </a:rPr>
              <a:t>Binary Search: Dry Run (key = 62)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47548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C7A89"/>
                </a:solidFill>
                <a:latin typeface="Calibri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6C7A89"/>
                </a:solidFill>
                <a:latin typeface="Calibri"/>
              </a:rPr>
              <a:t>Step 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83080"/>
            <a:ext cx="640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4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1B2430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67712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6C7A89"/>
                </a:solidFill>
                <a:latin typeface="Calibri"/>
              </a:rPr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490472"/>
            <a:ext cx="1005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E07A1F"/>
                </a:solidFill>
                <a:latin typeface="Calibri"/>
              </a:rPr>
              <a:t>low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783080"/>
            <a:ext cx="640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4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1B2430"/>
                </a:solidFill>
                <a:latin typeface="Calibri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267712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6C7A89"/>
                </a:solidFill>
                <a:latin typeface="Calibri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37360" y="1783080"/>
            <a:ext cx="640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4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1B2430"/>
                </a:solidFill>
                <a:latin typeface="Calibri"/>
              </a:rPr>
              <a:t>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267712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6C7A89"/>
                </a:solidFill>
                <a:latin typeface="Calibri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77439" y="1783080"/>
            <a:ext cx="640080" cy="457200"/>
          </a:xfrm>
          <a:prstGeom prst="rect">
            <a:avLst/>
          </a:prstGeom>
          <a:solidFill>
            <a:srgbClr val="E07A1F"/>
          </a:solidFill>
          <a:ln w="12700">
            <a:solidFill>
              <a:srgbClr val="2F4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39" y="2267712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6C7A89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59" y="1490472"/>
            <a:ext cx="1005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E07A1F"/>
                </a:solidFill>
                <a:latin typeface="Calibri"/>
              </a:rPr>
              <a:t>mid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783080"/>
            <a:ext cx="640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4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1B2430"/>
                </a:solidFill>
                <a:latin typeface="Calibri"/>
              </a:rPr>
              <a:t>34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2267712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6C7A89"/>
                </a:solidFill>
                <a:latin typeface="Calibri"/>
              </a:rPr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0" y="1783080"/>
            <a:ext cx="640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4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1B2430"/>
                </a:solidFill>
                <a:latin typeface="Calibri"/>
              </a:rPr>
              <a:t>62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267712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6C7A89"/>
                </a:solidFill>
                <a:latin typeface="Calibri"/>
              </a:rPr>
              <a:t>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79" y="1783080"/>
            <a:ext cx="640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4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1B2430"/>
                </a:solidFill>
                <a:latin typeface="Calibri"/>
              </a:rPr>
              <a:t>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79" y="2267712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6C7A89"/>
                </a:solidFill>
                <a:latin typeface="Calibri"/>
              </a:rPr>
              <a:t>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37759" y="1783080"/>
            <a:ext cx="640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4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1B2430"/>
                </a:solidFill>
                <a:latin typeface="Calibri"/>
              </a:rPr>
              <a:t>91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59" y="2267712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6C7A89"/>
                </a:solidFill>
                <a:latin typeface="Calibri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79" y="1490472"/>
            <a:ext cx="1005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E07A1F"/>
                </a:solidFill>
                <a:latin typeface="Calibri"/>
              </a:rP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1874519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B2430"/>
                </a:solidFill>
                <a:latin typeface="Calibri"/>
              </a:rPr>
              <a:t>32 &lt; 62  →  low =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26060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6C7A89"/>
                </a:solidFill>
                <a:latin typeface="Calibri"/>
              </a:rPr>
              <a:t>Step 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246120"/>
            <a:ext cx="640080" cy="457200"/>
          </a:xfrm>
          <a:prstGeom prst="rect">
            <a:avLst/>
          </a:prstGeom>
          <a:solidFill>
            <a:srgbClr val="EEF2F5"/>
          </a:solidFill>
          <a:ln w="12700">
            <a:solidFill>
              <a:srgbClr val="2F4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6C7A89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730752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6C7A89"/>
                </a:solidFill>
                <a:latin typeface="Calibri"/>
              </a:rPr>
              <a:t>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97280" y="3246120"/>
            <a:ext cx="640080" cy="457200"/>
          </a:xfrm>
          <a:prstGeom prst="rect">
            <a:avLst/>
          </a:prstGeom>
          <a:solidFill>
            <a:srgbClr val="EEF2F5"/>
          </a:solidFill>
          <a:ln w="12700">
            <a:solidFill>
              <a:srgbClr val="2F4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6C7A89"/>
                </a:solidFill>
                <a:latin typeface="Calibri"/>
              </a:rP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3730752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6C7A89"/>
                </a:solidFill>
                <a:latin typeface="Calibri"/>
              </a:rPr>
              <a:t>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737360" y="3246120"/>
            <a:ext cx="640080" cy="457200"/>
          </a:xfrm>
          <a:prstGeom prst="rect">
            <a:avLst/>
          </a:prstGeom>
          <a:solidFill>
            <a:srgbClr val="EEF2F5"/>
          </a:solidFill>
          <a:ln w="12700">
            <a:solidFill>
              <a:srgbClr val="2F4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6C7A89"/>
                </a:solidFill>
                <a:latin typeface="Calibri"/>
              </a:rPr>
              <a:t>23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3730752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6C7A89"/>
                </a:solidFill>
                <a:latin typeface="Calibri"/>
              </a:rPr>
              <a:t>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77439" y="3246120"/>
            <a:ext cx="640080" cy="457200"/>
          </a:xfrm>
          <a:prstGeom prst="rect">
            <a:avLst/>
          </a:prstGeom>
          <a:solidFill>
            <a:srgbClr val="EEF2F5"/>
          </a:solidFill>
          <a:ln w="12700">
            <a:solidFill>
              <a:srgbClr val="2F4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6C7A89"/>
                </a:solidFill>
                <a:latin typeface="Calibri"/>
              </a:rPr>
              <a:t>32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77439" y="3730752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6C7A89"/>
                </a:solidFill>
                <a:latin typeface="Calibri"/>
              </a:rPr>
              <a:t>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17520" y="3246120"/>
            <a:ext cx="640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4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1B2430"/>
                </a:solidFill>
                <a:latin typeface="Calibri"/>
              </a:rPr>
              <a:t>34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17520" y="3730752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6C7A89"/>
                </a:solidFill>
                <a:latin typeface="Calibr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34639" y="2953512"/>
            <a:ext cx="1005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E07A1F"/>
                </a:solidFill>
                <a:latin typeface="Calibri"/>
              </a:rPr>
              <a:t>low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0" y="3246120"/>
            <a:ext cx="640080" cy="457200"/>
          </a:xfrm>
          <a:prstGeom prst="rect">
            <a:avLst/>
          </a:prstGeom>
          <a:solidFill>
            <a:srgbClr val="2E8B57"/>
          </a:solidFill>
          <a:ln w="12700">
            <a:solidFill>
              <a:srgbClr val="2F4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0" y="3730752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6C7A89"/>
                </a:solidFill>
                <a:latin typeface="Calibri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0" y="2953512"/>
            <a:ext cx="1005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E07A1F"/>
                </a:solidFill>
                <a:latin typeface="Calibri"/>
              </a:rPr>
              <a:t>mid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97679" y="3246120"/>
            <a:ext cx="640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4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1B2430"/>
                </a:solidFill>
                <a:latin typeface="Calibri"/>
              </a:rPr>
              <a:t>78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97679" y="3730752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6C7A89"/>
                </a:solidFill>
                <a:latin typeface="Calibri"/>
              </a:rPr>
              <a:t>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937759" y="3246120"/>
            <a:ext cx="640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4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1B2430"/>
                </a:solidFill>
                <a:latin typeface="Calibri"/>
              </a:rPr>
              <a:t>91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37759" y="3730752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6C7A89"/>
                </a:solidFill>
                <a:latin typeface="Calibri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54879" y="2953512"/>
            <a:ext cx="1005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E07A1F"/>
                </a:solidFill>
                <a:latin typeface="Calibri"/>
              </a:rPr>
              <a:t>high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52160" y="3337560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E8B57"/>
                </a:solidFill>
                <a:latin typeface="Calibri"/>
              </a:rPr>
              <a:t>62 = 62  →  return 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0E7C7B"/>
                </a:solidFill>
                <a:latin typeface="Calibri"/>
              </a:rPr>
              <a:t>Only 2 comparisons. Linear search would need 6.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2430"/>
                </a:solidFill>
                <a:latin typeface="Cambria"/>
              </a:rPr>
              <a:t>Dry Run: Key Not Found (key = 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47548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C7A89"/>
                </a:solidFill>
                <a:latin typeface="Calibri"/>
              </a:rPr>
              <a:t>12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5394960" cy="21945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48640"/>
                <a:gridCol w="548640"/>
                <a:gridCol w="548640"/>
                <a:gridCol w="548640"/>
                <a:gridCol w="822960"/>
                <a:gridCol w="2377440"/>
              </a:tblGrid>
              <a:tr h="438912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anchor="ctr" marL="73152" marR="73152" marT="27432" marB="2743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anchor="ctr" marL="73152" marR="73152" marT="27432" marB="2743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anchor="ctr" marL="73152" marR="73152" marT="27432" marB="2743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mid</a:t>
                      </a:r>
                    </a:p>
                  </a:txBody>
                  <a:tcPr anchor="ctr" marL="73152" marR="73152" marT="27432" marB="2743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arr[mid]</a:t>
                      </a:r>
                    </a:p>
                  </a:txBody>
                  <a:tcPr anchor="ctr" marL="73152" marR="73152" marT="27432" marB="2743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 anchor="ctr" marL="73152" marR="73152" marT="27432" marB="27432">
                    <a:solidFill>
                      <a:srgbClr val="0E7C7B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32 &gt; 10 → high = 2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 marR="73152" marT="27432" marB="27432">
                    <a:solidFill>
                      <a:srgbClr val="EEF2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 marT="27432" marB="27432">
                    <a:solidFill>
                      <a:srgbClr val="EEF2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 marR="73152" marT="27432" marB="27432">
                    <a:solidFill>
                      <a:srgbClr val="EEF2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EF2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73152" marR="73152" marT="27432" marB="27432">
                    <a:solidFill>
                      <a:srgbClr val="EEF2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7 &lt; 10 → low = 2</a:t>
                      </a:r>
                    </a:p>
                  </a:txBody>
                  <a:tcPr anchor="ctr" marL="73152" marR="73152" marT="27432" marB="27432">
                    <a:solidFill>
                      <a:srgbClr val="EEF2F5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23 &gt; 10 → high = 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73152" marR="73152" marT="27432" marB="27432">
                    <a:solidFill>
                      <a:srgbClr val="EEF2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 marR="73152" marT="27432" marB="27432">
                    <a:solidFill>
                      <a:srgbClr val="EEF2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EF2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EEF2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EEF2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B2430"/>
                          </a:solidFill>
                          <a:latin typeface="Calibri"/>
                        </a:rPr>
                        <a:t>low &gt; high → return -1</a:t>
                      </a:r>
                    </a:p>
                  </a:txBody>
                  <a:tcPr anchor="ctr" marL="73152" marR="73152" marT="27432" marB="27432">
                    <a:solidFill>
                      <a:srgbClr val="EEF2F5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126480" y="1188720"/>
            <a:ext cx="2560320" cy="2194560"/>
          </a:xfrm>
          <a:prstGeom prst="roundRect">
            <a:avLst>
              <a:gd name="adj" fmla="val 5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09360" y="137160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07A1F"/>
                </a:solidFill>
                <a:latin typeface="Calibri"/>
              </a:rPr>
              <a:t>Why low &lt;= high?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783080"/>
            <a:ext cx="21945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B2430"/>
                </a:solidFill>
                <a:latin typeface="Calibri"/>
              </a:rPr>
              <a:t>In step 3, low = high = 2: one element is still left to check. With low &lt; high, the loop would stop early and skip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657600"/>
            <a:ext cx="8229600" cy="640080"/>
          </a:xfrm>
          <a:prstGeom prst="roundRect">
            <a:avLst>
              <a:gd name="adj" fmla="val 5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822191"/>
            <a:ext cx="7772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B2430"/>
                </a:solidFill>
                <a:latin typeface="Calibri"/>
              </a:rPr>
              <a:t>Not found after 3 comparisons: the loop ends as soon as low &gt; high.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2430"/>
                </a:solidFill>
                <a:latin typeface="Cambria"/>
              </a:rPr>
              <a:t>Binary Search: Recursive Version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47548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C7A89"/>
                </a:solidFill>
                <a:latin typeface="Calibri"/>
              </a:rPr>
              <a:t>13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486400" cy="3474720"/>
          </a:xfrm>
          <a:prstGeom prst="roundRect">
            <a:avLst>
              <a:gd name="adj" fmla="val 5000"/>
            </a:avLst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39"/>
            <a:ext cx="512064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8EEF2"/>
                </a:solidFill>
                <a:latin typeface="Courier New"/>
              </a:rPr>
              <a:t>int binarySearchRec(int arr[], int low,</a:t>
            </a:r>
          </a:p>
          <a:p>
            <a:pPr algn="l"/>
            <a:r>
              <a:rPr sz="1100" b="0" i="0">
                <a:solidFill>
                  <a:srgbClr val="E8EEF2"/>
                </a:solidFill>
                <a:latin typeface="Courier New"/>
              </a:rPr>
              <a:t>                    int high, int key) {</a:t>
            </a:r>
          </a:p>
          <a:p>
            <a:pPr algn="l"/>
            <a:r>
              <a:rPr sz="1100" b="0" i="0">
                <a:solidFill>
                  <a:srgbClr val="E8EEF2"/>
                </a:solidFill>
                <a:latin typeface="Courier New"/>
              </a:rPr>
              <a:t>    if (low &gt; high)</a:t>
            </a:r>
          </a:p>
          <a:p>
            <a:pPr algn="l"/>
            <a:r>
              <a:rPr sz="1100" b="0" i="0">
                <a:solidFill>
                  <a:srgbClr val="E8EEF2"/>
                </a:solidFill>
                <a:latin typeface="Courier New"/>
              </a:rPr>
              <a:t>        return -1;               </a:t>
            </a:r>
            <a:r>
              <a:rPr sz="1100" b="0" i="0">
                <a:solidFill>
                  <a:srgbClr val="F2C14E"/>
                </a:solidFill>
                <a:latin typeface="Courier New"/>
              </a:rPr>
              <a:t>/* base case */</a:t>
            </a:r>
          </a:p>
          <a:p>
            <a:pPr algn="l"/>
            <a:r>
              <a:rPr sz="1100" b="0" i="0">
                <a:solidFill>
                  <a:srgbClr val="E8EEF2"/>
                </a:solidFill>
                <a:latin typeface="Courier New"/>
              </a:rPr>
              <a:t> </a:t>
            </a:r>
          </a:p>
          <a:p>
            <a:pPr algn="l"/>
            <a:r>
              <a:rPr sz="1100" b="0" i="0">
                <a:solidFill>
                  <a:srgbClr val="E8EEF2"/>
                </a:solidFill>
                <a:latin typeface="Courier New"/>
              </a:rPr>
              <a:t>    int mid = low + (high - low) / 2;</a:t>
            </a:r>
          </a:p>
          <a:p>
            <a:pPr algn="l"/>
            <a:r>
              <a:rPr sz="1100" b="0" i="0">
                <a:solidFill>
                  <a:srgbClr val="E8EEF2"/>
                </a:solidFill>
                <a:latin typeface="Courier New"/>
              </a:rPr>
              <a:t> </a:t>
            </a:r>
          </a:p>
          <a:p>
            <a:pPr algn="l"/>
            <a:r>
              <a:rPr sz="1100" b="0" i="0">
                <a:solidFill>
                  <a:srgbClr val="E8EEF2"/>
                </a:solidFill>
                <a:latin typeface="Courier New"/>
              </a:rPr>
              <a:t>    if (arr[mid] == key)</a:t>
            </a:r>
          </a:p>
          <a:p>
            <a:pPr algn="l"/>
            <a:r>
              <a:rPr sz="1100" b="0" i="0">
                <a:solidFill>
                  <a:srgbClr val="E8EEF2"/>
                </a:solidFill>
                <a:latin typeface="Courier New"/>
              </a:rPr>
              <a:t>        return mid;</a:t>
            </a:r>
          </a:p>
          <a:p>
            <a:pPr algn="l"/>
            <a:r>
              <a:rPr sz="1100" b="0" i="0">
                <a:solidFill>
                  <a:srgbClr val="E8EEF2"/>
                </a:solidFill>
                <a:latin typeface="Courier New"/>
              </a:rPr>
              <a:t>    else if (arr[mid] &lt; key)</a:t>
            </a:r>
          </a:p>
          <a:p>
            <a:pPr algn="l"/>
            <a:r>
              <a:rPr sz="1100" b="0" i="0">
                <a:solidFill>
                  <a:srgbClr val="E8EEF2"/>
                </a:solidFill>
                <a:latin typeface="Courier New"/>
              </a:rPr>
              <a:t>        return binarySearchRec(arr, mid + 1, high, key);</a:t>
            </a:r>
          </a:p>
          <a:p>
            <a:pPr algn="l"/>
            <a:r>
              <a:rPr sz="1100" b="0" i="0">
                <a:solidFill>
                  <a:srgbClr val="E8EEF2"/>
                </a:solidFill>
                <a:latin typeface="Courier New"/>
              </a:rPr>
              <a:t>    else</a:t>
            </a:r>
          </a:p>
          <a:p>
            <a:pPr algn="l"/>
            <a:r>
              <a:rPr sz="1100" b="0" i="0">
                <a:solidFill>
                  <a:srgbClr val="E8EEF2"/>
                </a:solidFill>
                <a:latin typeface="Courier New"/>
              </a:rPr>
              <a:t>        return binarySearchRec(arr, low, mid - 1, key);</a:t>
            </a:r>
          </a:p>
          <a:p>
            <a:pPr algn="l"/>
            <a:r>
              <a:rPr sz="1100" b="0" i="0">
                <a:solidFill>
                  <a:srgbClr val="E8EEF2"/>
                </a:solidFill>
                <a:latin typeface="Courier New"/>
              </a:rPr>
              <a:t>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097280"/>
            <a:ext cx="2468880" cy="2011680"/>
          </a:xfrm>
          <a:prstGeom prst="roundRect">
            <a:avLst>
              <a:gd name="adj" fmla="val 5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234440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07A1F"/>
                </a:solidFill>
                <a:latin typeface="Calibri"/>
              </a:rPr>
              <a:t>Why not (low + high) / 2?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21031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B2430"/>
                </a:solidFill>
                <a:latin typeface="Calibri"/>
              </a:rPr>
              <a:t>low + high can overflow int for very large arrays. This form gives the same mid safely.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291840"/>
            <a:ext cx="2468880" cy="1280160"/>
          </a:xfrm>
          <a:prstGeom prst="roundRect">
            <a:avLst>
              <a:gd name="adj" fmla="val 5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342900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E7C7B"/>
                </a:solidFill>
                <a:latin typeface="Calibri"/>
              </a:rPr>
              <a:t>Extra space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749039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B2430"/>
                </a:solidFill>
                <a:latin typeface="Calibri"/>
              </a:rPr>
              <a:t>O(log n) for the call stack; O(1) for the loop version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2430"/>
                </a:solidFill>
                <a:latin typeface="Cambria"/>
              </a:rPr>
              <a:t>Why Binary Search Is So Fast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47548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C7A89"/>
                </a:solidFill>
                <a:latin typeface="Calibri"/>
              </a:rPr>
              <a:t>14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051560"/>
          <a:ext cx="5212080" cy="3611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943600" y="1097280"/>
            <a:ext cx="2743200" cy="3520440"/>
          </a:xfrm>
          <a:prstGeom prst="roundRect">
            <a:avLst>
              <a:gd name="adj" fmla="val 5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72200" y="1280160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6C7A89"/>
                </a:solidFill>
                <a:latin typeface="Calibri"/>
              </a:rPr>
              <a:t>For 1,000,000 elements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169164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E7C7B"/>
                </a:solidFill>
                <a:latin typeface="Cambria"/>
              </a:rPr>
              <a:t>1,000,000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224028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B2430"/>
                </a:solidFill>
                <a:latin typeface="Calibri"/>
              </a:rPr>
              <a:t>comparisons: linear search (worst)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2743200"/>
            <a:ext cx="2377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E07A1F"/>
                </a:solidFill>
                <a:latin typeface="Cambria"/>
              </a:rPr>
              <a:t>~20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3611880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B2430"/>
                </a:solidFill>
                <a:latin typeface="Calibri"/>
              </a:rPr>
              <a:t>comparisons: binary search, since 2^20 ≈ 1,000,000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2430"/>
                </a:solidFill>
                <a:latin typeface="Cambria"/>
              </a:rPr>
              <a:t>Linear vs Binary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47548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C7A89"/>
                </a:solidFill>
                <a:latin typeface="Calibri"/>
              </a:rPr>
              <a:t>15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321868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77440"/>
                <a:gridCol w="2743200"/>
                <a:gridCol w="3108960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 anchor="ctr" marL="73152" marR="73152" marT="27432" marB="27432">
                    <a:solidFill>
                      <a:srgbClr val="2F41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Linear Search</a:t>
                      </a:r>
                    </a:p>
                  </a:txBody>
                  <a:tcPr anchor="ctr" marL="73152" marR="73152" marT="27432" marB="2743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Binary Search</a:t>
                      </a:r>
                    </a:p>
                  </a:txBody>
                  <a:tcPr anchor="ctr" marL="73152" marR="73152" marT="27432" marB="27432">
                    <a:solidFill>
                      <a:srgbClr val="E07A1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B2430"/>
                          </a:solidFill>
                          <a:latin typeface="Calibri"/>
                        </a:rPr>
                        <a:t>Data must be sorted?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B2430"/>
                          </a:solidFill>
                          <a:latin typeface="Calibri"/>
                        </a:rPr>
                        <a:t>Approach</a:t>
                      </a:r>
                    </a:p>
                  </a:txBody>
                  <a:tcPr anchor="ctr" marL="73152" marR="73152" marT="27432" marB="27432">
                    <a:solidFill>
                      <a:srgbClr val="EEF2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Check one by one</a:t>
                      </a:r>
                    </a:p>
                  </a:txBody>
                  <a:tcPr anchor="ctr" marL="73152" marR="73152" marT="27432" marB="27432">
                    <a:solidFill>
                      <a:srgbClr val="EEF2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Halve the range each step</a:t>
                      </a:r>
                    </a:p>
                  </a:txBody>
                  <a:tcPr anchor="ctr" marL="73152" marR="73152" marT="27432" marB="27432">
                    <a:solidFill>
                      <a:srgbClr val="EEF2F5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B2430"/>
                          </a:solidFill>
                          <a:latin typeface="Calibri"/>
                        </a:rPr>
                        <a:t>Worst-case time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O(n)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O(log n)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B2430"/>
                          </a:solidFill>
                          <a:latin typeface="Calibri"/>
                        </a:rPr>
                        <a:t>Best-case time</a:t>
                      </a:r>
                    </a:p>
                  </a:txBody>
                  <a:tcPr anchor="ctr" marL="73152" marR="73152" marT="27432" marB="27432">
                    <a:solidFill>
                      <a:srgbClr val="EEF2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O(1)</a:t>
                      </a:r>
                    </a:p>
                  </a:txBody>
                  <a:tcPr anchor="ctr" marL="73152" marR="73152" marT="27432" marB="27432">
                    <a:solidFill>
                      <a:srgbClr val="EEF2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O(1)</a:t>
                      </a:r>
                    </a:p>
                  </a:txBody>
                  <a:tcPr anchor="ctr" marL="73152" marR="73152" marT="27432" marB="27432">
                    <a:solidFill>
                      <a:srgbClr val="EEF2F5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B2430"/>
                          </a:solidFill>
                          <a:latin typeface="Calibri"/>
                        </a:rPr>
                        <a:t>Works on linked lists?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Yes, easily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Not efficiently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B2430"/>
                          </a:solidFill>
                          <a:latin typeface="Calibri"/>
                        </a:rPr>
                        <a:t>Code</a:t>
                      </a:r>
                    </a:p>
                  </a:txBody>
                  <a:tcPr anchor="ctr" marL="73152" marR="73152" marT="27432" marB="27432">
                    <a:solidFill>
                      <a:srgbClr val="EEF2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Very simple</a:t>
                      </a:r>
                    </a:p>
                  </a:txBody>
                  <a:tcPr anchor="ctr" marL="73152" marR="73152" marT="27432" marB="27432">
                    <a:solidFill>
                      <a:srgbClr val="EEF2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Slightly more involved</a:t>
                      </a:r>
                    </a:p>
                  </a:txBody>
                  <a:tcPr anchor="ctr" marL="73152" marR="73152" marT="27432" marB="27432">
                    <a:solidFill>
                      <a:srgbClr val="EEF2F5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B2430"/>
                          </a:solidFill>
                          <a:latin typeface="Calibri"/>
                        </a:rPr>
                        <a:t>Best used for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Small or unsorted data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Large sorted data, searched often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2430"/>
                </a:solidFill>
                <a:latin typeface="Cambria"/>
              </a:rPr>
              <a:t>Common Student Mistakes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47548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C7A89"/>
                </a:solidFill>
                <a:latin typeface="Calibri"/>
              </a:rPr>
              <a:t>16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143000"/>
            <a:ext cx="411480" cy="41148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1243584"/>
            <a:ext cx="210312" cy="210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" y="1207008"/>
            <a:ext cx="7635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2430"/>
                </a:solidFill>
                <a:latin typeface="Calibri"/>
              </a:rPr>
              <a:t>Binary search on an unsorted array</a:t>
            </a:r>
            <a:r>
              <a:rPr sz="1500" b="0" i="0">
                <a:solidFill>
                  <a:srgbClr val="6C7A89"/>
                </a:solidFill>
                <a:latin typeface="Calibri"/>
              </a:rPr>
              <a:t>  —  the program runs but gives wrong answers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1828800"/>
            <a:ext cx="411480" cy="41148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1929384"/>
            <a:ext cx="210312" cy="2103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51560" y="1892807"/>
            <a:ext cx="7635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2430"/>
                </a:solidFill>
                <a:latin typeface="Calibri"/>
              </a:rPr>
              <a:t>while (low &lt; high) instead of &lt;=</a:t>
            </a:r>
            <a:r>
              <a:rPr sz="1500" b="0" i="0">
                <a:solidFill>
                  <a:srgbClr val="6C7A89"/>
                </a:solidFill>
                <a:latin typeface="Calibri"/>
              </a:rPr>
              <a:t>  —  misses the last remaining element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2514600"/>
            <a:ext cx="411480" cy="41148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2615184"/>
            <a:ext cx="210312" cy="21031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51560" y="2578608"/>
            <a:ext cx="7635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2430"/>
                </a:solidFill>
                <a:latin typeface="Calibri"/>
              </a:rPr>
              <a:t>low = mid or high = mid</a:t>
            </a:r>
            <a:r>
              <a:rPr sz="1500" b="0" i="0">
                <a:solidFill>
                  <a:srgbClr val="6C7A89"/>
                </a:solidFill>
                <a:latin typeface="Calibri"/>
              </a:rPr>
              <a:t>  —  can cause an infinite loop; use mid + 1 / mid - 1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200400"/>
            <a:ext cx="411480" cy="41148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3300984"/>
            <a:ext cx="210312" cy="21031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51560" y="3264408"/>
            <a:ext cx="7635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2430"/>
                </a:solidFill>
                <a:latin typeface="Calibri"/>
              </a:rPr>
              <a:t>sizeof(arr)/sizeof(arr[0]) inside the function</a:t>
            </a:r>
            <a:r>
              <a:rPr sz="1500" b="0" i="0">
                <a:solidFill>
                  <a:srgbClr val="6C7A89"/>
                </a:solidFill>
                <a:latin typeface="Calibri"/>
              </a:rPr>
              <a:t>  —  arr is a pointer there; pass n from main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3886200"/>
            <a:ext cx="411480" cy="41148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3986784"/>
            <a:ext cx="210312" cy="21031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51560" y="3950208"/>
            <a:ext cx="7635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2430"/>
                </a:solidFill>
                <a:latin typeface="Calibri"/>
              </a:rPr>
              <a:t>Returning 0 for "not found"</a:t>
            </a:r>
            <a:r>
              <a:rPr sz="1500" b="0" i="0">
                <a:solidFill>
                  <a:srgbClr val="6C7A89"/>
                </a:solidFill>
                <a:latin typeface="Calibri"/>
              </a:rPr>
              <a:t>  —  0 is a valid index; return -1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2430"/>
                </a:solidFill>
                <a:latin typeface="Cambria"/>
              </a:rPr>
              <a:t>Practice Exercises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47548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C7A89"/>
                </a:solidFill>
                <a:latin typeface="Calibri"/>
              </a:rPr>
              <a:t>17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2606040" cy="1600200"/>
          </a:xfrm>
          <a:prstGeom prst="roundRect">
            <a:avLst>
              <a:gd name="adj" fmla="val 5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1280160"/>
            <a:ext cx="411480" cy="41148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2240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B2430"/>
                </a:solidFill>
                <a:latin typeface="Calibri"/>
              </a:rPr>
              <a:t>Count how many times the key appears using linear search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68980" y="1097280"/>
            <a:ext cx="2606040" cy="1600200"/>
          </a:xfrm>
          <a:prstGeom prst="roundRect">
            <a:avLst>
              <a:gd name="adj" fmla="val 5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451860" y="1280160"/>
            <a:ext cx="411480" cy="41148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51860" y="1828800"/>
            <a:ext cx="2240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B2430"/>
                </a:solidFill>
                <a:latin typeface="Calibri"/>
              </a:rPr>
              <a:t>Modify linear search to return the last occurrence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1097280"/>
            <a:ext cx="2606040" cy="1600200"/>
          </a:xfrm>
          <a:prstGeom prst="roundRect">
            <a:avLst>
              <a:gd name="adj" fmla="val 5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263640" y="1280160"/>
            <a:ext cx="411480" cy="411480"/>
          </a:xfrm>
          <a:prstGeom prst="ellipse">
            <a:avLst/>
          </a:prstGeom>
          <a:solidFill>
            <a:srgbClr val="2F4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828800"/>
            <a:ext cx="2240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B2430"/>
                </a:solidFill>
                <a:latin typeface="Calibri"/>
              </a:rPr>
              <a:t>Count and print comparisons for both searches on 20 sorted elements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880360"/>
            <a:ext cx="2606040" cy="1600200"/>
          </a:xfrm>
          <a:prstGeom prst="roundRect">
            <a:avLst>
              <a:gd name="adj" fmla="val 5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" y="3063240"/>
            <a:ext cx="411480" cy="411480"/>
          </a:xfrm>
          <a:prstGeom prst="ellipse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611880"/>
            <a:ext cx="2240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B2430"/>
                </a:solidFill>
                <a:latin typeface="Calibri"/>
              </a:rPr>
              <a:t>Read n numbers, bubble sort them, then binary search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68980" y="2880360"/>
            <a:ext cx="2606040" cy="1600200"/>
          </a:xfrm>
          <a:prstGeom prst="roundRect">
            <a:avLst>
              <a:gd name="adj" fmla="val 5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451860" y="3063240"/>
            <a:ext cx="411480" cy="411480"/>
          </a:xfrm>
          <a:prstGeom prst="ellipse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1860" y="3611880"/>
            <a:ext cx="2240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B2430"/>
                </a:solidFill>
                <a:latin typeface="Calibri"/>
              </a:rPr>
              <a:t>Find the first occurrence of 4 in {2, 4, 4, 4, 7, 9}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0760" y="2880360"/>
            <a:ext cx="2606040" cy="1600200"/>
          </a:xfrm>
          <a:prstGeom prst="roundRect">
            <a:avLst>
              <a:gd name="adj" fmla="val 5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263640" y="3063240"/>
            <a:ext cx="411480" cy="411480"/>
          </a:xfrm>
          <a:prstGeom prst="ellipse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611880"/>
            <a:ext cx="2240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B2430"/>
                </a:solidFill>
                <a:latin typeface="Calibri"/>
              </a:rPr>
              <a:t>Search for a name in an array of strings using strcmp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Key Takeaways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4023360" cy="2377440"/>
          </a:xfrm>
          <a:prstGeom prst="roundRect">
            <a:avLst>
              <a:gd name="adj" fmla="val 5000"/>
            </a:avLst>
          </a:prstGeom>
          <a:solidFill>
            <a:srgbClr val="2F4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1481328"/>
            <a:ext cx="201168" cy="201168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371600"/>
            <a:ext cx="3200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mbria"/>
              </a:rPr>
              <a:t>Linear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3474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800"/>
              </a:spcAft>
              <a:buChar char="•"/>
            </a:pPr>
            <a:r>
              <a:rPr sz="1600" b="0" i="0">
                <a:solidFill>
                  <a:srgbClr val="FFFFFF"/>
                </a:solidFill>
                <a:latin typeface="Calibri"/>
              </a:rPr>
              <a:t>Works on any data, sorted or not</a:t>
            </a:r>
          </a:p>
          <a:p>
            <a:pPr algn="l" marL="228600" indent="-228600">
              <a:spcAft>
                <a:spcPts val="800"/>
              </a:spcAft>
              <a:buChar char="•"/>
            </a:pPr>
            <a:r>
              <a:rPr sz="1600" b="0" i="0">
                <a:solidFill>
                  <a:srgbClr val="FFFFFF"/>
                </a:solidFill>
                <a:latin typeface="Calibri"/>
              </a:rPr>
              <a:t>O(n) time, O(1) space</a:t>
            </a:r>
          </a:p>
          <a:p>
            <a:pPr algn="l" marL="228600" indent="-228600">
              <a:spcAft>
                <a:spcPts val="800"/>
              </a:spcAft>
              <a:buChar char="•"/>
            </a:pPr>
            <a:r>
              <a:rPr sz="1600" b="0" i="0">
                <a:solidFill>
                  <a:srgbClr val="FFFFFF"/>
                </a:solidFill>
                <a:latin typeface="Calibri"/>
              </a:rPr>
              <a:t>Best for small or unsorted arrays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188720"/>
            <a:ext cx="4023360" cy="2377440"/>
          </a:xfrm>
          <a:prstGeom prst="roundRect">
            <a:avLst>
              <a:gd name="adj" fmla="val 5000"/>
            </a:avLst>
          </a:prstGeom>
          <a:solidFill>
            <a:srgbClr val="2F4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937759" y="1481328"/>
            <a:ext cx="201168" cy="201168"/>
          </a:xfrm>
          <a:prstGeom prst="ellipse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57800" y="1371600"/>
            <a:ext cx="3200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mbria"/>
              </a:rPr>
              <a:t>Binary 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59" y="1920240"/>
            <a:ext cx="3474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800"/>
              </a:spcAft>
              <a:buChar char="•"/>
            </a:pPr>
            <a:r>
              <a:rPr sz="1600" b="0" i="0">
                <a:solidFill>
                  <a:srgbClr val="FFFFFF"/>
                </a:solidFill>
                <a:latin typeface="Calibri"/>
              </a:rPr>
              <a:t>Needs a sorted array</a:t>
            </a:r>
          </a:p>
          <a:p>
            <a:pPr algn="l" marL="228600" indent="-228600">
              <a:spcAft>
                <a:spcPts val="800"/>
              </a:spcAft>
              <a:buChar char="•"/>
            </a:pPr>
            <a:r>
              <a:rPr sz="1600" b="0" i="0">
                <a:solidFill>
                  <a:srgbClr val="FFFFFF"/>
                </a:solidFill>
                <a:latin typeface="Calibri"/>
              </a:rPr>
              <a:t>O(log n) time</a:t>
            </a:r>
          </a:p>
          <a:p>
            <a:pPr algn="l" marL="228600" indent="-228600">
              <a:spcAft>
                <a:spcPts val="800"/>
              </a:spcAft>
              <a:buChar char="•"/>
            </a:pPr>
            <a:r>
              <a:rPr sz="1600" b="0" i="0">
                <a:solidFill>
                  <a:srgbClr val="FFFFFF"/>
                </a:solidFill>
                <a:latin typeface="Calibri"/>
              </a:rPr>
              <a:t>Best for large data searched often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931920"/>
            <a:ext cx="8229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F2C14E"/>
                </a:solidFill>
                <a:latin typeface="Calibri"/>
              </a:rPr>
              <a:t>Rule of thumb: sort once, search many times → binary search pays off.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Search and Binary Search in C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