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ln w="25400">
            <a:solidFill>
              <a:srgbClr val="3434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548640"/>
            <a:ext cx="3200400" cy="3200400"/>
          </a:xfrm>
          <a:prstGeom prst="ellipse">
            <a:avLst/>
          </a:prstGeom>
          <a:ln w="25400">
            <a:solidFill>
              <a:srgbClr val="89DDFF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ln w="25400">
            <a:solidFill>
              <a:srgbClr val="343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 C  PROGRAMMING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E8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Loops in C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94360" y="27889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9DD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Programming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D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 •  while  •  do-while  —  repetition, control, and pattern-building in C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709160"/>
            <a:ext cx="6035040" cy="1600200"/>
          </a:xfrm>
          <a:prstGeom prst="roundRect">
            <a:avLst>
              <a:gd name="adj" fmla="val 4571"/>
            </a:avLst>
          </a:prstGeom>
          <a:solidFill>
            <a:srgbClr val="2A2A3C"/>
          </a:solidFill>
          <a:ln w="12700">
            <a:solidFill>
              <a:srgbClr val="3A3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4855464"/>
            <a:ext cx="100584" cy="10058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11" name="Shape 9"/>
          <p:cNvSpPr/>
          <p:nvPr/>
        </p:nvSpPr>
        <p:spPr>
          <a:xfrm>
            <a:off x="969264" y="485546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3856" y="4855464"/>
            <a:ext cx="100584" cy="100584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5074920"/>
            <a:ext cx="5632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= 1; i &lt;= 5; i++)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printf("%d\n", i);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8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18013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Loops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21671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loops are and why we need them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67919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8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80160" y="26974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3063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syntax, example, use case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5753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8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80160" y="35935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9593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syntax, example, use case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47141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8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80160" y="448970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 Loop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85546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syntax, example, use case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0936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8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040880" y="18013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Three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21671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side-by-side reference table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09360" y="267919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8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040880" y="26974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Loops &amp; break / continue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3063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control and patterns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09360" y="35753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8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040880" y="35935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Programs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39593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N numbers, factorial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a Loop?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
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is a control structure in C that executes a block of code repeatedly as long as a specified condition is true.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repeat the code?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"Hello" 100 times without a loop means writing printf("Hello"); 100 times. A loop does it in 3-4 lines — less code, fewer mistakes, easier to change.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9224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are essential for: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2240280"/>
            <a:ext cx="457200" cy="457200"/>
          </a:xfrm>
          <a:prstGeom prst="ellipse">
            <a:avLst/>
          </a:prstGeom>
          <a:solidFill>
            <a:srgbClr val="89DDFF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F1F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132320" y="222199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tasks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25328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patterns, tables, banners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92240" y="3200400"/>
            <a:ext cx="457200" cy="457200"/>
          </a:xfrm>
          <a:prstGeom prst="ellipse">
            <a:avLst/>
          </a:prstGeom>
          <a:solidFill>
            <a:srgbClr val="FFCB6B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F1F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132320" y="31821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Traversing data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0" y="34930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through arrays and strings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92240" y="4160520"/>
            <a:ext cx="457200" cy="457200"/>
          </a:xfrm>
          <a:prstGeom prst="ellipse">
            <a:avLst/>
          </a:prstGeom>
          <a:solidFill>
            <a:srgbClr val="89DD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F1F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132320" y="414223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totals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44531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Sums, products, factorials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0" y="5120640"/>
            <a:ext cx="457200" cy="457200"/>
          </a:xfrm>
          <a:prstGeom prst="ellipse">
            <a:avLst/>
          </a:prstGeom>
          <a:solidFill>
            <a:srgbClr val="FFCB6B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F1F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132320" y="51023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input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0" y="54132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values until user stops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Types of Loops in 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2A2A3C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3429000" cy="73152"/>
          </a:xfrm>
          <a:prstGeom prst="rect">
            <a:avLst/>
          </a:prstGeom>
          <a:solidFill>
            <a:srgbClr val="89DD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231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400" y="3154680"/>
            <a:ext cx="1389888" cy="292608"/>
          </a:xfrm>
          <a:prstGeom prst="roundRect">
            <a:avLst>
              <a:gd name="adj" fmla="val 50000"/>
            </a:avLst>
          </a:prstGeom>
          <a:solidFill>
            <a:srgbClr val="38384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15468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Count-controlled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D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the number of iterations is known in advance.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21031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2A2A3C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2103120"/>
            <a:ext cx="3429000" cy="73152"/>
          </a:xfrm>
          <a:prstGeom prst="rect">
            <a:avLst/>
          </a:prstGeom>
          <a:solidFill>
            <a:srgbClr val="FFCB6B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4231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709160" y="3154680"/>
            <a:ext cx="1312164" cy="292608"/>
          </a:xfrm>
          <a:prstGeom prst="roundRect">
            <a:avLst>
              <a:gd name="adj" fmla="val 50000"/>
            </a:avLst>
          </a:prstGeom>
          <a:solidFill>
            <a:srgbClr val="38384E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3154680"/>
            <a:ext cx="13121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Condition-first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370332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D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iterations depend on a condition checked before each run.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21031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2A2A3C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2103120"/>
            <a:ext cx="3429000" cy="73152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24231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do-while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8503920" y="3154680"/>
            <a:ext cx="1545336" cy="292608"/>
          </a:xfrm>
          <a:prstGeom prst="roundRect">
            <a:avLst>
              <a:gd name="adj" fmla="val 50000"/>
            </a:avLst>
          </a:prstGeom>
          <a:solidFill>
            <a:srgbClr val="38384E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3154680"/>
            <a:ext cx="1545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 least once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370332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D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while, but the condition is checked after the body runs.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FOR LOOP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Definition &amp; Syntax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entry-controlled loop used when the number of iterations is known beforehand. It combines initialization, condition checking, and increment/decrement in a single line.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 runs once, before the loop starts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is checked before every iteration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body runs while the condition is true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changes the loop variable, then control returns to the condition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2A2A3C"/>
          </a:solidFill>
          <a:ln w="12700">
            <a:solidFill>
              <a:srgbClr val="3A3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73952" y="1883664"/>
            <a:ext cx="100584" cy="10058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9" name="Shape 7"/>
          <p:cNvSpPr/>
          <p:nvPr/>
        </p:nvSpPr>
        <p:spPr>
          <a:xfrm>
            <a:off x="6638544" y="188366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6803136" y="1883664"/>
            <a:ext cx="100584" cy="100584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2103120"/>
            <a:ext cx="4901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(initialization; condition; update)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statements to be executed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309360" y="397764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F5F5F7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4160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when...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45262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numbers or patterns in a fixed range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Traversing arrays: for (i = 0; i &lt; n; i++)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repeat count is known, e.g. "first 10 natural numbers"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FOR LOOP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943600" cy="3931920"/>
          </a:xfrm>
          <a:prstGeom prst="roundRect">
            <a:avLst>
              <a:gd name="adj" fmla="val 1860"/>
            </a:avLst>
          </a:prstGeom>
          <a:solidFill>
            <a:srgbClr val="2A2A3C"/>
          </a:solidFill>
          <a:ln w="12700">
            <a:solidFill>
              <a:srgbClr val="3A3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9384"/>
            <a:ext cx="100584" cy="10058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2938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" y="1929384"/>
            <a:ext cx="100584" cy="100584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148840"/>
            <a:ext cx="554126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 = 1; i &lt;= 5; i++)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printf("%d\n", i);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0" y="1783080"/>
            <a:ext cx="2834640" cy="2194560"/>
          </a:xfrm>
          <a:prstGeom prst="roundRect">
            <a:avLst>
              <a:gd name="adj" fmla="val 2500"/>
            </a:avLst>
          </a:prstGeom>
          <a:solidFill>
            <a:srgbClr val="16161F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22592" y="1856232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059168" y="2148840"/>
            <a:ext cx="24323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0" y="4160520"/>
            <a:ext cx="4709160" cy="1554480"/>
          </a:xfrm>
          <a:prstGeom prst="roundRect">
            <a:avLst>
              <a:gd name="adj" fmla="val 5882"/>
            </a:avLst>
          </a:prstGeom>
          <a:solidFill>
            <a:srgbClr val="2A2A3C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43159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86600" y="461772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D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i=1 → print → i=2 → print → ... → i=6 fails condition, loop ends.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WHILE LOOP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Definition &amp; Syntax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an entry-controlled loop — the condition is tested before the loop body executes. Used when the number of iterations is not known in advance and depends on a condition evaluated at runtime.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5F5F7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6118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input until a sentinel value (e.g. -1) is entered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depends on an unpredictable condition, like reading a file until end-of-file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input: keep asking until it's valid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2A2A3C"/>
          </a:solidFill>
          <a:ln w="12700">
            <a:solidFill>
              <a:srgbClr val="3A3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3952" y="1883664"/>
            <a:ext cx="100584" cy="10058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10" name="Shape 8"/>
          <p:cNvSpPr/>
          <p:nvPr/>
        </p:nvSpPr>
        <p:spPr>
          <a:xfrm>
            <a:off x="6638544" y="188366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6803136" y="1883664"/>
            <a:ext cx="100584" cy="100584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12" name="Text 10"/>
          <p:cNvSpPr/>
          <p:nvPr/>
        </p:nvSpPr>
        <p:spPr>
          <a:xfrm>
            <a:off x="6510528" y="2103120"/>
            <a:ext cx="49011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initialization;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(condition)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statements to be executed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update;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WHILE LOOP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943600" cy="3931920"/>
          </a:xfrm>
          <a:prstGeom prst="roundRect">
            <a:avLst>
              <a:gd name="adj" fmla="val 1860"/>
            </a:avLst>
          </a:prstGeom>
          <a:solidFill>
            <a:srgbClr val="2A2A3C"/>
          </a:solidFill>
          <a:ln w="12700">
            <a:solidFill>
              <a:srgbClr val="3A3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9384"/>
            <a:ext cx="100584" cy="10058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2938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" y="1929384"/>
            <a:ext cx="100584" cy="100584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148840"/>
            <a:ext cx="554126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 = 1;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(i &lt;= 5)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printf("%d\n", i);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i++;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0" y="1783080"/>
            <a:ext cx="2834640" cy="2194560"/>
          </a:xfrm>
          <a:prstGeom prst="roundRect">
            <a:avLst>
              <a:gd name="adj" fmla="val 2500"/>
            </a:avLst>
          </a:prstGeom>
          <a:solidFill>
            <a:srgbClr val="16161F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22592" y="1856232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059168" y="2148840"/>
            <a:ext cx="24323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0" y="4160520"/>
            <a:ext cx="4709160" cy="1554480"/>
          </a:xfrm>
          <a:prstGeom prst="roundRect">
            <a:avLst>
              <a:gd name="adj" fmla="val 5882"/>
            </a:avLst>
          </a:prstGeom>
          <a:solidFill>
            <a:srgbClr val="2A2A3C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43159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86600" y="461772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D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i++ inside the body creates an infinite loop — the condition never becomes false.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DO-WHILE LOOP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Definition &amp; Syntax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exit-controlled loop. The condition is checked after the loop body executes, which guarantees the body runs at least once — regardless of whether the condition is true or false.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5F5F7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6118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programs — show the menu at least once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that must prompt the user at least one time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task that runs once before checking a repeat condition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2A2A3C"/>
          </a:solidFill>
          <a:ln w="12700">
            <a:solidFill>
              <a:srgbClr val="3A3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3952" y="1883664"/>
            <a:ext cx="100584" cy="10058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10" name="Shape 8"/>
          <p:cNvSpPr/>
          <p:nvPr/>
        </p:nvSpPr>
        <p:spPr>
          <a:xfrm>
            <a:off x="6638544" y="188366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6803136" y="1883664"/>
            <a:ext cx="100584" cy="100584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12" name="Text 10"/>
          <p:cNvSpPr/>
          <p:nvPr/>
        </p:nvSpPr>
        <p:spPr>
          <a:xfrm>
            <a:off x="6510528" y="2103120"/>
            <a:ext cx="49011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initialization;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statements to be executed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update;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(condition);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09360" y="42519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don't forget the semicolon after while(condition) — a common beginner mistake.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DO-WHILE LOOP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943600" cy="3931920"/>
          </a:xfrm>
          <a:prstGeom prst="roundRect">
            <a:avLst>
              <a:gd name="adj" fmla="val 1860"/>
            </a:avLst>
          </a:prstGeom>
          <a:solidFill>
            <a:srgbClr val="2A2A3C"/>
          </a:solidFill>
          <a:ln w="12700">
            <a:solidFill>
              <a:srgbClr val="3A3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9384"/>
            <a:ext cx="100584" cy="10058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2938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" y="1929384"/>
            <a:ext cx="100584" cy="100584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148840"/>
            <a:ext cx="554126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 = 1;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printf("%d\n", i);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i++;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while (i &lt;= 5);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0" y="1783080"/>
            <a:ext cx="2834640" cy="2194560"/>
          </a:xfrm>
          <a:prstGeom prst="roundRect">
            <a:avLst>
              <a:gd name="adj" fmla="val 2500"/>
            </a:avLst>
          </a:prstGeom>
          <a:solidFill>
            <a:srgbClr val="16161F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22592" y="1856232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059168" y="2148840"/>
            <a:ext cx="24323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0" y="4160520"/>
            <a:ext cx="4709160" cy="1554480"/>
          </a:xfrm>
          <a:prstGeom prst="roundRect">
            <a:avLst>
              <a:gd name="adj" fmla="val 5882"/>
            </a:avLst>
          </a:prstGeom>
          <a:solidFill>
            <a:srgbClr val="2A2A3C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43159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86600" y="461772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D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the starting condition were false, this body would still run once before exiting.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for vs. while vs. do-while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356616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743200"/>
                <a:gridCol w="274320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3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3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3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do-while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39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checked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body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body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body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executions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used when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Iterations known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Iterations unknown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run ≥ once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 style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init, cond, update together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 outside, update inside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 outside, condition after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NESTED LOOPS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Loop Inside a Loop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inside another loop is a nested loop. The inner loop completes all its iterations for each single iteration of the outer loop.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2A2A3C"/>
          </a:solidFill>
          <a:ln w="12700">
            <a:solidFill>
              <a:srgbClr val="3A3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3072384"/>
            <a:ext cx="100584" cy="10058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307238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3072384"/>
            <a:ext cx="100584" cy="100584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291840"/>
            <a:ext cx="46268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= 1; i &lt;= n; i++)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(j = 1; j &lt;= m; j++)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/* statements */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800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1206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patterns and pyramids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2D arrays / matrices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tables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1691640"/>
            <a:ext cx="5532120" cy="2743200"/>
          </a:xfrm>
          <a:prstGeom prst="roundRect">
            <a:avLst>
              <a:gd name="adj" fmla="val 2667"/>
            </a:avLst>
          </a:prstGeom>
          <a:solidFill>
            <a:srgbClr val="2A2A3C"/>
          </a:solidFill>
          <a:ln w="12700">
            <a:solidFill>
              <a:srgbClr val="3A3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99632" y="1837944"/>
            <a:ext cx="100584" cy="10058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14" name="Shape 12"/>
          <p:cNvSpPr/>
          <p:nvPr/>
        </p:nvSpPr>
        <p:spPr>
          <a:xfrm>
            <a:off x="6364224" y="183794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528816" y="1837944"/>
            <a:ext cx="100584" cy="100584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16" name="Text 14"/>
          <p:cNvSpPr/>
          <p:nvPr/>
        </p:nvSpPr>
        <p:spPr>
          <a:xfrm>
            <a:off x="6236208" y="2057400"/>
            <a:ext cx="512978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= 1; i &lt;= 4; i++)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(j = 1; j &lt;= i; j++)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printf("* ");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printf("\n");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035040" y="4572000"/>
            <a:ext cx="5532120" cy="1737360"/>
          </a:xfrm>
          <a:prstGeom prst="roundRect">
            <a:avLst>
              <a:gd name="adj" fmla="val 3158"/>
            </a:avLst>
          </a:prstGeom>
          <a:solidFill>
            <a:srgbClr val="16161F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4645152"/>
            <a:ext cx="5202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36208" y="4937760"/>
            <a:ext cx="5129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*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* *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* * *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LOOP CONTROL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break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 statement is a jump statement that immediately terminates the loop it is placed in and transfers control to the first statement after the loop, without checking the loop condition again.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F5F5F7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931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a search loop as soon as the target element is found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Exiting early when an error or invalid condition occurs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an intentionally open-ended loop, e.g. while (1), based on a runtime check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03520" cy="2834640"/>
          </a:xfrm>
          <a:prstGeom prst="roundRect">
            <a:avLst>
              <a:gd name="adj" fmla="val 2581"/>
            </a:avLst>
          </a:prstGeom>
          <a:solidFill>
            <a:srgbClr val="2A2A3C"/>
          </a:solidFill>
          <a:ln w="12700">
            <a:solidFill>
              <a:srgbClr val="3A3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1837944"/>
            <a:ext cx="100584" cy="10058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11" name="Shape 9"/>
          <p:cNvSpPr/>
          <p:nvPr/>
        </p:nvSpPr>
        <p:spPr>
          <a:xfrm>
            <a:off x="6638544" y="183794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803136" y="1837944"/>
            <a:ext cx="100584" cy="100584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13" name="Text 11"/>
          <p:cNvSpPr/>
          <p:nvPr/>
        </p:nvSpPr>
        <p:spPr>
          <a:xfrm>
            <a:off x="6510528" y="2057400"/>
            <a:ext cx="490118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= 1; i &lt;= 10; i++)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 == 5)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 ", i);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309360" y="470916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6161F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4782312"/>
            <a:ext cx="49743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10528" y="5074920"/>
            <a:ext cx="4901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1 2 3 4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LOOP CONTROL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continue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continue statement is a jump statement that skips the remaining code in the current iteration and moves control directly to the loop's condition check for the next iteration.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2A2A3C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931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unwanted values, e.g. even numbers or negatives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invalid or incomplete records while processing a list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deeply nested if blocks inside the loop body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03520" cy="2834640"/>
          </a:xfrm>
          <a:prstGeom prst="roundRect">
            <a:avLst>
              <a:gd name="adj" fmla="val 2581"/>
            </a:avLst>
          </a:prstGeom>
          <a:solidFill>
            <a:srgbClr val="2A2A3C"/>
          </a:solidFill>
          <a:ln w="12700">
            <a:solidFill>
              <a:srgbClr val="3A3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1837944"/>
            <a:ext cx="100584" cy="10058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11" name="Shape 9"/>
          <p:cNvSpPr/>
          <p:nvPr/>
        </p:nvSpPr>
        <p:spPr>
          <a:xfrm>
            <a:off x="6638544" y="183794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803136" y="1837944"/>
            <a:ext cx="100584" cy="100584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13" name="Text 11"/>
          <p:cNvSpPr/>
          <p:nvPr/>
        </p:nvSpPr>
        <p:spPr>
          <a:xfrm>
            <a:off x="6510528" y="2057400"/>
            <a:ext cx="490118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= 1; i &lt;= 5; i++)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 == 3)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continue;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 ", i);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309360" y="470916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6161F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4782312"/>
            <a:ext cx="49743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10528" y="5074920"/>
            <a:ext cx="4901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1 2 4 5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PRACTICAL PROGRAMS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Putting It Together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9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First N Natural Numbers  (for loop)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2A2A3C"/>
          </a:solidFill>
          <a:ln w="12700">
            <a:solidFill>
              <a:srgbClr val="3A3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49424"/>
            <a:ext cx="100584" cy="10058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224942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2249424"/>
            <a:ext cx="100584" cy="100584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468880"/>
            <a:ext cx="499262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n, i, sum = 0;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printf("Enter n: ");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scanf("%d", &amp;n);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 = 1; i &lt;= n; i++)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sum = sum + i;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printf("Sum = %d\n", sum);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169164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 of N  (while loop)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210312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2A2A3C"/>
          </a:solidFill>
          <a:ln w="12700">
            <a:solidFill>
              <a:srgbClr val="3A3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73952" y="2249424"/>
            <a:ext cx="100584" cy="10058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13" name="Shape 11"/>
          <p:cNvSpPr/>
          <p:nvPr/>
        </p:nvSpPr>
        <p:spPr>
          <a:xfrm>
            <a:off x="6638544" y="224942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6803136" y="2249424"/>
            <a:ext cx="100584" cy="100584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15" name="Text 13"/>
          <p:cNvSpPr/>
          <p:nvPr/>
        </p:nvSpPr>
        <p:spPr>
          <a:xfrm>
            <a:off x="6510528" y="2468880"/>
            <a:ext cx="485546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n, i = 1;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long fact = 1;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printf("Enter a number: ");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scanf("%d", &amp;n);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(i &lt;= n)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fact = fact * i;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i++;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printf("Factorial = %ld\n", fact);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1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029200" cy="5029200"/>
          </a:xfrm>
          <a:prstGeom prst="ellipse">
            <a:avLst/>
          </a:prstGeom>
          <a:ln w="25400">
            <a:solidFill>
              <a:srgbClr val="3434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4114800"/>
            <a:ext cx="4206240" cy="4206240"/>
          </a:xfrm>
          <a:prstGeom prst="ellipse">
            <a:avLst/>
          </a:prstGeom>
          <a:ln w="25400">
            <a:solidFill>
              <a:srgbClr val="89DDFF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640080" y="24688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E8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D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 •  while  •  do-while  —  the three ways C repeats itself.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2026-08-18T07:23:45Z</dcterms:created>
  <dcterms:modified xsi:type="dcterms:W3CDTF">2026-08-18T07:23:45Z</dcterms:modified>
</cp:coreProperties>
</file>