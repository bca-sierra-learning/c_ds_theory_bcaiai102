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FUNDAMENTALS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21945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Statements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33375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· if–else · nested if · else-if ladder · switch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Directing the Flow of Program Logic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5074920"/>
            <a:ext cx="9144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5074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91640" y="5303520"/>
            <a:ext cx="45720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194560" y="4754880"/>
            <a:ext cx="1188720" cy="1097280"/>
          </a:xfrm>
          <a:prstGeom prst="diamond">
            <a:avLst/>
          </a:prstGeom>
          <a:solidFill>
            <a:srgbClr val="E8A93B"/>
          </a:solidFill>
          <a:ln/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286000" y="475488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83280" y="5303520"/>
            <a:ext cx="45720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886200" y="507492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141B47"/>
          </a:solidFill>
          <a:ln/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931920" y="5074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action()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886200" y="5056632"/>
            <a:ext cx="1188720" cy="493776"/>
          </a:xfrm>
          <a:prstGeom prst="rect">
            <a:avLst/>
          </a:prstGeom>
          <a:ln w="127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47120" cy="749808"/>
          </a:xfrm>
          <a:prstGeom prst="roundRect">
            <a:avLst>
              <a:gd name="adj" fmla="val 9756"/>
            </a:avLst>
          </a:prstGeom>
          <a:solidFill>
            <a:srgbClr val="EEF3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737360" y="155448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Statement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120640" y="1554480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Executing code only when a condition holds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112471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6888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737360" y="246888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if–else Statement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120640" y="2468880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between two alternative paths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11247120" cy="749808"/>
          </a:xfrm>
          <a:prstGeom prst="roundRect">
            <a:avLst>
              <a:gd name="adj" fmla="val 9756"/>
            </a:avLst>
          </a:prstGeom>
          <a:solidFill>
            <a:srgbClr val="EEF3F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8328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737360" y="338328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if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120640" y="3383280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inside another decision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4297680"/>
            <a:ext cx="112471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9768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737360" y="429768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else-if Ladder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120640" y="4297680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a chain of exclusive conditions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57200" y="5212080"/>
            <a:ext cx="11247120" cy="749808"/>
          </a:xfrm>
          <a:prstGeom prst="roundRect">
            <a:avLst>
              <a:gd name="adj" fmla="val 9756"/>
            </a:avLst>
          </a:prstGeom>
          <a:solidFill>
            <a:srgbClr val="EEF3F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21208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737360" y="521208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Statement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120640" y="5212080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one variable against many cases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Control Statements?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4709160"/>
          </a:xfrm>
          <a:prstGeom prst="roundRect">
            <a:avLst>
              <a:gd name="adj" fmla="val 1553"/>
            </a:avLst>
          </a:prstGeom>
          <a:solidFill>
            <a:srgbClr val="EEF3F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276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39112"/>
            <a:ext cx="4937760" cy="399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506B"/>
                </a:solidFill>
              </a:rPr>
              <a:t>By default, a program runs top to bottom, one statement after another — with no decisions.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506B"/>
                </a:solidFill>
              </a:rPr>
              <a:t>Real tasks require different actions depending on data: a grade, a password, a bank balance, a sensor reading.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506B"/>
                </a:solidFill>
              </a:rPr>
              <a:t>Control statements let a program branch: run one block of code or another, based on a condition.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506B"/>
                </a:solidFill>
              </a:rPr>
              <a:t>They are the building blocks of decision-making — every app, from ATMs to recommendation engines, relies on them.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48640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92240" y="171907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7190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0" y="17373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Analogy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46888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6B"/>
                </a:solidFill>
              </a:rPr>
              <a:t>“If it's raining, take an umbrella; otherwise, wear sunglasses.”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6B"/>
                </a:solidFill>
              </a:rPr>
              <a:t>This one sentence has a condition (is it raining?) and two possible actions.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6B"/>
                </a:solidFill>
              </a:rPr>
              <a:t>Control statements let code make the same kind of choice.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388620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40507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Tools We'll Learn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4462272"/>
            <a:ext cx="49377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506B"/>
                </a:solidFill>
              </a:rPr>
              <a:t>if — act only when a condition is true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506B"/>
                </a:solidFill>
              </a:rPr>
              <a:t>if–else — pick between two actions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506B"/>
                </a:solidFill>
              </a:rPr>
              <a:t>nested if / else-if — handle multiple conditions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506B"/>
                </a:solidFill>
              </a:rPr>
              <a:t>switch — cleanly match one value against many options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3886200"/>
            <a:ext cx="5486400" cy="2286000"/>
          </a:xfrm>
          <a:prstGeom prst="roundRect">
            <a:avLst>
              <a:gd name="adj" fmla="val 3200"/>
            </a:avLst>
          </a:prstGeom>
          <a:ln w="1905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Statement — Syntax &amp;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141B47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270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(condition)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executes only when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condition is true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continues here either way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88620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EEF3F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0507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462272"/>
            <a:ext cx="48463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506B"/>
                </a:solidFill>
              </a:rPr>
              <a:t>condition must evaluate to true or false (boolean).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506B"/>
                </a:solidFill>
              </a:rPr>
              <a:t>The block runs ONLY when the condition is true.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506B"/>
                </a:solidFill>
              </a:rPr>
              <a:t>If false, the block is skipped entirely — no error, program just moves on.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506B"/>
                </a:solidFill>
              </a:rPr>
              <a:t>Braces {} are optional for a single statement, but recommended for clarity.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417320"/>
            <a:ext cx="5577840" cy="4754880"/>
          </a:xfrm>
          <a:prstGeom prst="roundRect">
            <a:avLst>
              <a:gd name="adj" fmla="val 1923"/>
            </a:avLst>
          </a:prstGeom>
          <a:solidFill>
            <a:srgbClr val="EEF3FC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5087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OF EXECUTION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83880" y="1920240"/>
            <a:ext cx="146304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8183880" y="1920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15400" y="2423160"/>
            <a:ext cx="0" cy="36576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543800" y="2788920"/>
            <a:ext cx="2743200" cy="1143000"/>
          </a:xfrm>
          <a:prstGeom prst="diamond">
            <a:avLst/>
          </a:prstGeom>
          <a:solidFill>
            <a:srgbClr val="E8A93B"/>
          </a:solidFill>
          <a:ln/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635240" y="278892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true?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15400" y="3931920"/>
            <a:ext cx="0" cy="36576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052560" y="39593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543800" y="4297680"/>
            <a:ext cx="2743200" cy="640080"/>
          </a:xfrm>
          <a:prstGeom prst="roundRect">
            <a:avLst>
              <a:gd name="adj" fmla="val 8571"/>
            </a:avLst>
          </a:prstGeom>
          <a:solidFill>
            <a:srgbClr val="141B47"/>
          </a:solidFill>
          <a:ln/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89520" y="42976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 if-block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915400" y="4937760"/>
            <a:ext cx="0" cy="64008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287000" y="3355848"/>
            <a:ext cx="777240" cy="2542032"/>
          </a:xfrm>
          <a:prstGeom prst="line">
            <a:avLst/>
          </a:prstGeom>
          <a:noFill/>
          <a:ln w="25400">
            <a:solidFill>
              <a:srgbClr val="B03A2E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0652760" y="4251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83880" y="5577840"/>
            <a:ext cx="146304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5" name="Text 23"/>
          <p:cNvSpPr/>
          <p:nvPr/>
        </p:nvSpPr>
        <p:spPr>
          <a:xfrm>
            <a:off x="8183880" y="5577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Statement — Example &amp; Real-World Use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0" cy="2834640"/>
          </a:xfrm>
          <a:prstGeom prst="roundRect">
            <a:avLst>
              <a:gd name="adj" fmla="val 2581"/>
            </a:avLst>
          </a:prstGeom>
          <a:solidFill>
            <a:srgbClr val="141B47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270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(Java / C-style)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age = 20;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(age &gt;= 18)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System.out.println("Eligible to vote");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 Eligible to vote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438912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EEF3F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5537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965192"/>
            <a:ext cx="4937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506B"/>
                </a:solidFill>
              </a:rPr>
              <a:t>age &gt;= 18 evaluates to true, so the print statement executes.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506B"/>
                </a:solidFill>
              </a:rPr>
              <a:t>If age were 15, the condition is false and nothing prints — execution simply continues after the block.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167335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673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315200" y="16916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Voter / Age Eligibility Checks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42316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6B"/>
                </a:solidFill>
              </a:rPr>
              <a:t>Websites checking if a user is 18+ before allowing sign-up.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6B"/>
                </a:solidFill>
              </a:rPr>
              <a:t>Apps unlocking a feature only if a subscription is active.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393192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92240" y="418795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41879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315200" y="42062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&amp; Alerts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49377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6B"/>
                </a:solidFill>
              </a:rPr>
              <a:t>Showing a low-battery warning only if battery &lt; 15%.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6B"/>
                </a:solidFill>
              </a:rPr>
              <a:t>Displaying an overspeed alert only if speed &gt; limit.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if–else Statement — Syntax &amp;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141B47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270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(condition)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runs if condition is true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runs if condition is false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88620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EEF3F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0507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462272"/>
            <a:ext cx="48463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506B"/>
                </a:solidFill>
              </a:rPr>
              <a:t>Exactly one of the two blocks always executes — never both, never neither.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506B"/>
                </a:solidFill>
              </a:rPr>
              <a:t>Use it whenever there are two mutually exclusive outcomes.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506B"/>
                </a:solidFill>
              </a:rPr>
              <a:t>The else block needs no condition of its own — it is the 'everything else' path.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417320"/>
            <a:ext cx="5577840" cy="4754880"/>
          </a:xfrm>
          <a:prstGeom prst="roundRect">
            <a:avLst>
              <a:gd name="adj" fmla="val 1923"/>
            </a:avLst>
          </a:prstGeom>
          <a:solidFill>
            <a:srgbClr val="EEF3FC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5087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OF EXECUTION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83880" y="1874520"/>
            <a:ext cx="146304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8183880" y="1874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15400" y="2331720"/>
            <a:ext cx="0" cy="32004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543800" y="2651760"/>
            <a:ext cx="2743200" cy="1097280"/>
          </a:xfrm>
          <a:prstGeom prst="diamond">
            <a:avLst/>
          </a:prstGeom>
          <a:solidFill>
            <a:srgbClr val="E8A93B"/>
          </a:solidFill>
          <a:ln/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635240" y="26517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true?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 flipH="1">
            <a:off x="6675120" y="3200400"/>
            <a:ext cx="868680" cy="0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6217920" y="2926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287000" y="3200400"/>
            <a:ext cx="1097280" cy="0"/>
          </a:xfrm>
          <a:prstGeom prst="line">
            <a:avLst/>
          </a:prstGeom>
          <a:noFill/>
          <a:ln w="25400">
            <a:solidFill>
              <a:srgbClr val="B03A2E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0652760" y="2926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393192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141B47"/>
          </a:solidFill>
          <a:ln/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72200" y="39319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if-block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469880" y="393192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141B47"/>
          </a:solidFill>
          <a:ln/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515600" y="39319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else-block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040880" y="3200400"/>
            <a:ext cx="0" cy="73152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1384280" y="3200400"/>
            <a:ext cx="0" cy="73152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040880" y="4572000"/>
            <a:ext cx="1737360" cy="100584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H="1">
            <a:off x="9052560" y="4572000"/>
            <a:ext cx="2331720" cy="100584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183880" y="5577840"/>
            <a:ext cx="146304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0" name="Text 28"/>
          <p:cNvSpPr/>
          <p:nvPr/>
        </p:nvSpPr>
        <p:spPr>
          <a:xfrm>
            <a:off x="8183880" y="5577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if–else — Example &amp; Real-World Use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0" cy="2834640"/>
          </a:xfrm>
          <a:prstGeom prst="roundRect">
            <a:avLst>
              <a:gd name="adj" fmla="val 2581"/>
            </a:avLst>
          </a:prstGeom>
          <a:solidFill>
            <a:srgbClr val="141B47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270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(Java / C-style)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5029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marks = 42;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(marks &gt;= 40)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System.out.println("Pass");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System.out.println("Fail");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438912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EEF3F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5537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965192"/>
            <a:ext cx="4937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506B"/>
                </a:solidFill>
              </a:rPr>
              <a:t>marks &gt;= 40 is true → “Pass” is printed and the else block is skipped.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506B"/>
                </a:solidFill>
              </a:rPr>
              <a:t>If marks were 30, the condition fails → only “Fail” would print.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167335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673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315200" y="16916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Payment Systems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42316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6B"/>
                </a:solidFill>
              </a:rPr>
              <a:t>Password correct → grant access; else → show an error.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6B"/>
                </a:solidFill>
              </a:rPr>
              <a:t>Sufficient balance → approve transaction; else → decline it.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393192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92240" y="418795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41879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315200" y="42062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Even/Odd &amp; Pass/Fail Logic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49377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6B"/>
                </a:solidFill>
              </a:rPr>
              <a:t>Number is even → one path; otherwise → the other.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6B"/>
                </a:solidFill>
              </a:rPr>
              <a:t>Any two-outcome decision: on/off, valid/invalid, in-stock/out-of-stock.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Nested if — Syntax &amp;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141B47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270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(outerCondition)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(innerCondition)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both true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outer true, inner false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88620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EEF3F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0507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462272"/>
            <a:ext cx="48463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506B"/>
                </a:solidFill>
              </a:rPr>
              <a:t>An if (or if–else) placed inside another if's block.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506B"/>
                </a:solidFill>
              </a:rPr>
              <a:t>The inner condition is checked only when the outer condition is already true.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506B"/>
                </a:solidFill>
              </a:rPr>
              <a:t>Used when a decision genuinely depends on an earlier decision.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506B"/>
                </a:solidFill>
              </a:rPr>
              <a:t>Deep nesting can hurt readability — else-if or logical AND (&amp;&amp;) is often clearer.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417320"/>
            <a:ext cx="5577840" cy="4754880"/>
          </a:xfrm>
          <a:prstGeom prst="roundRect">
            <a:avLst>
              <a:gd name="adj" fmla="val 1923"/>
            </a:avLst>
          </a:prstGeom>
          <a:solidFill>
            <a:srgbClr val="EEF3FC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5087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OF EXECUTION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0" y="1463040"/>
            <a:ext cx="1280160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0" y="14630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0" y="1847088"/>
            <a:ext cx="0" cy="22860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766560" y="2075688"/>
            <a:ext cx="2377440" cy="822960"/>
          </a:xfrm>
          <a:prstGeom prst="diamond">
            <a:avLst/>
          </a:prstGeom>
          <a:solidFill>
            <a:srgbClr val="E8A93B"/>
          </a:solidFill>
          <a:ln/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0" y="207568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condition?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44000" y="2487168"/>
            <a:ext cx="2057400" cy="0"/>
          </a:xfrm>
          <a:prstGeom prst="line">
            <a:avLst/>
          </a:prstGeom>
          <a:noFill/>
          <a:ln w="25400">
            <a:solidFill>
              <a:srgbClr val="B03A2E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372600" y="2286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1201400" y="2487168"/>
            <a:ext cx="0" cy="3090672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955280" y="2898648"/>
            <a:ext cx="0" cy="256032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8092440" y="2907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66560" y="3154680"/>
            <a:ext cx="2377440" cy="822960"/>
          </a:xfrm>
          <a:prstGeom prst="diamond">
            <a:avLst/>
          </a:prstGeom>
          <a:solidFill>
            <a:srgbClr val="E8A93B"/>
          </a:solidFill>
          <a:ln/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58000" y="31546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condition?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144000" y="3566160"/>
            <a:ext cx="914400" cy="0"/>
          </a:xfrm>
          <a:prstGeom prst="line">
            <a:avLst/>
          </a:prstGeom>
          <a:noFill/>
          <a:ln w="25400">
            <a:solidFill>
              <a:srgbClr val="B03A2E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9326880" y="33558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058400" y="3566160"/>
            <a:ext cx="0" cy="114300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326880" y="470916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141B47"/>
          </a:solidFill>
          <a:ln/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372600" y="47091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outer only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955280" y="3977640"/>
            <a:ext cx="0" cy="32004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8092440" y="3977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49440" y="429768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141B47"/>
          </a:solidFill>
          <a:ln/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995160" y="4297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both true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315200" y="5577840"/>
            <a:ext cx="1280160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0" y="55778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955280" y="4800600"/>
            <a:ext cx="228600" cy="77724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 flipH="1">
            <a:off x="8458200" y="5212080"/>
            <a:ext cx="1600200" cy="45720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Nested if — Example &amp; Real-World Use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0" cy="3017520"/>
          </a:xfrm>
          <a:prstGeom prst="roundRect">
            <a:avLst>
              <a:gd name="adj" fmla="val 2424"/>
            </a:avLst>
          </a:prstGeom>
          <a:solidFill>
            <a:srgbClr val="141B47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270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(Java / C-style)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50292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age = 25; boolean hasLicense = true;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(age &gt;= 18)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(hasLicense)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System.out.println("Can drive");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System.out.println("Get a license first");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457200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EEF3F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7365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5148072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506B"/>
                </a:solidFill>
              </a:rPr>
              <a:t>Outer check (age &gt;= 18) passes, so the inner check runs.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506B"/>
                </a:solidFill>
              </a:rPr>
              <a:t>Only when BOTH are true does “Can drive” print.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167335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673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315200" y="16916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Eligibility Checks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42316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6B"/>
                </a:solidFill>
              </a:rPr>
              <a:t>Loan approval: check income first, then check credit score.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6B"/>
                </a:solidFill>
              </a:rPr>
              <a:t>Job application: check qualification, then check experience.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393192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92240" y="418795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41879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315200" y="42062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Access Control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49377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6B"/>
                </a:solidFill>
              </a:rPr>
              <a:t>Is user logged in? → then, does user have admin rights?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6B"/>
                </a:solidFill>
              </a:rPr>
              <a:t>E-commerce checkout: item in stock? → then, is payment valid?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else-if Ladder — Syntax &amp;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141B47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270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(cond1)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runs if cond1 true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(cond2)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runs if cond1 false, cond2 true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(cond3)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none matched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88620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EEF3F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0507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462272"/>
            <a:ext cx="48463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506B"/>
                </a:solidFill>
              </a:rPr>
              <a:t>Conditions are tested top to bottom; the FIRST true one runs, rest are skipped.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506B"/>
                </a:solidFill>
              </a:rPr>
              <a:t>Ideal for ranges or mutually exclusive categories (grades, tax slabs, tiers).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506B"/>
                </a:solidFill>
              </a:rPr>
              <a:t>The final else is optional — a catch-all for anything not matched above.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417320"/>
            <a:ext cx="5577840" cy="4754880"/>
          </a:xfrm>
          <a:prstGeom prst="roundRect">
            <a:avLst>
              <a:gd name="adj" fmla="val 1923"/>
            </a:avLst>
          </a:prstGeom>
          <a:solidFill>
            <a:srgbClr val="EEF3FC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5087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OF EXECUTION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52360" y="1554480"/>
            <a:ext cx="1371600" cy="4114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7452360" y="1554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965960"/>
            <a:ext cx="0" cy="22860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949440" y="2194560"/>
            <a:ext cx="2377440" cy="777240"/>
          </a:xfrm>
          <a:prstGeom prst="diamond">
            <a:avLst/>
          </a:prstGeom>
          <a:solidFill>
            <a:srgbClr val="E8A93B"/>
          </a:solidFill>
          <a:ln/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040880" y="21945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cond1?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38160" y="2971800"/>
            <a:ext cx="0" cy="22860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949440" y="3200400"/>
            <a:ext cx="2377440" cy="777240"/>
          </a:xfrm>
          <a:prstGeom prst="diamond">
            <a:avLst/>
          </a:prstGeom>
          <a:solidFill>
            <a:srgbClr val="E8A93B"/>
          </a:solidFill>
          <a:ln/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040880" y="32004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cond2?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38160" y="3977640"/>
            <a:ext cx="0" cy="22860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949440" y="4206240"/>
            <a:ext cx="2377440" cy="777240"/>
          </a:xfrm>
          <a:prstGeom prst="diamond">
            <a:avLst/>
          </a:prstGeom>
          <a:solidFill>
            <a:srgbClr val="E8A93B"/>
          </a:solidFill>
          <a:ln/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040880" y="42062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cond3?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138160" y="4983480"/>
            <a:ext cx="0" cy="22860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7360920" y="50017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49440" y="5212080"/>
            <a:ext cx="2377440" cy="594360"/>
          </a:xfrm>
          <a:prstGeom prst="roundRect">
            <a:avLst>
              <a:gd name="adj" fmla="val 9231"/>
            </a:avLst>
          </a:prstGeom>
          <a:solidFill>
            <a:srgbClr val="141B47"/>
          </a:solidFill>
          <a:ln/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5160" y="52120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else-block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326880" y="2587752"/>
            <a:ext cx="365760" cy="0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692640" y="2350008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141B47"/>
          </a:solidFill>
          <a:ln/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738360" y="23500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 1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326880" y="3593592"/>
            <a:ext cx="365760" cy="0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692640" y="3355848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141B47"/>
          </a:solidFill>
          <a:ln/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738360" y="33558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 2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326880" y="4599432"/>
            <a:ext cx="365760" cy="0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692640" y="4361688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141B47"/>
          </a:solidFill>
          <a:ln/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738360" y="43616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 3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464040" y="20756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464040" y="3081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464040" y="4087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else-if Ladder — Example &amp; Real-World Use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0" cy="3200400"/>
          </a:xfrm>
          <a:prstGeom prst="roundRect">
            <a:avLst>
              <a:gd name="adj" fmla="val 2286"/>
            </a:avLst>
          </a:prstGeom>
          <a:solidFill>
            <a:srgbClr val="141B47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270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(Java / C-style)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50292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marks = 72;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(marks &gt;= 90) grade = 'A';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(marks &gt;= 75) grade = 'B';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(marks &gt;= 60) grade = 'C';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grade = 'D';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grade = 'C'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475488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EEF3F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9194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533095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506B"/>
                </a:solidFill>
              </a:rPr>
              <a:t>72 fails the first two checks, but passes marks &gt;= 60 → grade becomes 'C', and the ladder stops there.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167335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673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315200" y="16916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&amp; Rating Systems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42316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6B"/>
                </a:solidFill>
              </a:rPr>
              <a:t>Converting numeric scores into letter grades or star ratings.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6B"/>
                </a:solidFill>
              </a:rPr>
              <a:t>Classifying BMI, credit scores, or exam percentiles into bands.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393192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92240" y="418795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41879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315200" y="42062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Pricing &amp; Tax Slabs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49377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6B"/>
                </a:solidFill>
              </a:rPr>
              <a:t>Income tax slabs applied based on income range.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6B"/>
                </a:solidFill>
              </a:rPr>
              <a:t>Shipping cost tiers based on order weight or distance.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 Statement — Syntax &amp;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141B47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270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(expression)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value1: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code; break;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value2: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code; break;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code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88620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EEF3F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0507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462272"/>
            <a:ext cx="48463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506B"/>
                </a:solidFill>
              </a:rPr>
              <a:t>expression is compared against each case value for an exact match.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506B"/>
                </a:solidFill>
              </a:rPr>
              <a:t>break exits the switch; without it, execution 'falls through' into the next case.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506B"/>
                </a:solidFill>
              </a:rPr>
              <a:t>default runs when no case matches — similar to a final else.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506B"/>
                </a:solidFill>
              </a:rPr>
              <a:t>Cleaner than a long else-if ladder when checking ONE variable against many fixed values.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417320"/>
            <a:ext cx="5577840" cy="4754880"/>
          </a:xfrm>
          <a:prstGeom prst="roundRect">
            <a:avLst>
              <a:gd name="adj" fmla="val 1923"/>
            </a:avLst>
          </a:prstGeom>
          <a:solidFill>
            <a:srgbClr val="EEF3FC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5087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OF EXECUTION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35240" y="1554480"/>
            <a:ext cx="2560320" cy="548640"/>
          </a:xfrm>
          <a:prstGeom prst="roundRect">
            <a:avLst>
              <a:gd name="adj" fmla="val 10000"/>
            </a:avLst>
          </a:prstGeom>
          <a:solidFill>
            <a:srgbClr val="141B47"/>
          </a:solidFill>
          <a:ln/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80960" y="1554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switch(expr)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 flipH="1">
            <a:off x="7063740" y="2103120"/>
            <a:ext cx="1851660" cy="50292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515100" y="2606040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E8A93B"/>
          </a:solidFill>
          <a:ln/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60820" y="26060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1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063740" y="3108960"/>
            <a:ext cx="0" cy="27432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515100" y="3383280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141B47"/>
          </a:solidFill>
          <a:ln/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60820" y="3383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 flipH="1">
            <a:off x="8298180" y="2103120"/>
            <a:ext cx="617220" cy="50292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749540" y="2606040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E8A93B"/>
          </a:solidFill>
          <a:ln/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95260" y="26060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2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298180" y="3108960"/>
            <a:ext cx="0" cy="27432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749540" y="3383280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141B47"/>
          </a:solidFill>
          <a:ln/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95260" y="3383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915400" y="2103120"/>
            <a:ext cx="617220" cy="50292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983980" y="2606040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E8A93B"/>
          </a:solidFill>
          <a:ln/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029700" y="26060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3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532620" y="3108960"/>
            <a:ext cx="0" cy="27432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983980" y="3383280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141B47"/>
          </a:solidFill>
          <a:ln/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029700" y="3383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915400" y="2103120"/>
            <a:ext cx="1851660" cy="502920"/>
          </a:xfrm>
          <a:prstGeom prst="line">
            <a:avLst/>
          </a:prstGeom>
          <a:noFill/>
          <a:ln w="25400">
            <a:solidFill>
              <a:srgbClr val="B03A2E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10081260" y="2221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218420" y="2606040"/>
            <a:ext cx="1097280" cy="1234440"/>
          </a:xfrm>
          <a:prstGeom prst="roundRect">
            <a:avLst>
              <a:gd name="adj" fmla="val 5000"/>
            </a:avLst>
          </a:prstGeom>
          <a:solidFill>
            <a:srgbClr val="141B47"/>
          </a:solidFill>
          <a:ln/>
          <a:effectLst>
            <a:outerShdw sx="100000" sy="100000" kx="0" ky="0" algn="bl" rotWithShape="0" blurRad="50800" dist="25400" dir="540000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0264140" y="2606040"/>
            <a:ext cx="1005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229600" y="4343400"/>
            <a:ext cx="1371600" cy="4114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0" y="4343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063740" y="3840480"/>
            <a:ext cx="1645920" cy="50292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298180" y="3840480"/>
            <a:ext cx="548640" cy="50292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H="1">
            <a:off x="8983980" y="3840480"/>
            <a:ext cx="548640" cy="50292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H="1">
            <a:off x="9121140" y="3840480"/>
            <a:ext cx="1645920" cy="50292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6400800" y="4937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matching case runs — break exits immediately after.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 — Example &amp; Real-World Use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0" cy="3291840"/>
          </a:xfrm>
          <a:prstGeom prst="roundRect">
            <a:avLst>
              <a:gd name="adj" fmla="val 2222"/>
            </a:avLst>
          </a:prstGeom>
          <a:solidFill>
            <a:srgbClr val="141B47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270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(Java / C-style)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50292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day = 3;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(day)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1: System.out.println("Mon"); break;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2: System.out.println("Tue"); break;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3: System.out.println("Wed"); break;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default: System.out.println("Invalid");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E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 Wed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484632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EEF3F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50109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542239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506B"/>
                </a:solidFill>
              </a:rPr>
              <a:t>day matches case 3 exactly → prints “Wed”, then break exits the switch immediately.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167335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673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315200" y="16916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 Programs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42316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6B"/>
                </a:solidFill>
              </a:rPr>
              <a:t>ATM menus: withdraw / deposit / check balance / exit.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6B"/>
                </a:solidFill>
              </a:rPr>
              <a:t>App navigation bars routing to different screens by tab index.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393192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92240" y="418795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41879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315200" y="42062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Fixed-Value Matching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49377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6B"/>
                </a:solidFill>
              </a:rPr>
              <a:t>Days of the week, months, traffic-light colors, HTTP status codes.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6B"/>
                </a:solidFill>
              </a:rPr>
              <a:t>Game controllers mapping specific button codes to actions.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One Should You Use?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3774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508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834640" y="1508760"/>
            <a:ext cx="42976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2971800" y="15087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When…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0" y="1508760"/>
            <a:ext cx="44805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269480" y="15087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Example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2377440" cy="841248"/>
          </a:xfrm>
          <a:prstGeom prst="rect">
            <a:avLst/>
          </a:prstGeom>
          <a:solidFill>
            <a:srgbClr val="EEF3FC"/>
          </a:solidFill>
          <a:ln w="9525">
            <a:solidFill>
              <a:srgbClr val="DCE4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965960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834640" y="1965960"/>
            <a:ext cx="4297680" cy="841248"/>
          </a:xfrm>
          <a:prstGeom prst="rect">
            <a:avLst/>
          </a:prstGeom>
          <a:solidFill>
            <a:srgbClr val="EEF3FC"/>
          </a:solidFill>
          <a:ln w="9525">
            <a:solidFill>
              <a:srgbClr val="DCE4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71800" y="1965960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optional action, no alternative needed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132320" y="1965960"/>
            <a:ext cx="4480560" cy="841248"/>
          </a:xfrm>
          <a:prstGeom prst="rect">
            <a:avLst/>
          </a:prstGeom>
          <a:solidFill>
            <a:srgbClr val="EEF3FC"/>
          </a:solidFill>
          <a:ln w="9525">
            <a:solidFill>
              <a:srgbClr val="DCE4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69480" y="1965960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warning if stock is low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2807208"/>
            <a:ext cx="237744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807208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if–else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834640" y="2807208"/>
            <a:ext cx="429768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71800" y="2807208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TWO mutually exclusive outcomes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132320" y="2807208"/>
            <a:ext cx="448056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69480" y="2807208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Fail, Approve / Reject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3648456"/>
            <a:ext cx="2377440" cy="841248"/>
          </a:xfrm>
          <a:prstGeom prst="rect">
            <a:avLst/>
          </a:prstGeom>
          <a:solidFill>
            <a:srgbClr val="EEF3FC"/>
          </a:solidFill>
          <a:ln w="9525">
            <a:solidFill>
              <a:srgbClr val="DCE4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648456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if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834640" y="3648456"/>
            <a:ext cx="4297680" cy="841248"/>
          </a:xfrm>
          <a:prstGeom prst="rect">
            <a:avLst/>
          </a:prstGeom>
          <a:solidFill>
            <a:srgbClr val="EEF3FC"/>
          </a:solidFill>
          <a:ln w="9525">
            <a:solidFill>
              <a:srgbClr val="DCE4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71800" y="3648456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depends on an earlier decision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132320" y="3648456"/>
            <a:ext cx="4480560" cy="841248"/>
          </a:xfrm>
          <a:prstGeom prst="rect">
            <a:avLst/>
          </a:prstGeom>
          <a:solidFill>
            <a:srgbClr val="EEF3FC"/>
          </a:solidFill>
          <a:ln w="9525">
            <a:solidFill>
              <a:srgbClr val="DCE4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9480" y="3648456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check: income, then credit score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57200" y="4489704"/>
            <a:ext cx="237744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489704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else-if ladder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834640" y="4489704"/>
            <a:ext cx="429768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71800" y="4489704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ranges or exclusive conditions on the SAME variable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132320" y="4489704"/>
            <a:ext cx="448056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69480" y="4489704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scale, tax slabs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57200" y="5330952"/>
            <a:ext cx="2377440" cy="841248"/>
          </a:xfrm>
          <a:prstGeom prst="rect">
            <a:avLst/>
          </a:prstGeom>
          <a:solidFill>
            <a:srgbClr val="EEF3FC"/>
          </a:solidFill>
          <a:ln w="9525">
            <a:solidFill>
              <a:srgbClr val="DCE4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5330952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834640" y="5330952"/>
            <a:ext cx="4297680" cy="841248"/>
          </a:xfrm>
          <a:prstGeom prst="rect">
            <a:avLst/>
          </a:prstGeom>
          <a:solidFill>
            <a:srgbClr val="EEF3FC"/>
          </a:solidFill>
          <a:ln w="9525">
            <a:solidFill>
              <a:srgbClr val="DCE4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71800" y="5330952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variable matched against many FIXED, discrete values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132320" y="5330952"/>
            <a:ext cx="4480560" cy="841248"/>
          </a:xfrm>
          <a:prstGeom prst="rect">
            <a:avLst/>
          </a:prstGeom>
          <a:solidFill>
            <a:srgbClr val="EEF3FC"/>
          </a:solidFill>
          <a:ln w="9525">
            <a:solidFill>
              <a:srgbClr val="DCE4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69480" y="5330952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options, day of week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Statements, Summarized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828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0" y="1828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code conditionally — the simplest form of decision-making.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715768"/>
            <a:ext cx="457200" cy="457200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6700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if–else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26700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exactly one of two paths executes.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557016"/>
            <a:ext cx="457200" cy="457200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51129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if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57600" y="3511296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decisions when one choice depends on another.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398264"/>
            <a:ext cx="457200" cy="457200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398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435254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else-if ladder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57600" y="4352544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Cleanly checks a sequence of ranges or conditions.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5239512"/>
            <a:ext cx="457200" cy="457200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239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51937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57600" y="519379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Efficiently matches one value against many fixed cases.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6263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tip: trace through each example by hand, then modify the conditions and predict the output before running the code.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2026-07-29T05:44:00Z</dcterms:created>
  <dcterms:modified xsi:type="dcterms:W3CDTF">2026-07-29T05:44:00Z</dcterms:modified>
</cp:coreProperties>
</file>