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learn how to group related data of different types into one unit. Quick revision first: what are int, float and char, and what does an array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how they would store roll number, name and marks for 60 students. Let them notice that int, char array and float can’t go into one array because an array needs one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structure is a user-defined data type: we create a new type of our own. The variables inside it are called members or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a real ID card if possible. The printed layout is the same for everyone, that is the structure definition. Each student’s own card is a structure variable. Each field on it is a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yes means make a structure. Note Date and Point: same types, but d.month is clearer than d[1], so a structure still wins. Don’t make a structure for one value (use a variable) or a list of the same kind of value like 50 marks (use an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compile error here is the missing semicolon after the closing brace. Point to it on the slide. Compare to the blank ID card design: it describes the fields but is not a real card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struct student needs at least 4 + 20 + 4 = 28 bytes. Show sizeof(struct student) if time permits; the compiler may add padding, so it can print a bit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 names under each box are exactly what you type in code to reach that value. Changing s1.marks does not change s2.marks: each variable has its own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s2, name is not given, so it becomes an empty string. Designated initializers (.roll =) work in all modern compilers (C99 and later). If students ask: after declaring, fill members one by one, s5.roll = 105; and strcpy(s5.name, "Kiran");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scanf, numbers need &amp; before s1.roll, but a char array name does not. &amp;s1.roll means the address of s1.roll, because the dot is applied first. strcpy needs #include &lt;string.h&gt;.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#include &lt;stdio.h&gt; at the top when typing it in. Sample run: input 102 Ravi 91 prints “Asha: 89.5” and “Ravi: 91.0”. The full version in the handout also finds the topper by comparing s1.marks and s2.marks.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mention: values in braces must follow the definition’s order; you cannot give values inside the definition itself (int roll = 0; inside struct is wrong); and scanf needs &amp; for number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an array holds many values of one type reached by index; a structure holds different types reached by name. 2: No, only when a variable is declared. 3: the dot operator. 4: 0.0 (and name is an empty string). 5: the book, because its details are different types describing one thing; 60 marks is an array. Bugs: missing semicolon after the closing brace; point p1 must be struct point p1; point.x must be p1.x.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42"/>
            <a:ext cx="10566400" cy="502885"/>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42"/>
            <a:ext cx="10566400" cy="502885"/>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47270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8A4B"/>
                </a:solidFill>
                <a:latin typeface="Rubik" pitchFamily="34" charset="0"/>
                <a:ea typeface="Rubik" pitchFamily="34" charset="-122"/>
                <a:cs typeface="Rubik" pitchFamily="34" charset="-120"/>
              </a:rPr>
              <a:t>C PROGRAMMING · USER-DEFINED TYPES</a:t>
            </a:r>
            <a:endParaRPr lang="en-US" sz="1200" dirty="0"/>
          </a:p>
        </p:txBody>
      </p:sp>
      <p:sp>
        <p:nvSpPr>
          <p:cNvPr id="3" name="Text 1"/>
          <p:cNvSpPr/>
          <p:nvPr>
            <p:ph type="title"/>
          </p:nvPr>
        </p:nvSpPr>
        <p:spPr>
          <a:xfrm>
            <a:off x="812800" y="294005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Structures in C</a:t>
            </a:r>
            <a:endParaRPr lang="en-US" sz="6000" dirty="0"/>
          </a:p>
        </p:txBody>
      </p:sp>
      <p:sp>
        <p:nvSpPr>
          <p:cNvPr id="4" name="Text 2"/>
          <p:cNvSpPr/>
          <p:nvPr/>
        </p:nvSpPr>
        <p:spPr>
          <a:xfrm>
            <a:off x="812800" y="3994150"/>
            <a:ext cx="10883392" cy="416542"/>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FD0E6"/>
                </a:solidFill>
                <a:latin typeface="JetBrains Mono" pitchFamily="49" charset="0"/>
                <a:ea typeface="JetBrains Mono" pitchFamily="49" charset="-122"/>
                <a:cs typeface="JetBrains Mono" pitchFamily="49" charset="-120"/>
              </a:rPr>
              <a:t>struct · variables · the dot operator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THE PROBLEM</a:t>
            </a:r>
            <a:endParaRPr lang="en-US" sz="1200" dirty="0"/>
          </a:p>
        </p:txBody>
      </p:sp>
      <p:sp>
        <p:nvSpPr>
          <p:cNvPr id="3" name="Text 1"/>
          <p:cNvSpPr/>
          <p:nvPr>
            <p:ph type="title"/>
          </p:nvPr>
        </p:nvSpPr>
        <p:spPr>
          <a:xfrm>
            <a:off x="812800" y="1127743"/>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One student, three separate variables</a:t>
            </a:r>
            <a:endParaRPr lang="en-US" sz="3600" dirty="0"/>
          </a:p>
        </p:txBody>
      </p:sp>
      <p:sp>
        <p:nvSpPr>
          <p:cNvPr id="4" name="Text 2"/>
          <p:cNvSpPr/>
          <p:nvPr/>
        </p:nvSpPr>
        <p:spPr>
          <a:xfrm>
            <a:off x="812800" y="2292086"/>
            <a:ext cx="4826000" cy="1422400"/>
          </a:xfrm>
          <a:prstGeom prst="roundRect">
            <a:avLst>
              <a:gd name="adj" fmla="val 7143"/>
            </a:avLst>
          </a:prstGeom>
          <a:solidFill>
            <a:srgbClr val="14213D"/>
          </a:solidFill>
          <a:ln/>
        </p:spPr>
        <p:txBody>
          <a:bodyPr wrap="none" lIns="224242" tIns="224242" rIns="94702" bIns="198842" rtlCol="0" anchor="t">
            <a:normAutofit/>
          </a:bodyPr>
          <a:lstStyle/>
          <a:p>
            <a:pPr algn="l" indent="0" marL="0">
              <a:lnSpc>
                <a:spcPts val="2400"/>
              </a:lnSpc>
              <a:buNone/>
            </a:pPr>
            <a:r>
              <a:rPr lang="en-US" sz="1600" dirty="0">
                <a:solidFill>
                  <a:srgbClr val="E6EBF2"/>
                </a:solidFill>
                <a:latin typeface="JetBrains Mono" pitchFamily="49" charset="0"/>
                <a:ea typeface="JetBrains Mono" pitchFamily="49" charset="-122"/>
                <a:cs typeface="JetBrains Mono" pitchFamily="49" charset="-120"/>
              </a:rPr>
              <a:t>int   roll = 101;</a:t>
            </a:r>
            <a:endParaRPr lang="en-US" sz="1600" dirty="0"/>
          </a:p>
          <a:p>
            <a:pPr algn="l" indent="0" marL="0">
              <a:lnSpc>
                <a:spcPts val="2400"/>
              </a:lnSpc>
              <a:buNone/>
            </a:pPr>
            <a:r>
              <a:rPr lang="en-US" sz="1600" dirty="0">
                <a:solidFill>
                  <a:srgbClr val="E6EBF2"/>
                </a:solidFill>
                <a:latin typeface="JetBrains Mono" pitchFamily="49" charset="0"/>
                <a:ea typeface="JetBrains Mono" pitchFamily="49" charset="-122"/>
                <a:cs typeface="JetBrains Mono" pitchFamily="49" charset="-120"/>
              </a:rPr>
              <a:t>char  name[20] = "Asha";</a:t>
            </a:r>
            <a:endParaRPr lang="en-US" sz="1600" dirty="0"/>
          </a:p>
          <a:p>
            <a:pPr algn="l" indent="0" marL="0">
              <a:lnSpc>
                <a:spcPts val="2400"/>
              </a:lnSpc>
              <a:buNone/>
            </a:pPr>
            <a:r>
              <a:rPr lang="en-US" sz="1600" dirty="0">
                <a:solidFill>
                  <a:srgbClr val="E6EBF2"/>
                </a:solidFill>
                <a:latin typeface="JetBrains Mono" pitchFamily="49" charset="0"/>
                <a:ea typeface="JetBrains Mono" pitchFamily="49" charset="-122"/>
                <a:cs typeface="JetBrains Mono" pitchFamily="49" charset="-120"/>
              </a:rPr>
              <a:t>float marks = 87.5;</a:t>
            </a:r>
            <a:endParaRPr lang="en-US" sz="1600" dirty="0"/>
          </a:p>
        </p:txBody>
      </p:sp>
      <p:sp>
        <p:nvSpPr>
          <p:cNvPr id="5" name="Shape 3"/>
          <p:cNvSpPr/>
          <p:nvPr/>
        </p:nvSpPr>
        <p:spPr>
          <a:xfrm>
            <a:off x="5946775" y="1938602"/>
            <a:ext cx="5429250" cy="985308"/>
          </a:xfrm>
          <a:prstGeom prst="roundRect">
            <a:avLst>
              <a:gd name="adj" fmla="val 9989"/>
            </a:avLst>
          </a:prstGeom>
          <a:solidFill>
            <a:srgbClr val="FFFDF8"/>
          </a:solidFill>
          <a:ln w="6350">
            <a:solidFill>
              <a:srgbClr val="E2DED3"/>
            </a:solidFill>
            <a:prstDash val="solid"/>
          </a:ln>
        </p:spPr>
      </p:sp>
      <p:sp>
        <p:nvSpPr>
          <p:cNvPr id="6" name="Text 4"/>
          <p:cNvSpPr/>
          <p:nvPr/>
        </p:nvSpPr>
        <p:spPr>
          <a:xfrm>
            <a:off x="6152445" y="2144271"/>
            <a:ext cx="516844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501F"/>
                </a:solidFill>
                <a:latin typeface="Rubik" pitchFamily="34" charset="0"/>
                <a:ea typeface="Rubik" pitchFamily="34" charset="-122"/>
                <a:cs typeface="Rubik" pitchFamily="34" charset="-120"/>
              </a:rPr>
              <a:t>Too many variables</a:t>
            </a:r>
            <a:endParaRPr lang="en-US" sz="1800" dirty="0"/>
          </a:p>
        </p:txBody>
      </p:sp>
      <p:sp>
        <p:nvSpPr>
          <p:cNvPr id="7" name="Text 5"/>
          <p:cNvSpPr/>
          <p:nvPr/>
        </p:nvSpPr>
        <p:spPr>
          <a:xfrm>
            <a:off x="6152445" y="2469356"/>
            <a:ext cx="5168448"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3 students = 9 variables, and nothing links them together</a:t>
            </a:r>
            <a:endParaRPr lang="en-US" sz="1400" dirty="0"/>
          </a:p>
        </p:txBody>
      </p:sp>
      <p:sp>
        <p:nvSpPr>
          <p:cNvPr id="8" name="Shape 6"/>
          <p:cNvSpPr/>
          <p:nvPr/>
        </p:nvSpPr>
        <p:spPr>
          <a:xfrm>
            <a:off x="5946775" y="3082661"/>
            <a:ext cx="5429250" cy="985308"/>
          </a:xfrm>
          <a:prstGeom prst="roundRect">
            <a:avLst>
              <a:gd name="adj" fmla="val 9989"/>
            </a:avLst>
          </a:prstGeom>
          <a:solidFill>
            <a:srgbClr val="FFFDF8"/>
          </a:solidFill>
          <a:ln w="6350">
            <a:solidFill>
              <a:srgbClr val="E2DED3"/>
            </a:solidFill>
            <a:prstDash val="solid"/>
          </a:ln>
        </p:spPr>
      </p:sp>
      <p:sp>
        <p:nvSpPr>
          <p:cNvPr id="9" name="Text 7"/>
          <p:cNvSpPr/>
          <p:nvPr/>
        </p:nvSpPr>
        <p:spPr>
          <a:xfrm>
            <a:off x="6152445" y="3288330"/>
            <a:ext cx="516844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501F"/>
                </a:solidFill>
                <a:latin typeface="Rubik" pitchFamily="34" charset="0"/>
                <a:ea typeface="Rubik" pitchFamily="34" charset="-122"/>
                <a:cs typeface="Rubik" pitchFamily="34" charset="-120"/>
              </a:rPr>
              <a:t>An array can’t help</a:t>
            </a:r>
            <a:endParaRPr lang="en-US" sz="1800" dirty="0"/>
          </a:p>
        </p:txBody>
      </p:sp>
      <p:sp>
        <p:nvSpPr>
          <p:cNvPr id="10" name="Text 8"/>
          <p:cNvSpPr/>
          <p:nvPr/>
        </p:nvSpPr>
        <p:spPr>
          <a:xfrm>
            <a:off x="6152445" y="3613414"/>
            <a:ext cx="5168448"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An array holds values of only one type</a:t>
            </a:r>
            <a:endParaRPr lang="en-US" sz="1400" dirty="0"/>
          </a:p>
        </p:txBody>
      </p:sp>
      <p:sp>
        <p:nvSpPr>
          <p:cNvPr id="11" name="Text 9"/>
          <p:cNvSpPr/>
          <p:nvPr/>
        </p:nvSpPr>
        <p:spPr>
          <a:xfrm>
            <a:off x="812800" y="4375944"/>
            <a:ext cx="10883392" cy="30987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Rubik" pitchFamily="34" charset="0"/>
                <a:ea typeface="Rubik" pitchFamily="34" charset="-122"/>
                <a:cs typeface="Rubik" pitchFamily="34" charset="-120"/>
              </a:rPr>
              <a:t>What we want:</a:t>
            </a:r>
            <a:r>
              <a:rPr lang="en-US" sz="1600" dirty="0">
                <a:solidFill>
                  <a:srgbClr val="14213D"/>
                </a:solidFill>
                <a:latin typeface="Rubik" pitchFamily="34" charset="0"/>
                <a:ea typeface="Rubik" pitchFamily="34" charset="-122"/>
                <a:cs typeface="Rubik" pitchFamily="34" charset="-120"/>
              </a:rPr>
              <a:t> one variable that holds all the details of one student.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8A4B"/>
                </a:solidFill>
                <a:latin typeface="Rubik" pitchFamily="34" charset="0"/>
                <a:ea typeface="Rubik" pitchFamily="34" charset="-122"/>
                <a:cs typeface="Rubik" pitchFamily="34" charset="-120"/>
              </a:rPr>
              <a:t>THE IDEA</a:t>
            </a:r>
            <a:endParaRPr lang="en-US" sz="1200" dirty="0"/>
          </a:p>
        </p:txBody>
      </p:sp>
      <p:sp>
        <p:nvSpPr>
          <p:cNvPr id="3" name="Text 1"/>
          <p:cNvSpPr/>
          <p:nvPr>
            <p:ph type="title"/>
          </p:nvPr>
        </p:nvSpPr>
        <p:spPr>
          <a:xfrm>
            <a:off x="812800" y="1127742"/>
            <a:ext cx="10883392" cy="1076942"/>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5EF"/>
                </a:solidFill>
                <a:latin typeface="Rubik" pitchFamily="34" charset="0"/>
                <a:ea typeface="Rubik" pitchFamily="34" charset="-122"/>
                <a:cs typeface="Rubik" pitchFamily="34" charset="-120"/>
              </a:rPr>
              <a:t>A structure groups related variables of </a:t>
            </a:r>
            <a:r>
              <a:rPr lang="en-US" sz="3600" b="1" i="0" dirty="0">
                <a:solidFill>
                  <a:srgbClr val="F08A4B"/>
                </a:solidFill>
                <a:latin typeface="Rubik" pitchFamily="34" charset="0"/>
                <a:ea typeface="Rubik" pitchFamily="34" charset="-122"/>
                <a:cs typeface="Rubik" pitchFamily="34" charset="-120"/>
              </a:rPr>
              <a:t>different types</a:t>
            </a:r>
            <a:r>
              <a:rPr lang="en-US" sz="3600" b="1" i="0" dirty="0">
                <a:solidFill>
                  <a:srgbClr val="F7F5EF"/>
                </a:solidFill>
                <a:latin typeface="Rubik" pitchFamily="34" charset="0"/>
                <a:ea typeface="Rubik" pitchFamily="34" charset="-122"/>
                <a:cs typeface="Rubik" pitchFamily="34" charset="-120"/>
              </a:rPr>
              <a:t> under one name.</a:t>
            </a:r>
            <a:endParaRPr lang="en-US" sz="3600" dirty="0"/>
          </a:p>
        </p:txBody>
      </p:sp>
      <p:sp>
        <p:nvSpPr>
          <p:cNvPr id="4" name="Shape 2"/>
          <p:cNvSpPr/>
          <p:nvPr/>
        </p:nvSpPr>
        <p:spPr>
          <a:xfrm>
            <a:off x="812800" y="2534886"/>
            <a:ext cx="5170311" cy="1566863"/>
          </a:xfrm>
          <a:prstGeom prst="roundRect">
            <a:avLst>
              <a:gd name="adj" fmla="val 6484"/>
            </a:avLst>
          </a:prstGeom>
          <a:solidFill>
            <a:srgbClr val="1E2B47"/>
          </a:solidFill>
          <a:ln/>
        </p:spPr>
      </p:sp>
      <p:sp>
        <p:nvSpPr>
          <p:cNvPr id="5" name="Text 3"/>
          <p:cNvSpPr/>
          <p:nvPr/>
        </p:nvSpPr>
        <p:spPr>
          <a:xfrm>
            <a:off x="1066800" y="2788886"/>
            <a:ext cx="4802180" cy="23874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A3BF"/>
                </a:solidFill>
                <a:latin typeface="Rubik" pitchFamily="34" charset="0"/>
                <a:ea typeface="Rubik" pitchFamily="34" charset="-122"/>
                <a:cs typeface="Rubik" pitchFamily="34" charset="-120"/>
              </a:rPr>
              <a:t>ARRAY</a:t>
            </a:r>
            <a:endParaRPr lang="en-US" sz="1200" dirty="0"/>
          </a:p>
        </p:txBody>
      </p:sp>
      <p:sp>
        <p:nvSpPr>
          <p:cNvPr id="6" name="Text 4"/>
          <p:cNvSpPr/>
          <p:nvPr/>
        </p:nvSpPr>
        <p:spPr>
          <a:xfrm>
            <a:off x="1066800" y="3103828"/>
            <a:ext cx="4802180" cy="360671"/>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EF"/>
                </a:solidFill>
                <a:latin typeface="Rubik" pitchFamily="34" charset="0"/>
                <a:ea typeface="Rubik" pitchFamily="34" charset="-122"/>
                <a:cs typeface="Rubik" pitchFamily="34" charset="-120"/>
              </a:rPr>
              <a:t>Many values of the same type</a:t>
            </a:r>
            <a:endParaRPr lang="en-US" sz="2200" dirty="0"/>
          </a:p>
        </p:txBody>
      </p:sp>
      <p:sp>
        <p:nvSpPr>
          <p:cNvPr id="7" name="Text 5"/>
          <p:cNvSpPr/>
          <p:nvPr/>
        </p:nvSpPr>
        <p:spPr>
          <a:xfrm>
            <a:off x="1066800" y="3540699"/>
            <a:ext cx="4802180" cy="30987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BF2"/>
                </a:solidFill>
                <a:latin typeface="Rubik" pitchFamily="34" charset="0"/>
                <a:ea typeface="Rubik" pitchFamily="34" charset="-122"/>
                <a:cs typeface="Rubik" pitchFamily="34" charset="-120"/>
              </a:rPr>
              <a:t>Items are elements, reached by index: </a:t>
            </a:r>
            <a:r>
              <a:rPr lang="en-US" sz="1600" dirty="0">
                <a:solidFill>
                  <a:srgbClr val="F5A66B"/>
                </a:solidFill>
                <a:latin typeface="Rubik" pitchFamily="34" charset="0"/>
                <a:ea typeface="Rubik" pitchFamily="34" charset="-122"/>
                <a:cs typeface="Rubik" pitchFamily="34" charset="-120"/>
              </a:rPr>
              <a:t>a[0]</a:t>
            </a:r>
            <a:endParaRPr lang="en-US" sz="1600" dirty="0"/>
          </a:p>
        </p:txBody>
      </p:sp>
      <p:sp>
        <p:nvSpPr>
          <p:cNvPr id="8" name="Shape 6"/>
          <p:cNvSpPr/>
          <p:nvPr/>
        </p:nvSpPr>
        <p:spPr>
          <a:xfrm>
            <a:off x="6192661" y="2541236"/>
            <a:ext cx="5180189" cy="1554163"/>
          </a:xfrm>
          <a:prstGeom prst="roundRect">
            <a:avLst>
              <a:gd name="adj" fmla="val 6129"/>
            </a:avLst>
          </a:prstGeom>
          <a:solidFill>
            <a:srgbClr val="1E2B47"/>
          </a:solidFill>
          <a:ln w="12700">
            <a:solidFill>
              <a:srgbClr val="F08A4B"/>
            </a:solidFill>
            <a:prstDash val="solid"/>
          </a:ln>
        </p:spPr>
      </p:sp>
      <p:sp>
        <p:nvSpPr>
          <p:cNvPr id="9" name="Text 7"/>
          <p:cNvSpPr/>
          <p:nvPr/>
        </p:nvSpPr>
        <p:spPr>
          <a:xfrm>
            <a:off x="6451600" y="2800173"/>
            <a:ext cx="4802180" cy="23874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Rubik" pitchFamily="34" charset="0"/>
                <a:ea typeface="Rubik" pitchFamily="34" charset="-122"/>
                <a:cs typeface="Rubik" pitchFamily="34" charset="-120"/>
              </a:rPr>
              <a:t>STRUCTURE</a:t>
            </a:r>
            <a:endParaRPr lang="en-US" sz="1200" dirty="0"/>
          </a:p>
        </p:txBody>
      </p:sp>
      <p:sp>
        <p:nvSpPr>
          <p:cNvPr id="10" name="Text 8"/>
          <p:cNvSpPr/>
          <p:nvPr/>
        </p:nvSpPr>
        <p:spPr>
          <a:xfrm>
            <a:off x="6451600" y="3115117"/>
            <a:ext cx="4802180" cy="360671"/>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EF"/>
                </a:solidFill>
                <a:latin typeface="Rubik" pitchFamily="34" charset="0"/>
                <a:ea typeface="Rubik" pitchFamily="34" charset="-122"/>
                <a:cs typeface="Rubik" pitchFamily="34" charset="-120"/>
              </a:rPr>
              <a:t>Values of different types</a:t>
            </a:r>
            <a:endParaRPr lang="en-US" sz="2200" dirty="0"/>
          </a:p>
        </p:txBody>
      </p:sp>
      <p:sp>
        <p:nvSpPr>
          <p:cNvPr id="11" name="Text 9"/>
          <p:cNvSpPr/>
          <p:nvPr/>
        </p:nvSpPr>
        <p:spPr>
          <a:xfrm>
            <a:off x="6451600" y="3551988"/>
            <a:ext cx="4802180" cy="30987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BF2"/>
                </a:solidFill>
                <a:latin typeface="Rubik" pitchFamily="34" charset="0"/>
                <a:ea typeface="Rubik" pitchFamily="34" charset="-122"/>
                <a:cs typeface="Rubik" pitchFamily="34" charset="-120"/>
              </a:rPr>
              <a:t>Items are members, reached by name: </a:t>
            </a:r>
            <a:r>
              <a:rPr lang="en-US" sz="1600" dirty="0">
                <a:solidFill>
                  <a:srgbClr val="F5A66B"/>
                </a:solidFill>
                <a:latin typeface="Rubik" pitchFamily="34" charset="0"/>
                <a:ea typeface="Rubik" pitchFamily="34" charset="-122"/>
                <a:cs typeface="Rubik" pitchFamily="34" charset="-120"/>
              </a:rPr>
              <a:t>s1.roll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AN EVERYDAY ANALOGY</a:t>
            </a:r>
            <a:endParaRPr lang="en-US" sz="1200" dirty="0"/>
          </a:p>
        </p:txBody>
      </p:sp>
      <p:sp>
        <p:nvSpPr>
          <p:cNvPr id="3" name="Text 1"/>
          <p:cNvSpPr/>
          <p:nvPr>
            <p:ph type="title"/>
          </p:nvPr>
        </p:nvSpPr>
        <p:spPr>
          <a:xfrm>
            <a:off x="812800" y="11277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A structure is like a school ID card</a:t>
            </a:r>
            <a:endParaRPr lang="en-US" sz="3600" dirty="0"/>
          </a:p>
        </p:txBody>
      </p:sp>
      <p:sp>
        <p:nvSpPr>
          <p:cNvPr id="4" name="Shape 2"/>
          <p:cNvSpPr/>
          <p:nvPr/>
        </p:nvSpPr>
        <p:spPr>
          <a:xfrm>
            <a:off x="815975" y="1938603"/>
            <a:ext cx="3380317" cy="1889566"/>
          </a:xfrm>
          <a:prstGeom prst="roundRect">
            <a:avLst>
              <a:gd name="adj" fmla="val 5209"/>
            </a:avLst>
          </a:prstGeom>
          <a:solidFill>
            <a:srgbClr val="FFFDF8"/>
          </a:solidFill>
          <a:ln w="6350">
            <a:solidFill>
              <a:srgbClr val="E2DED3"/>
            </a:solidFill>
            <a:prstDash val="solid"/>
          </a:ln>
        </p:spPr>
      </p:sp>
      <p:pic>
        <p:nvPicPr>
          <p:cNvPr id="5" name="Image 0" descr="Settings">    </p:cNvPr>
          <p:cNvPicPr>
            <a:picLocks noChangeAspect="1"/>
          </p:cNvPicPr>
          <p:nvPr/>
        </p:nvPicPr>
        <p:blipFill>
          <a:blip r:embed="rId1"/>
          <a:srcRect l="0" r="0" t="0" b="0"/>
          <a:stretch/>
        </p:blipFill>
        <p:spPr>
          <a:xfrm>
            <a:off x="1047044" y="2169672"/>
            <a:ext cx="355600" cy="355600"/>
          </a:xfrm>
          <a:prstGeom prst="rect">
            <a:avLst/>
          </a:prstGeom>
        </p:spPr>
      </p:pic>
      <p:sp>
        <p:nvSpPr>
          <p:cNvPr id="6" name="Text 3"/>
          <p:cNvSpPr/>
          <p:nvPr/>
        </p:nvSpPr>
        <p:spPr>
          <a:xfrm>
            <a:off x="1047044" y="2626872"/>
            <a:ext cx="3005723"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280"/>
                </a:solidFill>
                <a:latin typeface="Rubik" pitchFamily="34" charset="0"/>
                <a:ea typeface="Rubik" pitchFamily="34" charset="-122"/>
                <a:cs typeface="Rubik" pitchFamily="34" charset="-120"/>
              </a:rPr>
              <a:t>BLANK CARD DESIGN</a:t>
            </a:r>
            <a:endParaRPr lang="en-US" sz="1200" dirty="0"/>
          </a:p>
        </p:txBody>
      </p:sp>
      <p:sp>
        <p:nvSpPr>
          <p:cNvPr id="7" name="Text 4"/>
          <p:cNvSpPr/>
          <p:nvPr/>
        </p:nvSpPr>
        <p:spPr>
          <a:xfrm>
            <a:off x="1047044" y="2941814"/>
            <a:ext cx="30057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Rubik" pitchFamily="34" charset="0"/>
                <a:ea typeface="Rubik" pitchFamily="34" charset="-122"/>
                <a:cs typeface="Rubik" pitchFamily="34" charset="-120"/>
              </a:rPr>
              <a:t>Structure definition</a:t>
            </a:r>
            <a:endParaRPr lang="en-US" sz="2000" dirty="0"/>
          </a:p>
        </p:txBody>
      </p:sp>
      <p:sp>
        <p:nvSpPr>
          <p:cNvPr id="8" name="Text 5"/>
          <p:cNvSpPr/>
          <p:nvPr/>
        </p:nvSpPr>
        <p:spPr>
          <a:xfrm>
            <a:off x="1047044" y="3348214"/>
            <a:ext cx="3005723"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Says which fields every card has</a:t>
            </a:r>
            <a:endParaRPr lang="en-US" sz="1400" dirty="0"/>
          </a:p>
        </p:txBody>
      </p:sp>
      <p:sp>
        <p:nvSpPr>
          <p:cNvPr id="9" name="Shape 6"/>
          <p:cNvSpPr/>
          <p:nvPr/>
        </p:nvSpPr>
        <p:spPr>
          <a:xfrm>
            <a:off x="4405842" y="1938603"/>
            <a:ext cx="3380317" cy="1889566"/>
          </a:xfrm>
          <a:prstGeom prst="roundRect">
            <a:avLst>
              <a:gd name="adj" fmla="val 5209"/>
            </a:avLst>
          </a:prstGeom>
          <a:solidFill>
            <a:srgbClr val="FFFDF8"/>
          </a:solidFill>
          <a:ln w="6350">
            <a:solidFill>
              <a:srgbClr val="E2DED3"/>
            </a:solidFill>
            <a:prstDash val="solid"/>
          </a:ln>
        </p:spPr>
      </p:sp>
      <p:pic>
        <p:nvPicPr>
          <p:cNvPr id="10" name="Image 1" descr="Users">    </p:cNvPr>
          <p:cNvPicPr>
            <a:picLocks noChangeAspect="1"/>
          </p:cNvPicPr>
          <p:nvPr/>
        </p:nvPicPr>
        <p:blipFill>
          <a:blip r:embed="rId2"/>
          <a:srcRect l="0" r="0" t="0" b="0"/>
          <a:stretch/>
        </p:blipFill>
        <p:spPr>
          <a:xfrm>
            <a:off x="4636911" y="2169672"/>
            <a:ext cx="355600" cy="355600"/>
          </a:xfrm>
          <a:prstGeom prst="rect">
            <a:avLst/>
          </a:prstGeom>
        </p:spPr>
      </p:pic>
      <p:sp>
        <p:nvSpPr>
          <p:cNvPr id="11" name="Text 7"/>
          <p:cNvSpPr/>
          <p:nvPr/>
        </p:nvSpPr>
        <p:spPr>
          <a:xfrm>
            <a:off x="4636911" y="2626872"/>
            <a:ext cx="3005723"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280"/>
                </a:solidFill>
                <a:latin typeface="Rubik" pitchFamily="34" charset="0"/>
                <a:ea typeface="Rubik" pitchFamily="34" charset="-122"/>
                <a:cs typeface="Rubik" pitchFamily="34" charset="-120"/>
              </a:rPr>
              <a:t>ONE FILLED-IN CARD</a:t>
            </a:r>
            <a:endParaRPr lang="en-US" sz="1200" dirty="0"/>
          </a:p>
        </p:txBody>
      </p:sp>
      <p:sp>
        <p:nvSpPr>
          <p:cNvPr id="12" name="Text 8"/>
          <p:cNvSpPr/>
          <p:nvPr/>
        </p:nvSpPr>
        <p:spPr>
          <a:xfrm>
            <a:off x="4636911" y="2941814"/>
            <a:ext cx="30057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Rubik" pitchFamily="34" charset="0"/>
                <a:ea typeface="Rubik" pitchFamily="34" charset="-122"/>
                <a:cs typeface="Rubik" pitchFamily="34" charset="-120"/>
              </a:rPr>
              <a:t>Structure variable</a:t>
            </a:r>
            <a:endParaRPr lang="en-US" sz="2000" dirty="0"/>
          </a:p>
        </p:txBody>
      </p:sp>
      <p:sp>
        <p:nvSpPr>
          <p:cNvPr id="13" name="Text 9"/>
          <p:cNvSpPr/>
          <p:nvPr/>
        </p:nvSpPr>
        <p:spPr>
          <a:xfrm>
            <a:off x="4636911" y="3348214"/>
            <a:ext cx="3005723"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The details of one student</a:t>
            </a:r>
            <a:endParaRPr lang="en-US" sz="1400" dirty="0"/>
          </a:p>
        </p:txBody>
      </p:sp>
      <p:sp>
        <p:nvSpPr>
          <p:cNvPr id="14" name="Shape 10"/>
          <p:cNvSpPr/>
          <p:nvPr/>
        </p:nvSpPr>
        <p:spPr>
          <a:xfrm>
            <a:off x="7995708" y="1938603"/>
            <a:ext cx="3380317" cy="1889566"/>
          </a:xfrm>
          <a:prstGeom prst="roundRect">
            <a:avLst>
              <a:gd name="adj" fmla="val 5209"/>
            </a:avLst>
          </a:prstGeom>
          <a:solidFill>
            <a:srgbClr val="FFFDF8"/>
          </a:solidFill>
          <a:ln w="6350">
            <a:solidFill>
              <a:srgbClr val="E2DED3"/>
            </a:solidFill>
            <a:prstDash val="solid"/>
          </a:ln>
        </p:spPr>
      </p:sp>
      <p:pic>
        <p:nvPicPr>
          <p:cNvPr id="15" name="Image 2" descr="Key">    </p:cNvPr>
          <p:cNvPicPr>
            <a:picLocks noChangeAspect="1"/>
          </p:cNvPicPr>
          <p:nvPr/>
        </p:nvPicPr>
        <p:blipFill>
          <a:blip r:embed="rId3"/>
          <a:srcRect l="0" r="0" t="0" b="0"/>
          <a:stretch/>
        </p:blipFill>
        <p:spPr>
          <a:xfrm>
            <a:off x="8226778" y="2169672"/>
            <a:ext cx="355600" cy="355600"/>
          </a:xfrm>
          <a:prstGeom prst="rect">
            <a:avLst/>
          </a:prstGeom>
        </p:spPr>
      </p:pic>
      <p:sp>
        <p:nvSpPr>
          <p:cNvPr id="16" name="Text 11"/>
          <p:cNvSpPr/>
          <p:nvPr/>
        </p:nvSpPr>
        <p:spPr>
          <a:xfrm>
            <a:off x="8226778" y="2626872"/>
            <a:ext cx="3005723"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280"/>
                </a:solidFill>
                <a:latin typeface="Rubik" pitchFamily="34" charset="0"/>
                <a:ea typeface="Rubik" pitchFamily="34" charset="-122"/>
                <a:cs typeface="Rubik" pitchFamily="34" charset="-120"/>
              </a:rPr>
              <a:t>ONE FIELD ON THE CARD</a:t>
            </a:r>
            <a:endParaRPr lang="en-US" sz="1200" dirty="0"/>
          </a:p>
        </p:txBody>
      </p:sp>
      <p:sp>
        <p:nvSpPr>
          <p:cNvPr id="17" name="Text 12"/>
          <p:cNvSpPr/>
          <p:nvPr/>
        </p:nvSpPr>
        <p:spPr>
          <a:xfrm>
            <a:off x="8226778" y="2941814"/>
            <a:ext cx="30057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Rubik" pitchFamily="34" charset="0"/>
                <a:ea typeface="Rubik" pitchFamily="34" charset="-122"/>
                <a:cs typeface="Rubik" pitchFamily="34" charset="-120"/>
              </a:rPr>
              <a:t>Member</a:t>
            </a:r>
            <a:endParaRPr lang="en-US" sz="2000" dirty="0"/>
          </a:p>
        </p:txBody>
      </p:sp>
      <p:sp>
        <p:nvSpPr>
          <p:cNvPr id="18" name="Text 13"/>
          <p:cNvSpPr/>
          <p:nvPr/>
        </p:nvSpPr>
        <p:spPr>
          <a:xfrm>
            <a:off x="8226778" y="3348214"/>
            <a:ext cx="3005723"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Like the name or roll number</a:t>
            </a:r>
            <a:endParaRPr lang="en-US" sz="1400" dirty="0"/>
          </a:p>
        </p:txBody>
      </p:sp>
      <p:sp>
        <p:nvSpPr>
          <p:cNvPr id="19" name="Text 14"/>
          <p:cNvSpPr/>
          <p:nvPr/>
        </p:nvSpPr>
        <p:spPr>
          <a:xfrm>
            <a:off x="812800" y="4136143"/>
            <a:ext cx="10883392" cy="30987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Rubik" pitchFamily="34" charset="0"/>
                <a:ea typeface="Rubik" pitchFamily="34" charset="-122"/>
                <a:cs typeface="Rubik" pitchFamily="34" charset="-120"/>
              </a:rPr>
              <a:t>Every card has the </a:t>
            </a:r>
            <a:r>
              <a:rPr lang="en-US" sz="1600" b="1" dirty="0">
                <a:solidFill>
                  <a:srgbClr val="14213D"/>
                </a:solidFill>
                <a:latin typeface="Rubik" pitchFamily="34" charset="0"/>
                <a:ea typeface="Rubik" pitchFamily="34" charset="-122"/>
                <a:cs typeface="Rubik" pitchFamily="34" charset="-120"/>
              </a:rPr>
              <a:t>same layout</a:t>
            </a:r>
            <a:r>
              <a:rPr lang="en-US" sz="1600" dirty="0">
                <a:solidFill>
                  <a:srgbClr val="14213D"/>
                </a:solidFill>
                <a:latin typeface="Rubik" pitchFamily="34" charset="0"/>
                <a:ea typeface="Rubik" pitchFamily="34" charset="-122"/>
                <a:cs typeface="Rubik" pitchFamily="34" charset="-120"/>
              </a:rPr>
              <a:t>; only the </a:t>
            </a:r>
            <a:r>
              <a:rPr lang="en-US" sz="1600" b="1" dirty="0">
                <a:solidFill>
                  <a:srgbClr val="14213D"/>
                </a:solidFill>
                <a:latin typeface="Rubik" pitchFamily="34" charset="0"/>
                <a:ea typeface="Rubik" pitchFamily="34" charset="-122"/>
                <a:cs typeface="Rubik" pitchFamily="34" charset="-120"/>
              </a:rPr>
              <a:t>details</a:t>
            </a:r>
            <a:r>
              <a:rPr lang="en-US" sz="1600" dirty="0">
                <a:solidFill>
                  <a:srgbClr val="14213D"/>
                </a:solidFill>
                <a:latin typeface="Rubik" pitchFamily="34" charset="0"/>
                <a:ea typeface="Rubik" pitchFamily="34" charset="-122"/>
                <a:cs typeface="Rubik" pitchFamily="34" charset="-120"/>
              </a:rPr>
              <a:t> change.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WHEN TO CREATE ONE</a:t>
            </a:r>
            <a:endParaRPr lang="en-US" sz="1200" dirty="0"/>
          </a:p>
        </p:txBody>
      </p:sp>
      <p:sp>
        <p:nvSpPr>
          <p:cNvPr id="3" name="Text 1"/>
          <p:cNvSpPr/>
          <p:nvPr>
            <p:ph type="title"/>
          </p:nvPr>
        </p:nvSpPr>
        <p:spPr>
          <a:xfrm>
            <a:off x="812800" y="11277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Several details describe one thing</a:t>
            </a:r>
            <a:endParaRPr lang="en-US" sz="3600" dirty="0"/>
          </a:p>
        </p:txBody>
      </p:sp>
      <p:sp>
        <p:nvSpPr>
          <p:cNvPr id="4" name="Text 2"/>
          <p:cNvSpPr/>
          <p:nvPr/>
        </p:nvSpPr>
        <p:spPr>
          <a:xfrm>
            <a:off x="812800" y="1935426"/>
            <a:ext cx="4185920" cy="27428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Rubik" pitchFamily="34" charset="0"/>
                <a:ea typeface="Rubik" pitchFamily="34" charset="-122"/>
                <a:cs typeface="Rubik" pitchFamily="34" charset="-120"/>
              </a:rPr>
              <a:t>Ask three questions:</a:t>
            </a:r>
            <a:endParaRPr lang="en-US" sz="1400" dirty="0"/>
          </a:p>
        </p:txBody>
      </p:sp>
      <p:sp>
        <p:nvSpPr>
          <p:cNvPr id="5" name="Shape 3"/>
          <p:cNvSpPr/>
          <p:nvPr/>
        </p:nvSpPr>
        <p:spPr>
          <a:xfrm>
            <a:off x="815975" y="2314488"/>
            <a:ext cx="4057650" cy="665339"/>
          </a:xfrm>
          <a:prstGeom prst="roundRect">
            <a:avLst>
              <a:gd name="adj" fmla="val 14793"/>
            </a:avLst>
          </a:prstGeom>
          <a:solidFill>
            <a:srgbClr val="FFFDF8"/>
          </a:solidFill>
          <a:ln w="6350">
            <a:solidFill>
              <a:srgbClr val="E2DED3"/>
            </a:solidFill>
            <a:prstDash val="solid"/>
          </a:ln>
        </p:spPr>
      </p:sp>
      <p:sp>
        <p:nvSpPr>
          <p:cNvPr id="6" name="Text 4"/>
          <p:cNvSpPr/>
          <p:nvPr/>
        </p:nvSpPr>
        <p:spPr>
          <a:xfrm>
            <a:off x="996244" y="2469356"/>
            <a:ext cx="1770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501F"/>
                </a:solidFill>
                <a:latin typeface="Rubik" pitchFamily="34" charset="0"/>
                <a:ea typeface="Rubik" pitchFamily="34" charset="-122"/>
                <a:cs typeface="Rubik" pitchFamily="34" charset="-120"/>
              </a:rPr>
              <a:t>1</a:t>
            </a:r>
            <a:endParaRPr lang="en-US" sz="2000" dirty="0"/>
          </a:p>
        </p:txBody>
      </p:sp>
      <p:sp>
        <p:nvSpPr>
          <p:cNvPr id="7" name="Text 5"/>
          <p:cNvSpPr/>
          <p:nvPr/>
        </p:nvSpPr>
        <p:spPr>
          <a:xfrm>
            <a:off x="1249495" y="2527123"/>
            <a:ext cx="3413495"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Rubik" pitchFamily="34" charset="0"/>
                <a:ea typeface="Rubik" pitchFamily="34" charset="-122"/>
                <a:cs typeface="Rubik" pitchFamily="34" charset="-120"/>
              </a:rPr>
              <a:t>Do the values describe </a:t>
            </a:r>
            <a:r>
              <a:rPr lang="en-US" sz="1400" b="1" dirty="0">
                <a:solidFill>
                  <a:srgbClr val="3D4A5C"/>
                </a:solidFill>
                <a:latin typeface="Rubik" pitchFamily="34" charset="0"/>
                <a:ea typeface="Rubik" pitchFamily="34" charset="-122"/>
                <a:cs typeface="Rubik" pitchFamily="34" charset="-120"/>
              </a:rPr>
              <a:t>one thing</a:t>
            </a:r>
            <a:r>
              <a:rPr lang="en-US" sz="1400" dirty="0">
                <a:solidFill>
                  <a:srgbClr val="3D4A5C"/>
                </a:solidFill>
                <a:latin typeface="Rubik" pitchFamily="34" charset="0"/>
                <a:ea typeface="Rubik" pitchFamily="34" charset="-122"/>
                <a:cs typeface="Rubik" pitchFamily="34" charset="-120"/>
              </a:rPr>
              <a:t>?</a:t>
            </a:r>
            <a:endParaRPr lang="en-US" sz="1400" dirty="0"/>
          </a:p>
        </p:txBody>
      </p:sp>
      <p:sp>
        <p:nvSpPr>
          <p:cNvPr id="8" name="Shape 6"/>
          <p:cNvSpPr/>
          <p:nvPr/>
        </p:nvSpPr>
        <p:spPr>
          <a:xfrm>
            <a:off x="815975" y="3113177"/>
            <a:ext cx="4057650" cy="789781"/>
          </a:xfrm>
          <a:prstGeom prst="roundRect">
            <a:avLst>
              <a:gd name="adj" fmla="val 12462"/>
            </a:avLst>
          </a:prstGeom>
          <a:solidFill>
            <a:srgbClr val="FFFDF8"/>
          </a:solidFill>
          <a:ln w="6350">
            <a:solidFill>
              <a:srgbClr val="E2DED3"/>
            </a:solidFill>
            <a:prstDash val="solid"/>
          </a:ln>
        </p:spPr>
      </p:sp>
      <p:sp>
        <p:nvSpPr>
          <p:cNvPr id="9" name="Text 7"/>
          <p:cNvSpPr/>
          <p:nvPr/>
        </p:nvSpPr>
        <p:spPr>
          <a:xfrm>
            <a:off x="996244" y="3330268"/>
            <a:ext cx="2070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501F"/>
                </a:solidFill>
                <a:latin typeface="Rubik" pitchFamily="34" charset="0"/>
                <a:ea typeface="Rubik" pitchFamily="34" charset="-122"/>
                <a:cs typeface="Rubik" pitchFamily="34" charset="-120"/>
              </a:rPr>
              <a:t>2</a:t>
            </a:r>
            <a:endParaRPr lang="en-US" sz="2000" dirty="0"/>
          </a:p>
        </p:txBody>
      </p:sp>
      <p:sp>
        <p:nvSpPr>
          <p:cNvPr id="10" name="Text 8"/>
          <p:cNvSpPr/>
          <p:nvPr/>
        </p:nvSpPr>
        <p:spPr>
          <a:xfrm>
            <a:off x="1279481" y="3268045"/>
            <a:ext cx="3516291" cy="50544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Rubik" pitchFamily="34" charset="0"/>
                <a:ea typeface="Rubik" pitchFamily="34" charset="-122"/>
                <a:cs typeface="Rubik" pitchFamily="34" charset="-120"/>
              </a:rPr>
              <a:t>Do they have </a:t>
            </a:r>
            <a:r>
              <a:rPr lang="en-US" sz="1400" b="1" dirty="0">
                <a:solidFill>
                  <a:srgbClr val="3D4A5C"/>
                </a:solidFill>
                <a:latin typeface="Rubik" pitchFamily="34" charset="0"/>
                <a:ea typeface="Rubik" pitchFamily="34" charset="-122"/>
                <a:cs typeface="Rubik" pitchFamily="34" charset="-120"/>
              </a:rPr>
              <a:t>different types</a:t>
            </a:r>
            <a:r>
              <a:rPr lang="en-US" sz="1400" dirty="0">
                <a:solidFill>
                  <a:srgbClr val="3D4A5C"/>
                </a:solidFill>
                <a:latin typeface="Rubik" pitchFamily="34" charset="0"/>
                <a:ea typeface="Rubik" pitchFamily="34" charset="-122"/>
                <a:cs typeface="Rubik" pitchFamily="34" charset="-120"/>
              </a:rPr>
              <a:t> or meanings?</a:t>
            </a:r>
            <a:endParaRPr lang="en-US" sz="1400" dirty="0"/>
          </a:p>
        </p:txBody>
      </p:sp>
      <p:sp>
        <p:nvSpPr>
          <p:cNvPr id="11" name="Shape 9"/>
          <p:cNvSpPr/>
          <p:nvPr/>
        </p:nvSpPr>
        <p:spPr>
          <a:xfrm>
            <a:off x="815975" y="4036309"/>
            <a:ext cx="4057650" cy="789781"/>
          </a:xfrm>
          <a:prstGeom prst="roundRect">
            <a:avLst>
              <a:gd name="adj" fmla="val 12462"/>
            </a:avLst>
          </a:prstGeom>
          <a:solidFill>
            <a:srgbClr val="FFFDF8"/>
          </a:solidFill>
          <a:ln w="6350">
            <a:solidFill>
              <a:srgbClr val="E2DED3"/>
            </a:solidFill>
            <a:prstDash val="solid"/>
          </a:ln>
        </p:spPr>
      </p:sp>
      <p:sp>
        <p:nvSpPr>
          <p:cNvPr id="12" name="Text 10"/>
          <p:cNvSpPr/>
          <p:nvPr/>
        </p:nvSpPr>
        <p:spPr>
          <a:xfrm>
            <a:off x="996244" y="4253399"/>
            <a:ext cx="21365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501F"/>
                </a:solidFill>
                <a:latin typeface="Rubik" pitchFamily="34" charset="0"/>
                <a:ea typeface="Rubik" pitchFamily="34" charset="-122"/>
                <a:cs typeface="Rubik" pitchFamily="34" charset="-120"/>
              </a:rPr>
              <a:t>3</a:t>
            </a:r>
            <a:endParaRPr lang="en-US" sz="2000" dirty="0"/>
          </a:p>
        </p:txBody>
      </p:sp>
      <p:sp>
        <p:nvSpPr>
          <p:cNvPr id="13" name="Text 11"/>
          <p:cNvSpPr/>
          <p:nvPr/>
        </p:nvSpPr>
        <p:spPr>
          <a:xfrm>
            <a:off x="1286096" y="4191177"/>
            <a:ext cx="3509478" cy="50544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Rubik" pitchFamily="34" charset="0"/>
                <a:ea typeface="Rubik" pitchFamily="34" charset="-122"/>
                <a:cs typeface="Rubik" pitchFamily="34" charset="-120"/>
              </a:rPr>
              <a:t>Will I use them </a:t>
            </a:r>
            <a:r>
              <a:rPr lang="en-US" sz="1400" b="1" dirty="0">
                <a:solidFill>
                  <a:srgbClr val="3D4A5C"/>
                </a:solidFill>
                <a:latin typeface="Rubik" pitchFamily="34" charset="0"/>
                <a:ea typeface="Rubik" pitchFamily="34" charset="-122"/>
                <a:cs typeface="Rubik" pitchFamily="34" charset="-120"/>
              </a:rPr>
              <a:t>together</a:t>
            </a:r>
            <a:r>
              <a:rPr lang="en-US" sz="1400" dirty="0">
                <a:solidFill>
                  <a:srgbClr val="3D4A5C"/>
                </a:solidFill>
                <a:latin typeface="Rubik" pitchFamily="34" charset="0"/>
                <a:ea typeface="Rubik" pitchFamily="34" charset="-122"/>
                <a:cs typeface="Rubik" pitchFamily="34" charset="-120"/>
              </a:rPr>
              <a:t>, again and again?</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192889" y="1946715"/>
          <a:ext cx="6186311" cy="2307696"/>
        </p:xfrm>
        <a:graphic>
          <a:graphicData uri="http://schemas.openxmlformats.org/drawingml/2006/table">
            <a:tbl>
              <a:tblPr/>
              <a:tblGrid>
                <a:gridCol w="1855893"/>
                <a:gridCol w="4330418"/>
              </a:tblGrid>
              <a:tr h="384616">
                <a:tc>
                  <a:txBody>
                    <a:bodyPr/>
                    <a:lstStyle/>
                    <a:p>
                      <a:pPr indent="0" marL="0">
                        <a:lnSpc>
                          <a:spcPts val="1960"/>
                        </a:lnSpc>
                        <a:buNone/>
                      </a:pPr>
                      <a:r>
                        <a:rPr lang="en-US" sz="1400" b="1" dirty="0">
                          <a:solidFill>
                            <a:srgbClr val="F7F5EF"/>
                          </a:solidFill>
                          <a:latin typeface="Rubik" pitchFamily="34" charset="0"/>
                          <a:ea typeface="Rubik" pitchFamily="34" charset="-122"/>
                          <a:cs typeface="Rubik" pitchFamily="34" charset="-120"/>
                        </a:rPr>
                        <a:t>Thing</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5EF"/>
                          </a:solidFill>
                          <a:latin typeface="Rubik" pitchFamily="34" charset="0"/>
                          <a:ea typeface="Rubik" pitchFamily="34" charset="-122"/>
                          <a:cs typeface="Rubik" pitchFamily="34" charset="-120"/>
                        </a:rPr>
                        <a:t>Members</a:t>
                      </a:r>
                      <a:endParaRPr lang="en-US" sz="1400" dirty="0">
                        <a:latin typeface="Rubik" charset="0"/>
                        <a:ea typeface="Rubik" charset="0"/>
                        <a:cs typeface="Rubik"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Student</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roll, name, marks</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Book</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title, author, price</a:t>
                      </a:r>
                      <a:endParaRPr lang="en-US" sz="1400" dirty="0">
                        <a:latin typeface="Rubik" charset="0"/>
                        <a:ea typeface="Rubik" charset="0"/>
                        <a:cs typeface="Rubik" charset="0"/>
                      </a:endParaRPr>
                    </a:p>
                  </a:txBody>
                  <a:tcPr marL="62230" marR="62230" marT="62230" marB="6223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Date</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day, month, year</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Point</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x, y</a:t>
                      </a:r>
                      <a:endParaRPr lang="en-US" sz="1400" dirty="0">
                        <a:latin typeface="Rubik" charset="0"/>
                        <a:ea typeface="Rubik" charset="0"/>
                        <a:cs typeface="Rubik" charset="0"/>
                      </a:endParaRPr>
                    </a:p>
                  </a:txBody>
                  <a:tcPr marL="62230" marR="62230" marT="62230" marB="6223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Account</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number, holder name, balance</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STEP 1 · DEFINE THE STRUCTURE</a:t>
            </a:r>
            <a:endParaRPr lang="en-US" sz="1200" dirty="0"/>
          </a:p>
        </p:txBody>
      </p:sp>
      <p:sp>
        <p:nvSpPr>
          <p:cNvPr id="3" name="Text 1"/>
          <p:cNvSpPr/>
          <p:nvPr>
            <p:ph type="title"/>
          </p:nvPr>
        </p:nvSpPr>
        <p:spPr>
          <a:xfrm>
            <a:off x="812800" y="11277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Defining a structure: the template</a:t>
            </a:r>
            <a:endParaRPr lang="en-US" sz="3600" dirty="0"/>
          </a:p>
        </p:txBody>
      </p:sp>
      <p:sp>
        <p:nvSpPr>
          <p:cNvPr id="4" name="Text 2"/>
          <p:cNvSpPr/>
          <p:nvPr/>
        </p:nvSpPr>
        <p:spPr>
          <a:xfrm>
            <a:off x="812800" y="1935426"/>
            <a:ext cx="5207000" cy="3937000"/>
          </a:xfrm>
          <a:prstGeom prst="roundRect">
            <a:avLst>
              <a:gd name="adj" fmla="val 2581"/>
            </a:avLst>
          </a:prstGeom>
          <a:solidFill>
            <a:srgbClr val="14213D"/>
          </a:solidFill>
          <a:ln/>
        </p:spPr>
        <p:txBody>
          <a:bodyPr wrap="none" lIns="224242" tIns="224242" rIns="83272" bIns="198842" rtlCol="0" anchor="t">
            <a:normAutofit/>
          </a:bodyPr>
          <a:lstStyle/>
          <a:p>
            <a:pPr algn="l" indent="0" marL="0">
              <a:lnSpc>
                <a:spcPts val="2250"/>
              </a:lnSpc>
              <a:buNone/>
            </a:pPr>
            <a:r>
              <a:rPr lang="en-US" sz="1500" dirty="0">
                <a:solidFill>
                  <a:srgbClr val="8FA3BF"/>
                </a:solidFill>
                <a:latin typeface="JetBrains Mono" pitchFamily="49" charset="0"/>
                <a:ea typeface="JetBrains Mono" pitchFamily="49" charset="-122"/>
                <a:cs typeface="JetBrains Mono" pitchFamily="49" charset="-120"/>
              </a:rPr>
              <a:t>// Syntax</a:t>
            </a:r>
            <a:endParaRPr lang="en-US" sz="1500" dirty="0"/>
          </a:p>
          <a:p>
            <a:pPr algn="l" indent="0" marL="0">
              <a:lnSpc>
                <a:spcPts val="2250"/>
              </a:lnSpc>
              <a:buNone/>
            </a:pPr>
            <a:r>
              <a:rPr lang="en-US" sz="1500" dirty="0">
                <a:solidFill>
                  <a:srgbClr val="F5A66B"/>
                </a:solidFill>
                <a:latin typeface="JetBrains Mono" pitchFamily="49" charset="0"/>
                <a:ea typeface="JetBrains Mono" pitchFamily="49" charset="-122"/>
                <a:cs typeface="JetBrains Mono" pitchFamily="49" charset="-120"/>
              </a:rPr>
              <a:t>struct</a:t>
            </a:r>
            <a:r>
              <a:rPr lang="en-US" sz="1500" dirty="0">
                <a:solidFill>
                  <a:srgbClr val="E6EBF2"/>
                </a:solidFill>
                <a:latin typeface="JetBrains Mono" pitchFamily="49" charset="0"/>
                <a:ea typeface="JetBrains Mono" pitchFamily="49" charset="-122"/>
                <a:cs typeface="JetBrains Mono" pitchFamily="49" charset="-120"/>
              </a:rPr>
              <a:t> name {</a:t>
            </a:r>
            <a:endParaRPr lang="en-US" sz="1500" dirty="0"/>
          </a:p>
          <a:p>
            <a:pPr algn="l" indent="0" marL="0">
              <a:lnSpc>
                <a:spcPts val="2250"/>
              </a:lnSpc>
              <a:buNone/>
            </a:pPr>
            <a:r>
              <a:rPr lang="en-US" sz="1500" dirty="0">
                <a:solidFill>
                  <a:srgbClr val="E6EBF2"/>
                </a:solidFill>
                <a:latin typeface="JetBrains Mono" pitchFamily="49" charset="0"/>
                <a:ea typeface="JetBrains Mono" pitchFamily="49" charset="-122"/>
                <a:cs typeface="JetBrains Mono" pitchFamily="49" charset="-120"/>
              </a:rPr>
              <a:t>    data_type member;</a:t>
            </a:r>
            <a:endParaRPr lang="en-US" sz="1500" dirty="0"/>
          </a:p>
          <a:p>
            <a:pPr algn="l" indent="0" marL="0">
              <a:lnSpc>
                <a:spcPts val="2250"/>
              </a:lnSpc>
              <a:buNone/>
            </a:pPr>
            <a:r>
              <a:rPr lang="en-US" sz="1500" dirty="0">
                <a:solidFill>
                  <a:srgbClr val="E6EBF2"/>
                </a:solidFill>
                <a:latin typeface="JetBrains Mono" pitchFamily="49" charset="0"/>
                <a:ea typeface="JetBrains Mono" pitchFamily="49" charset="-122"/>
                <a:cs typeface="JetBrains Mono" pitchFamily="49" charset="-120"/>
              </a:rPr>
              <a:t>    ...</a:t>
            </a:r>
            <a:endParaRPr lang="en-US" sz="1500" dirty="0"/>
          </a:p>
          <a:p>
            <a:pPr algn="l" indent="0" marL="0">
              <a:lnSpc>
                <a:spcPts val="2250"/>
              </a:lnSpc>
              <a:buNone/>
            </a:pPr>
            <a:r>
              <a:rPr lang="en-US" sz="1500" dirty="0">
                <a:solidFill>
                  <a:srgbClr val="E6EBF2"/>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endParaRPr lang="en-US" sz="1500" dirty="0"/>
          </a:p>
          <a:p>
            <a:pPr algn="l" indent="0" marL="0">
              <a:lnSpc>
                <a:spcPts val="2250"/>
              </a:lnSpc>
              <a:buNone/>
            </a:pPr>
            <a:r>
              <a:rPr lang="en-US" sz="1500" dirty="0">
                <a:solidFill>
                  <a:srgbClr val="8FA3BF"/>
                </a:solidFill>
                <a:latin typeface="JetBrains Mono" pitchFamily="49" charset="0"/>
                <a:ea typeface="JetBrains Mono" pitchFamily="49" charset="-122"/>
                <a:cs typeface="JetBrains Mono" pitchFamily="49" charset="-120"/>
              </a:rPr>
              <a:t>// Example</a:t>
            </a:r>
            <a:endParaRPr lang="en-US" sz="1500" dirty="0"/>
          </a:p>
          <a:p>
            <a:pPr algn="l" indent="0" marL="0">
              <a:lnSpc>
                <a:spcPts val="2250"/>
              </a:lnSpc>
              <a:buNone/>
            </a:pPr>
            <a:r>
              <a:rPr lang="en-US" sz="1500" dirty="0">
                <a:solidFill>
                  <a:srgbClr val="F5A66B"/>
                </a:solidFill>
                <a:latin typeface="JetBrains Mono" pitchFamily="49" charset="0"/>
                <a:ea typeface="JetBrains Mono" pitchFamily="49" charset="-122"/>
                <a:cs typeface="JetBrains Mono" pitchFamily="49" charset="-120"/>
              </a:rPr>
              <a:t>struct</a:t>
            </a:r>
            <a:r>
              <a:rPr lang="en-US" sz="1500" dirty="0">
                <a:solidFill>
                  <a:srgbClr val="E6EBF2"/>
                </a:solidFill>
                <a:latin typeface="JetBrains Mono" pitchFamily="49" charset="0"/>
                <a:ea typeface="JetBrains Mono" pitchFamily="49" charset="-122"/>
                <a:cs typeface="JetBrains Mono" pitchFamily="49" charset="-120"/>
              </a:rPr>
              <a:t> student {</a:t>
            </a:r>
            <a:endParaRPr lang="en-US" sz="1500" dirty="0"/>
          </a:p>
          <a:p>
            <a:pPr algn="l" indent="0" marL="0">
              <a:lnSpc>
                <a:spcPts val="2250"/>
              </a:lnSpc>
              <a:buNone/>
            </a:pPr>
            <a:r>
              <a:rPr lang="en-US" sz="1500" dirty="0">
                <a:solidFill>
                  <a:srgbClr val="E6EBF2"/>
                </a:solidFill>
                <a:latin typeface="JetBrains Mono" pitchFamily="49" charset="0"/>
                <a:ea typeface="JetBrains Mono" pitchFamily="49" charset="-122"/>
                <a:cs typeface="JetBrains Mono" pitchFamily="49" charset="-120"/>
              </a:rPr>
              <a:t>    int   roll;</a:t>
            </a:r>
            <a:endParaRPr lang="en-US" sz="1500" dirty="0"/>
          </a:p>
          <a:p>
            <a:pPr algn="l" indent="0" marL="0">
              <a:lnSpc>
                <a:spcPts val="2250"/>
              </a:lnSpc>
              <a:buNone/>
            </a:pPr>
            <a:r>
              <a:rPr lang="en-US" sz="1500" dirty="0">
                <a:solidFill>
                  <a:srgbClr val="E6EBF2"/>
                </a:solidFill>
                <a:latin typeface="JetBrains Mono" pitchFamily="49" charset="0"/>
                <a:ea typeface="JetBrains Mono" pitchFamily="49" charset="-122"/>
                <a:cs typeface="JetBrains Mono" pitchFamily="49" charset="-120"/>
              </a:rPr>
              <a:t>    char  name[20];</a:t>
            </a:r>
            <a:endParaRPr lang="en-US" sz="1500" dirty="0"/>
          </a:p>
          <a:p>
            <a:pPr algn="l" indent="0" marL="0">
              <a:lnSpc>
                <a:spcPts val="2250"/>
              </a:lnSpc>
              <a:buNone/>
            </a:pPr>
            <a:r>
              <a:rPr lang="en-US" sz="1500" dirty="0">
                <a:solidFill>
                  <a:srgbClr val="E6EBF2"/>
                </a:solidFill>
                <a:latin typeface="JetBrains Mono" pitchFamily="49" charset="0"/>
                <a:ea typeface="JetBrains Mono" pitchFamily="49" charset="-122"/>
                <a:cs typeface="JetBrains Mono" pitchFamily="49" charset="-120"/>
              </a:rPr>
              <a:t>    float marks;</a:t>
            </a:r>
            <a:endParaRPr lang="en-US" sz="1500" dirty="0"/>
          </a:p>
          <a:p>
            <a:pPr algn="l" indent="0" marL="0">
              <a:lnSpc>
                <a:spcPts val="2250"/>
              </a:lnSpc>
              <a:buNone/>
            </a:pPr>
            <a:r>
              <a:rPr lang="en-US" sz="1500" dirty="0">
                <a:solidFill>
                  <a:srgbClr val="E6EBF2"/>
                </a:solidFill>
                <a:latin typeface="JetBrains Mono" pitchFamily="49" charset="0"/>
                <a:ea typeface="JetBrains Mono" pitchFamily="49" charset="-122"/>
                <a:cs typeface="JetBrains Mono" pitchFamily="49" charset="-120"/>
              </a:rPr>
              <a:t>}</a:t>
            </a:r>
            <a:r>
              <a:rPr lang="en-US" sz="1500" dirty="0">
                <a:solidFill>
                  <a:srgbClr val="F5A66B"/>
                </a:solidFill>
                <a:latin typeface="JetBrains Mono" pitchFamily="49" charset="0"/>
                <a:ea typeface="JetBrains Mono" pitchFamily="49" charset="-122"/>
                <a:cs typeface="JetBrains Mono" pitchFamily="49" charset="-120"/>
              </a:rPr>
              <a:t>;</a:t>
            </a:r>
            <a:endParaRPr lang="en-US" sz="1500" dirty="0"/>
          </a:p>
        </p:txBody>
      </p:sp>
      <p:sp>
        <p:nvSpPr>
          <p:cNvPr id="5" name="Text 3"/>
          <p:cNvSpPr/>
          <p:nvPr/>
        </p:nvSpPr>
        <p:spPr>
          <a:xfrm>
            <a:off x="6408420" y="1935426"/>
            <a:ext cx="5114798" cy="1682750"/>
          </a:xfrm>
          <a:prstGeom prst="rect">
            <a:avLst/>
          </a:prstGeom>
          <a:noFill/>
          <a:ln/>
        </p:spPr>
        <p:txBody>
          <a:bodyPr wrap="square" lIns="0" tIns="0" rIns="0" bIns="0" rtlCol="0" anchor="t">
            <a:normAutofit/>
          </a:bodyPr>
          <a:lstStyle/>
          <a:p>
            <a:pPr algn="l" marL="170180" indent="-170180">
              <a:lnSpc>
                <a:spcPts val="2175"/>
              </a:lnSpc>
              <a:buSzPct val="100000"/>
              <a:buChar char="•"/>
            </a:pPr>
            <a:r>
              <a:rPr lang="en-US" sz="1500" b="1" dirty="0">
                <a:solidFill>
                  <a:srgbClr val="3D4A5C"/>
                </a:solidFill>
                <a:latin typeface="Rubik" pitchFamily="34" charset="0"/>
                <a:ea typeface="Rubik" pitchFamily="34" charset="-122"/>
                <a:cs typeface="Rubik" pitchFamily="34" charset="-120"/>
              </a:rPr>
              <a:t>struct</a:t>
            </a:r>
            <a:r>
              <a:rPr lang="en-US" sz="1500" dirty="0">
                <a:solidFill>
                  <a:srgbClr val="3D4A5C"/>
                </a:solidFill>
                <a:latin typeface="Rubik" pitchFamily="34" charset="0"/>
                <a:ea typeface="Rubik" pitchFamily="34" charset="-122"/>
                <a:cs typeface="Rubik" pitchFamily="34" charset="-120"/>
              </a:rPr>
              <a:t> is a keyword; </a:t>
            </a:r>
            <a:r>
              <a:rPr lang="en-US" sz="1500" b="1" dirty="0">
                <a:solidFill>
                  <a:srgbClr val="3D4A5C"/>
                </a:solidFill>
                <a:latin typeface="Rubik" pitchFamily="34" charset="0"/>
                <a:ea typeface="Rubik" pitchFamily="34" charset="-122"/>
                <a:cs typeface="Rubik" pitchFamily="34" charset="-120"/>
              </a:rPr>
              <a:t>student</a:t>
            </a:r>
            <a:r>
              <a:rPr lang="en-US" sz="1500" dirty="0">
                <a:solidFill>
                  <a:srgbClr val="3D4A5C"/>
                </a:solidFill>
                <a:latin typeface="Rubik" pitchFamily="34" charset="0"/>
                <a:ea typeface="Rubik" pitchFamily="34" charset="-122"/>
                <a:cs typeface="Rubik" pitchFamily="34" charset="-120"/>
              </a:rPr>
              <a:t> is the name we choose (the tag)</a:t>
            </a:r>
            <a:endParaRPr lang="en-US" sz="1500" dirty="0"/>
          </a:p>
          <a:p>
            <a:pPr algn="l" marL="170180" indent="-170180">
              <a:lnSpc>
                <a:spcPts val="2175"/>
              </a:lnSpc>
              <a:buSzPct val="100000"/>
              <a:buChar char="•"/>
            </a:pPr>
            <a:r>
              <a:rPr lang="en-US" sz="1500" dirty="0">
                <a:solidFill>
                  <a:srgbClr val="3D4A5C"/>
                </a:solidFill>
                <a:latin typeface="Rubik" pitchFamily="34" charset="0"/>
                <a:ea typeface="Rubik" pitchFamily="34" charset="-122"/>
                <a:cs typeface="Rubik" pitchFamily="34" charset="-120"/>
              </a:rPr>
              <a:t>It only describes the </a:t>
            </a:r>
            <a:r>
              <a:rPr lang="en-US" sz="1500" b="1" dirty="0">
                <a:solidFill>
                  <a:srgbClr val="3D4A5C"/>
                </a:solidFill>
                <a:latin typeface="Rubik" pitchFamily="34" charset="0"/>
                <a:ea typeface="Rubik" pitchFamily="34" charset="-122"/>
                <a:cs typeface="Rubik" pitchFamily="34" charset="-120"/>
              </a:rPr>
              <a:t>shape</a:t>
            </a:r>
            <a:r>
              <a:rPr lang="en-US" sz="1500" dirty="0">
                <a:solidFill>
                  <a:srgbClr val="3D4A5C"/>
                </a:solidFill>
                <a:latin typeface="Rubik" pitchFamily="34" charset="0"/>
                <a:ea typeface="Rubik" pitchFamily="34" charset="-122"/>
                <a:cs typeface="Rubik" pitchFamily="34" charset="-120"/>
              </a:rPr>
              <a:t>: no memory is allocated yet</a:t>
            </a:r>
            <a:endParaRPr lang="en-US" sz="1500" dirty="0"/>
          </a:p>
          <a:p>
            <a:pPr algn="l" marL="170180" indent="-170180">
              <a:lnSpc>
                <a:spcPts val="2175"/>
              </a:lnSpc>
              <a:buSzPct val="100000"/>
              <a:buChar char="•"/>
            </a:pPr>
            <a:r>
              <a:rPr lang="en-US" sz="1500" dirty="0">
                <a:solidFill>
                  <a:srgbClr val="3D4A5C"/>
                </a:solidFill>
                <a:latin typeface="Rubik" pitchFamily="34" charset="0"/>
                <a:ea typeface="Rubik" pitchFamily="34" charset="-122"/>
                <a:cs typeface="Rubik" pitchFamily="34" charset="-120"/>
              </a:rPr>
              <a:t>Always end with a </a:t>
            </a:r>
            <a:r>
              <a:rPr lang="en-US" sz="1500" b="1" dirty="0">
                <a:solidFill>
                  <a:srgbClr val="3D4A5C"/>
                </a:solidFill>
                <a:latin typeface="Rubik" pitchFamily="34" charset="0"/>
                <a:ea typeface="Rubik" pitchFamily="34" charset="-122"/>
                <a:cs typeface="Rubik" pitchFamily="34" charset="-120"/>
              </a:rPr>
              <a:t>semicolon</a:t>
            </a:r>
            <a:r>
              <a:rPr lang="en-US" sz="1500" dirty="0">
                <a:solidFill>
                  <a:srgbClr val="3D4A5C"/>
                </a:solidFill>
                <a:latin typeface="Rubik" pitchFamily="34" charset="0"/>
                <a:ea typeface="Rubik" pitchFamily="34" charset="-122"/>
                <a:cs typeface="Rubik" pitchFamily="34" charset="-120"/>
              </a:rPr>
              <a:t> after the closing brace</a:t>
            </a:r>
            <a:endParaRPr lang="en-US" sz="1500" dirty="0"/>
          </a:p>
          <a:p>
            <a:pPr algn="l" marL="170180" indent="-170180">
              <a:lnSpc>
                <a:spcPts val="2175"/>
              </a:lnSpc>
              <a:buSzPct val="100000"/>
              <a:buChar char="•"/>
            </a:pPr>
            <a:r>
              <a:rPr lang="en-US" sz="1500" dirty="0">
                <a:solidFill>
                  <a:srgbClr val="3D4A5C"/>
                </a:solidFill>
                <a:latin typeface="Rubik" pitchFamily="34" charset="0"/>
                <a:ea typeface="Rubik" pitchFamily="34" charset="-122"/>
                <a:cs typeface="Rubik" pitchFamily="34" charset="-120"/>
              </a:rPr>
              <a:t>Write it </a:t>
            </a:r>
            <a:r>
              <a:rPr lang="en-US" sz="1500" b="1" dirty="0">
                <a:solidFill>
                  <a:srgbClr val="3D4A5C"/>
                </a:solidFill>
                <a:latin typeface="Rubik" pitchFamily="34" charset="0"/>
                <a:ea typeface="Rubik" pitchFamily="34" charset="-122"/>
                <a:cs typeface="Rubik" pitchFamily="34" charset="-120"/>
              </a:rPr>
              <a:t>above main()</a:t>
            </a:r>
            <a:r>
              <a:rPr lang="en-US" sz="1500" dirty="0">
                <a:solidFill>
                  <a:srgbClr val="3D4A5C"/>
                </a:solidFill>
                <a:latin typeface="Rubik" pitchFamily="34" charset="0"/>
                <a:ea typeface="Rubik" pitchFamily="34" charset="-122"/>
                <a:cs typeface="Rubik" pitchFamily="34" charset="-120"/>
              </a:rPr>
              <a:t> so every function can use 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STEP 2 · CREATE VARIABLES</a:t>
            </a:r>
            <a:endParaRPr lang="en-US" sz="1200" dirty="0"/>
          </a:p>
        </p:txBody>
      </p:sp>
      <p:sp>
        <p:nvSpPr>
          <p:cNvPr id="3" name="Text 1"/>
          <p:cNvSpPr/>
          <p:nvPr>
            <p:ph type="title"/>
          </p:nvPr>
        </p:nvSpPr>
        <p:spPr>
          <a:xfrm>
            <a:off x="812800" y="11277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Creating structure variables</a:t>
            </a:r>
            <a:endParaRPr lang="en-US" sz="3600" dirty="0"/>
          </a:p>
        </p:txBody>
      </p:sp>
      <p:sp>
        <p:nvSpPr>
          <p:cNvPr id="4" name="Shape 2"/>
          <p:cNvSpPr/>
          <p:nvPr/>
        </p:nvSpPr>
        <p:spPr>
          <a:xfrm>
            <a:off x="815975" y="1938601"/>
            <a:ext cx="5175250" cy="2445808"/>
          </a:xfrm>
          <a:prstGeom prst="roundRect">
            <a:avLst>
              <a:gd name="adj" fmla="val 4024"/>
            </a:avLst>
          </a:prstGeom>
          <a:solidFill>
            <a:srgbClr val="FFFDF8"/>
          </a:solidFill>
          <a:ln w="6350">
            <a:solidFill>
              <a:srgbClr val="E2DED3"/>
            </a:solidFill>
            <a:prstDash val="solid"/>
          </a:ln>
        </p:spPr>
      </p:sp>
      <p:sp>
        <p:nvSpPr>
          <p:cNvPr id="5" name="Text 3"/>
          <p:cNvSpPr/>
          <p:nvPr/>
        </p:nvSpPr>
        <p:spPr>
          <a:xfrm>
            <a:off x="1072444" y="2195072"/>
            <a:ext cx="4802180"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Way 1: declare later </a:t>
            </a:r>
            <a:r>
              <a:rPr lang="en-US" sz="1800" b="1" dirty="0">
                <a:solidFill>
                  <a:srgbClr val="B8501F"/>
                </a:solidFill>
                <a:latin typeface="Rubik" pitchFamily="34" charset="0"/>
                <a:ea typeface="Rubik" pitchFamily="34" charset="-122"/>
                <a:cs typeface="Rubik" pitchFamily="34" charset="-120"/>
              </a:rPr>
              <a:t>(most common)</a:t>
            </a:r>
            <a:endParaRPr lang="en-US" sz="1800" dirty="0"/>
          </a:p>
        </p:txBody>
      </p:sp>
      <p:sp>
        <p:nvSpPr>
          <p:cNvPr id="6" name="Text 4"/>
          <p:cNvSpPr/>
          <p:nvPr/>
        </p:nvSpPr>
        <p:spPr>
          <a:xfrm>
            <a:off x="1072444" y="2596356"/>
            <a:ext cx="4662311" cy="889000"/>
          </a:xfrm>
          <a:prstGeom prst="roundRect">
            <a:avLst>
              <a:gd name="adj" fmla="val 8571"/>
            </a:avLst>
          </a:prstGeom>
          <a:solidFill>
            <a:srgbClr val="14213D"/>
          </a:solidFill>
          <a:ln/>
        </p:spPr>
        <p:txBody>
          <a:bodyPr wrap="none" lIns="180882" tIns="155482" rIns="53204" bIns="130082" rtlCol="0" anchor="t">
            <a:normAutofit/>
          </a:bodyPr>
          <a:lstStyle/>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struct student s1;</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struct student s1, s2, s3;</a:t>
            </a:r>
            <a:endParaRPr lang="en-US" sz="1400" dirty="0"/>
          </a:p>
        </p:txBody>
      </p:sp>
      <p:sp>
        <p:nvSpPr>
          <p:cNvPr id="7" name="Text 5"/>
          <p:cNvSpPr/>
          <p:nvPr/>
        </p:nvSpPr>
        <p:spPr>
          <a:xfrm>
            <a:off x="1072444" y="3612356"/>
            <a:ext cx="4802180"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The type name is the full phrase </a:t>
            </a:r>
            <a:r>
              <a:rPr lang="en-US" sz="1400" b="1" dirty="0">
                <a:solidFill>
                  <a:srgbClr val="3D4A5C"/>
                </a:solidFill>
                <a:latin typeface="Rubik" pitchFamily="34" charset="0"/>
                <a:ea typeface="Rubik" pitchFamily="34" charset="-122"/>
                <a:cs typeface="Rubik" pitchFamily="34" charset="-120"/>
              </a:rPr>
              <a:t>struct student</a:t>
            </a:r>
            <a:r>
              <a:rPr lang="en-US" sz="1400" dirty="0">
                <a:solidFill>
                  <a:srgbClr val="3D4A5C"/>
                </a:solidFill>
                <a:latin typeface="Rubik" pitchFamily="34" charset="0"/>
                <a:ea typeface="Rubik" pitchFamily="34" charset="-122"/>
                <a:cs typeface="Rubik" pitchFamily="34" charset="-120"/>
              </a:rPr>
              <a:t>, like </a:t>
            </a:r>
            <a:r>
              <a:rPr lang="en-US" sz="1400" b="1" dirty="0">
                <a:solidFill>
                  <a:srgbClr val="3D4A5C"/>
                </a:solidFill>
                <a:latin typeface="Rubik" pitchFamily="34" charset="0"/>
                <a:ea typeface="Rubik" pitchFamily="34" charset="-122"/>
                <a:cs typeface="Rubik" pitchFamily="34" charset="-120"/>
              </a:rPr>
              <a:t>int</a:t>
            </a:r>
            <a:r>
              <a:rPr lang="en-US" sz="1400" dirty="0">
                <a:solidFill>
                  <a:srgbClr val="3D4A5C"/>
                </a:solidFill>
                <a:latin typeface="Rubik" pitchFamily="34" charset="0"/>
                <a:ea typeface="Rubik" pitchFamily="34" charset="-122"/>
                <a:cs typeface="Rubik" pitchFamily="34" charset="-120"/>
              </a:rPr>
              <a:t> in int x;</a:t>
            </a:r>
            <a:endParaRPr lang="en-US" sz="1400" dirty="0"/>
          </a:p>
        </p:txBody>
      </p:sp>
      <p:sp>
        <p:nvSpPr>
          <p:cNvPr id="8" name="Shape 6"/>
          <p:cNvSpPr/>
          <p:nvPr/>
        </p:nvSpPr>
        <p:spPr>
          <a:xfrm>
            <a:off x="6200775" y="1938601"/>
            <a:ext cx="5175250" cy="2445808"/>
          </a:xfrm>
          <a:prstGeom prst="roundRect">
            <a:avLst>
              <a:gd name="adj" fmla="val 4024"/>
            </a:avLst>
          </a:prstGeom>
          <a:solidFill>
            <a:srgbClr val="FFFDF8"/>
          </a:solidFill>
          <a:ln w="6350">
            <a:solidFill>
              <a:srgbClr val="E2DED3"/>
            </a:solidFill>
            <a:prstDash val="solid"/>
          </a:ln>
        </p:spPr>
      </p:sp>
      <p:sp>
        <p:nvSpPr>
          <p:cNvPr id="9" name="Text 7"/>
          <p:cNvSpPr/>
          <p:nvPr/>
        </p:nvSpPr>
        <p:spPr>
          <a:xfrm>
            <a:off x="6457245" y="2195072"/>
            <a:ext cx="4802180"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Way 2: with the definition</a:t>
            </a:r>
            <a:endParaRPr lang="en-US" sz="1800" dirty="0"/>
          </a:p>
        </p:txBody>
      </p:sp>
      <p:sp>
        <p:nvSpPr>
          <p:cNvPr id="10" name="Text 8"/>
          <p:cNvSpPr/>
          <p:nvPr/>
        </p:nvSpPr>
        <p:spPr>
          <a:xfrm>
            <a:off x="6457245" y="2596356"/>
            <a:ext cx="4662311" cy="1155700"/>
          </a:xfrm>
          <a:prstGeom prst="roundRect">
            <a:avLst>
              <a:gd name="adj" fmla="val 6593"/>
            </a:avLst>
          </a:prstGeom>
          <a:solidFill>
            <a:srgbClr val="14213D"/>
          </a:solidFill>
          <a:ln/>
        </p:spPr>
        <p:txBody>
          <a:bodyPr wrap="none" lIns="180882" tIns="155482" rIns="53204" bIns="130082" rtlCol="0" anchor="t">
            <a:normAutofit/>
          </a:bodyPr>
          <a:lstStyle/>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struct student {</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    ...</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 </a:t>
            </a:r>
            <a:r>
              <a:rPr lang="en-US" sz="1400" dirty="0">
                <a:solidFill>
                  <a:srgbClr val="F5A66B"/>
                </a:solidFill>
                <a:latin typeface="JetBrains Mono" pitchFamily="49" charset="0"/>
                <a:ea typeface="JetBrains Mono" pitchFamily="49" charset="-122"/>
                <a:cs typeface="JetBrains Mono" pitchFamily="49" charset="-120"/>
              </a:rPr>
              <a:t>s1, s2</a:t>
            </a:r>
            <a:r>
              <a:rPr lang="en-US" sz="1400" dirty="0">
                <a:solidFill>
                  <a:srgbClr val="E6EBF2"/>
                </a:solidFill>
                <a:latin typeface="JetBrains Mono" pitchFamily="49" charset="0"/>
                <a:ea typeface="JetBrains Mono" pitchFamily="49" charset="-122"/>
                <a:cs typeface="JetBrains Mono" pitchFamily="49" charset="-120"/>
              </a:rPr>
              <a:t>;</a:t>
            </a:r>
            <a:endParaRPr lang="en-US" sz="1400" dirty="0"/>
          </a:p>
        </p:txBody>
      </p:sp>
      <p:sp>
        <p:nvSpPr>
          <p:cNvPr id="11" name="Text 9"/>
          <p:cNvSpPr/>
          <p:nvPr/>
        </p:nvSpPr>
        <p:spPr>
          <a:xfrm>
            <a:off x="6457245" y="3879056"/>
            <a:ext cx="480218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Variable names go between </a:t>
            </a:r>
            <a:r>
              <a:rPr lang="en-US" sz="1400" b="1" dirty="0">
                <a:solidFill>
                  <a:srgbClr val="3D4A5C"/>
                </a:solidFill>
                <a:latin typeface="Rubik" pitchFamily="34" charset="0"/>
                <a:ea typeface="Rubik" pitchFamily="34" charset="-122"/>
                <a:cs typeface="Rubik" pitchFamily="34" charset="-120"/>
              </a:rPr>
              <a:t>}</a:t>
            </a:r>
            <a:r>
              <a:rPr lang="en-US" sz="1400" dirty="0">
                <a:solidFill>
                  <a:srgbClr val="3D4A5C"/>
                </a:solidFill>
                <a:latin typeface="Rubik" pitchFamily="34" charset="0"/>
                <a:ea typeface="Rubik" pitchFamily="34" charset="-122"/>
                <a:cs typeface="Rubik" pitchFamily="34" charset="-120"/>
              </a:rPr>
              <a:t> and </a:t>
            </a:r>
            <a:r>
              <a:rPr lang="en-US" sz="1400" b="1" dirty="0">
                <a:solidFill>
                  <a:srgbClr val="3D4A5C"/>
                </a:solidFill>
                <a:latin typeface="Rubik" pitchFamily="34" charset="0"/>
                <a:ea typeface="Rubik" pitchFamily="34" charset="-122"/>
                <a:cs typeface="Rubik" pitchFamily="34" charset="-120"/>
              </a:rPr>
              <a:t>;</a:t>
            </a:r>
            <a:endParaRPr lang="en-US" sz="1400" dirty="0"/>
          </a:p>
        </p:txBody>
      </p:sp>
      <p:sp>
        <p:nvSpPr>
          <p:cNvPr id="12" name="Text 10"/>
          <p:cNvSpPr/>
          <p:nvPr/>
        </p:nvSpPr>
        <p:spPr>
          <a:xfrm>
            <a:off x="812800" y="4692386"/>
            <a:ext cx="10566400" cy="589271"/>
          </a:xfrm>
          <a:prstGeom prst="roundRect">
            <a:avLst>
              <a:gd name="adj" fmla="val 12931"/>
            </a:avLst>
          </a:prstGeom>
          <a:solidFill>
            <a:srgbClr val="14213D"/>
          </a:solidFill>
          <a:ln/>
        </p:spPr>
        <p:txBody>
          <a:bodyPr wrap="square" lIns="180882" tIns="130082" rIns="0" bIns="104682" rtlCol="0" anchor="t">
            <a:normAutofit/>
          </a:bodyPr>
          <a:lstStyle/>
          <a:p>
            <a:pPr algn="l" indent="0" marL="0">
              <a:lnSpc>
                <a:spcPts val="2240"/>
              </a:lnSpc>
              <a:buNone/>
            </a:pPr>
            <a:r>
              <a:rPr lang="en-US" sz="1600" b="1" dirty="0">
                <a:solidFill>
                  <a:srgbClr val="F08A4B"/>
                </a:solidFill>
                <a:latin typeface="Rubik" pitchFamily="34" charset="0"/>
                <a:ea typeface="Rubik" pitchFamily="34" charset="-122"/>
                <a:cs typeface="Rubik" pitchFamily="34" charset="-120"/>
              </a:rPr>
              <a:t>Now memory is allocated:</a:t>
            </a:r>
            <a:r>
              <a:rPr lang="en-US" sz="1600" dirty="0">
                <a:solidFill>
                  <a:srgbClr val="F7F5EF"/>
                </a:solidFill>
                <a:latin typeface="Rubik" pitchFamily="34" charset="0"/>
                <a:ea typeface="Rubik" pitchFamily="34" charset="-122"/>
                <a:cs typeface="Rubik" pitchFamily="34" charset="-120"/>
              </a:rPr>
              <a:t> each variable gets its own copy of every member.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INSIDE MEMORY</a:t>
            </a:r>
            <a:endParaRPr lang="en-US" sz="1200" dirty="0"/>
          </a:p>
        </p:txBody>
      </p:sp>
      <p:sp>
        <p:nvSpPr>
          <p:cNvPr id="3" name="Text 1"/>
          <p:cNvSpPr/>
          <p:nvPr>
            <p:ph type="title"/>
          </p:nvPr>
        </p:nvSpPr>
        <p:spPr>
          <a:xfrm>
            <a:off x="812800" y="1127742"/>
            <a:ext cx="10883392" cy="103116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One template, separate members for each variable</a:t>
            </a:r>
            <a:endParaRPr lang="en-US" sz="3600" dirty="0"/>
          </a:p>
        </p:txBody>
      </p:sp>
      <p:sp>
        <p:nvSpPr>
          <p:cNvPr id="4" name="Shape 2"/>
          <p:cNvSpPr/>
          <p:nvPr/>
        </p:nvSpPr>
        <p:spPr>
          <a:xfrm>
            <a:off x="819150" y="2393863"/>
            <a:ext cx="2400300" cy="3108060"/>
          </a:xfrm>
          <a:prstGeom prst="roundRect">
            <a:avLst>
              <a:gd name="adj" fmla="val 3968"/>
            </a:avLst>
          </a:prstGeom>
          <a:solidFill>
            <a:srgbClr val="E9E5DA"/>
          </a:solidFill>
          <a:ln w="12700">
            <a:solidFill>
              <a:srgbClr val="8C96A3"/>
            </a:solidFill>
            <a:prstDash val="dash"/>
          </a:ln>
        </p:spPr>
      </p:sp>
      <p:sp>
        <p:nvSpPr>
          <p:cNvPr id="5" name="Text 3"/>
          <p:cNvSpPr/>
          <p:nvPr/>
        </p:nvSpPr>
        <p:spPr>
          <a:xfrm>
            <a:off x="1027289" y="2602002"/>
            <a:ext cx="204354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JetBrains Mono" pitchFamily="49" charset="0"/>
                <a:ea typeface="JetBrains Mono" pitchFamily="49" charset="-122"/>
                <a:cs typeface="JetBrains Mono" pitchFamily="49" charset="-120"/>
              </a:rPr>
              <a:t>struct student</a:t>
            </a:r>
            <a:endParaRPr lang="en-US" sz="1500" dirty="0"/>
          </a:p>
        </p:txBody>
      </p:sp>
      <p:sp>
        <p:nvSpPr>
          <p:cNvPr id="6" name="Text 4"/>
          <p:cNvSpPr/>
          <p:nvPr/>
        </p:nvSpPr>
        <p:spPr>
          <a:xfrm>
            <a:off x="1027289" y="2944902"/>
            <a:ext cx="204354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Rubik" pitchFamily="34" charset="0"/>
                <a:ea typeface="Rubik" pitchFamily="34" charset="-122"/>
                <a:cs typeface="Rubik" pitchFamily="34" charset="-120"/>
              </a:rPr>
              <a:t>the template</a:t>
            </a:r>
            <a:endParaRPr lang="en-US" sz="1200" dirty="0"/>
          </a:p>
        </p:txBody>
      </p:sp>
      <p:sp>
        <p:nvSpPr>
          <p:cNvPr id="7" name="Text 5"/>
          <p:cNvSpPr/>
          <p:nvPr/>
        </p:nvSpPr>
        <p:spPr>
          <a:xfrm>
            <a:off x="1027289" y="3234444"/>
            <a:ext cx="2043543" cy="81782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int roll;</a:t>
            </a:r>
            <a:endParaRPr lang="en-US" sz="1300" dirty="0"/>
          </a:p>
          <a:p>
            <a:pPr algn="l" indent="0" marL="0">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char name[20];</a:t>
            </a:r>
            <a:endParaRPr lang="en-US" sz="1300" dirty="0"/>
          </a:p>
          <a:p>
            <a:pPr algn="l" indent="0" marL="0">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float marks;</a:t>
            </a:r>
            <a:endParaRPr lang="en-US" sz="1300" dirty="0"/>
          </a:p>
        </p:txBody>
      </p:sp>
      <p:sp>
        <p:nvSpPr>
          <p:cNvPr id="8" name="Text 6"/>
          <p:cNvSpPr/>
          <p:nvPr/>
        </p:nvSpPr>
        <p:spPr>
          <a:xfrm>
            <a:off x="1027289" y="5080440"/>
            <a:ext cx="204354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Rubik" pitchFamily="34" charset="0"/>
                <a:ea typeface="Rubik" pitchFamily="34" charset="-122"/>
                <a:cs typeface="Rubik" pitchFamily="34" charset="-120"/>
              </a:rPr>
              <a:t>No memory yet</a:t>
            </a:r>
            <a:endParaRPr lang="en-US" sz="1200" dirty="0"/>
          </a:p>
        </p:txBody>
      </p:sp>
      <p:pic>
        <p:nvPicPr>
          <p:cNvPr id="9" name="Image 0" descr="arrow-right">    </p:cNvPr>
          <p:cNvPicPr>
            <a:picLocks noChangeAspect="1"/>
          </p:cNvPicPr>
          <p:nvPr/>
        </p:nvPicPr>
        <p:blipFill>
          <a:blip r:embed="rId1"/>
          <a:srcRect l="0" r="0" t="0" b="0"/>
          <a:stretch/>
        </p:blipFill>
        <p:spPr>
          <a:xfrm>
            <a:off x="3429000" y="3795492"/>
            <a:ext cx="609600" cy="304800"/>
          </a:xfrm>
          <a:prstGeom prst="rect">
            <a:avLst/>
          </a:prstGeom>
        </p:spPr>
      </p:pic>
      <p:sp>
        <p:nvSpPr>
          <p:cNvPr id="10" name="Shape 7"/>
          <p:cNvSpPr/>
          <p:nvPr/>
        </p:nvSpPr>
        <p:spPr>
          <a:xfrm>
            <a:off x="4248150" y="2393863"/>
            <a:ext cx="7124700" cy="1471480"/>
          </a:xfrm>
          <a:prstGeom prst="roundRect">
            <a:avLst>
              <a:gd name="adj" fmla="val 6473"/>
            </a:avLst>
          </a:prstGeom>
          <a:solidFill>
            <a:srgbClr val="EAF1F9"/>
          </a:solidFill>
          <a:ln w="12700">
            <a:solidFill>
              <a:srgbClr val="2F6FB3"/>
            </a:solidFill>
            <a:prstDash val="solid"/>
          </a:ln>
        </p:spPr>
      </p:sp>
      <p:sp>
        <p:nvSpPr>
          <p:cNvPr id="11" name="Text 8"/>
          <p:cNvSpPr/>
          <p:nvPr/>
        </p:nvSpPr>
        <p:spPr>
          <a:xfrm>
            <a:off x="4456289" y="2576602"/>
            <a:ext cx="690967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Variable s1</a:t>
            </a:r>
            <a:endParaRPr lang="en-US" sz="1500" dirty="0"/>
          </a:p>
        </p:txBody>
      </p:sp>
      <p:sp>
        <p:nvSpPr>
          <p:cNvPr id="12" name="Text 9"/>
          <p:cNvSpPr/>
          <p:nvPr/>
        </p:nvSpPr>
        <p:spPr>
          <a:xfrm>
            <a:off x="4459464" y="2948077"/>
            <a:ext cx="2162043" cy="449439"/>
          </a:xfrm>
          <a:prstGeom prst="roundRect">
            <a:avLst>
              <a:gd name="adj" fmla="val 10597"/>
            </a:avLst>
          </a:prstGeom>
          <a:solidFill>
            <a:srgbClr val="FFFDF8"/>
          </a:solidFill>
          <a:ln w="6350">
            <a:solidFill>
              <a:srgbClr val="8C96A3"/>
            </a:solidFill>
            <a:prstDash val="solid"/>
          </a:ln>
        </p:spPr>
        <p:txBody>
          <a:bodyPr wrap="square" lIns="47731" tIns="77421" rIns="47731" bIns="52021" rtlCol="0" anchor="t">
            <a:normAutofit/>
          </a:bodyPr>
          <a:lstStyle/>
          <a:p>
            <a:pPr algn="ctr" indent="0" marL="0">
              <a:lnSpc>
                <a:spcPts val="2100"/>
              </a:lnSpc>
              <a:buNone/>
            </a:pPr>
            <a:r>
              <a:rPr lang="en-US" sz="1500" dirty="0">
                <a:solidFill>
                  <a:srgbClr val="14213D"/>
                </a:solidFill>
                <a:latin typeface="Rubik" pitchFamily="34" charset="0"/>
                <a:ea typeface="Rubik" pitchFamily="34" charset="-122"/>
                <a:cs typeface="Rubik" pitchFamily="34" charset="-120"/>
              </a:rPr>
              <a:t>101</a:t>
            </a:r>
            <a:endParaRPr lang="en-US" sz="1500" dirty="0"/>
          </a:p>
        </p:txBody>
      </p:sp>
      <p:sp>
        <p:nvSpPr>
          <p:cNvPr id="13" name="Text 10"/>
          <p:cNvSpPr/>
          <p:nvPr/>
        </p:nvSpPr>
        <p:spPr>
          <a:xfrm>
            <a:off x="5124428" y="3451489"/>
            <a:ext cx="832115"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2F6FB3"/>
                </a:solidFill>
                <a:latin typeface="JetBrains Mono" pitchFamily="49" charset="0"/>
                <a:ea typeface="JetBrains Mono" pitchFamily="49" charset="-122"/>
                <a:cs typeface="JetBrains Mono" pitchFamily="49" charset="-120"/>
              </a:rPr>
              <a:t>s1.roll</a:t>
            </a:r>
            <a:endParaRPr lang="en-US" sz="1300" dirty="0"/>
          </a:p>
        </p:txBody>
      </p:sp>
      <p:sp>
        <p:nvSpPr>
          <p:cNvPr id="14" name="Text 11"/>
          <p:cNvSpPr/>
          <p:nvPr/>
        </p:nvSpPr>
        <p:spPr>
          <a:xfrm>
            <a:off x="6729457" y="2948077"/>
            <a:ext cx="2162087" cy="449439"/>
          </a:xfrm>
          <a:prstGeom prst="roundRect">
            <a:avLst>
              <a:gd name="adj" fmla="val 10597"/>
            </a:avLst>
          </a:prstGeom>
          <a:solidFill>
            <a:srgbClr val="FFFDF8"/>
          </a:solidFill>
          <a:ln w="6350">
            <a:solidFill>
              <a:srgbClr val="8C96A3"/>
            </a:solidFill>
            <a:prstDash val="solid"/>
          </a:ln>
        </p:spPr>
        <p:txBody>
          <a:bodyPr wrap="square" lIns="47730" tIns="77421" rIns="47730" bIns="52021" rtlCol="0" anchor="t">
            <a:normAutofit/>
          </a:bodyPr>
          <a:lstStyle/>
          <a:p>
            <a:pPr algn="ctr" indent="0" marL="0">
              <a:lnSpc>
                <a:spcPts val="2100"/>
              </a:lnSpc>
              <a:buNone/>
            </a:pPr>
            <a:r>
              <a:rPr lang="en-US" sz="1500" dirty="0">
                <a:solidFill>
                  <a:srgbClr val="14213D"/>
                </a:solidFill>
                <a:latin typeface="Rubik" pitchFamily="34" charset="0"/>
                <a:ea typeface="Rubik" pitchFamily="34" charset="-122"/>
                <a:cs typeface="Rubik" pitchFamily="34" charset="-120"/>
              </a:rPr>
              <a:t>"Asha"</a:t>
            </a:r>
            <a:endParaRPr lang="en-US" sz="1500" dirty="0"/>
          </a:p>
        </p:txBody>
      </p:sp>
      <p:sp>
        <p:nvSpPr>
          <p:cNvPr id="15" name="Text 12"/>
          <p:cNvSpPr/>
          <p:nvPr/>
        </p:nvSpPr>
        <p:spPr>
          <a:xfrm>
            <a:off x="7394421" y="3451489"/>
            <a:ext cx="832115"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2F6FB3"/>
                </a:solidFill>
                <a:latin typeface="JetBrains Mono" pitchFamily="49" charset="0"/>
                <a:ea typeface="JetBrains Mono" pitchFamily="49" charset="-122"/>
                <a:cs typeface="JetBrains Mono" pitchFamily="49" charset="-120"/>
              </a:rPr>
              <a:t>s1.name</a:t>
            </a:r>
            <a:endParaRPr lang="en-US" sz="1300" dirty="0"/>
          </a:p>
        </p:txBody>
      </p:sp>
      <p:sp>
        <p:nvSpPr>
          <p:cNvPr id="16" name="Text 13"/>
          <p:cNvSpPr/>
          <p:nvPr/>
        </p:nvSpPr>
        <p:spPr>
          <a:xfrm>
            <a:off x="8999493" y="2948077"/>
            <a:ext cx="2162043" cy="449439"/>
          </a:xfrm>
          <a:prstGeom prst="roundRect">
            <a:avLst>
              <a:gd name="adj" fmla="val 10597"/>
            </a:avLst>
          </a:prstGeom>
          <a:solidFill>
            <a:srgbClr val="FFFDF8"/>
          </a:solidFill>
          <a:ln w="6350">
            <a:solidFill>
              <a:srgbClr val="8C96A3"/>
            </a:solidFill>
            <a:prstDash val="solid"/>
          </a:ln>
        </p:spPr>
        <p:txBody>
          <a:bodyPr wrap="square" lIns="47731" tIns="77421" rIns="47731" bIns="52021" rtlCol="0" anchor="t">
            <a:normAutofit/>
          </a:bodyPr>
          <a:lstStyle/>
          <a:p>
            <a:pPr algn="ctr" indent="0" marL="0">
              <a:lnSpc>
                <a:spcPts val="2100"/>
              </a:lnSpc>
              <a:buNone/>
            </a:pPr>
            <a:r>
              <a:rPr lang="en-US" sz="1500" dirty="0">
                <a:solidFill>
                  <a:srgbClr val="14213D"/>
                </a:solidFill>
                <a:latin typeface="Rubik" pitchFamily="34" charset="0"/>
                <a:ea typeface="Rubik" pitchFamily="34" charset="-122"/>
                <a:cs typeface="Rubik" pitchFamily="34" charset="-120"/>
              </a:rPr>
              <a:t>87.5</a:t>
            </a:r>
            <a:endParaRPr lang="en-US" sz="1500" dirty="0"/>
          </a:p>
        </p:txBody>
      </p:sp>
      <p:sp>
        <p:nvSpPr>
          <p:cNvPr id="17" name="Text 14"/>
          <p:cNvSpPr/>
          <p:nvPr/>
        </p:nvSpPr>
        <p:spPr>
          <a:xfrm>
            <a:off x="9604984" y="3451489"/>
            <a:ext cx="951018"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2F6FB3"/>
                </a:solidFill>
                <a:latin typeface="JetBrains Mono" pitchFamily="49" charset="0"/>
                <a:ea typeface="JetBrains Mono" pitchFamily="49" charset="-122"/>
                <a:cs typeface="JetBrains Mono" pitchFamily="49" charset="-120"/>
              </a:rPr>
              <a:t>s1.marks</a:t>
            </a:r>
            <a:endParaRPr lang="en-US" sz="1300" dirty="0"/>
          </a:p>
        </p:txBody>
      </p:sp>
      <p:sp>
        <p:nvSpPr>
          <p:cNvPr id="18" name="Shape 15"/>
          <p:cNvSpPr/>
          <p:nvPr/>
        </p:nvSpPr>
        <p:spPr>
          <a:xfrm>
            <a:off x="4248150" y="4030445"/>
            <a:ext cx="7124700" cy="1471480"/>
          </a:xfrm>
          <a:prstGeom prst="roundRect">
            <a:avLst>
              <a:gd name="adj" fmla="val 6473"/>
            </a:avLst>
          </a:prstGeom>
          <a:solidFill>
            <a:srgbClr val="EAF1F9"/>
          </a:solidFill>
          <a:ln w="12700">
            <a:solidFill>
              <a:srgbClr val="2F6FB3"/>
            </a:solidFill>
            <a:prstDash val="solid"/>
          </a:ln>
        </p:spPr>
      </p:sp>
      <p:sp>
        <p:nvSpPr>
          <p:cNvPr id="19" name="Text 16"/>
          <p:cNvSpPr/>
          <p:nvPr/>
        </p:nvSpPr>
        <p:spPr>
          <a:xfrm>
            <a:off x="4456289" y="4213182"/>
            <a:ext cx="690967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Variable s2</a:t>
            </a:r>
            <a:endParaRPr lang="en-US" sz="1500" dirty="0"/>
          </a:p>
        </p:txBody>
      </p:sp>
      <p:sp>
        <p:nvSpPr>
          <p:cNvPr id="20" name="Text 17"/>
          <p:cNvSpPr/>
          <p:nvPr/>
        </p:nvSpPr>
        <p:spPr>
          <a:xfrm>
            <a:off x="4459464" y="4584657"/>
            <a:ext cx="2162043" cy="449439"/>
          </a:xfrm>
          <a:prstGeom prst="roundRect">
            <a:avLst>
              <a:gd name="adj" fmla="val 10597"/>
            </a:avLst>
          </a:prstGeom>
          <a:solidFill>
            <a:srgbClr val="FFFDF8"/>
          </a:solidFill>
          <a:ln w="6350">
            <a:solidFill>
              <a:srgbClr val="8C96A3"/>
            </a:solidFill>
            <a:prstDash val="solid"/>
          </a:ln>
        </p:spPr>
        <p:txBody>
          <a:bodyPr wrap="square" lIns="47731" tIns="77421" rIns="47731" bIns="52021" rtlCol="0" anchor="t">
            <a:normAutofit/>
          </a:bodyPr>
          <a:lstStyle/>
          <a:p>
            <a:pPr algn="ctr" indent="0" marL="0">
              <a:lnSpc>
                <a:spcPts val="2100"/>
              </a:lnSpc>
              <a:buNone/>
            </a:pPr>
            <a:r>
              <a:rPr lang="en-US" sz="1500" dirty="0">
                <a:solidFill>
                  <a:srgbClr val="14213D"/>
                </a:solidFill>
                <a:latin typeface="Rubik" pitchFamily="34" charset="0"/>
                <a:ea typeface="Rubik" pitchFamily="34" charset="-122"/>
                <a:cs typeface="Rubik" pitchFamily="34" charset="-120"/>
              </a:rPr>
              <a:t>102</a:t>
            </a:r>
            <a:endParaRPr lang="en-US" sz="1500" dirty="0"/>
          </a:p>
        </p:txBody>
      </p:sp>
      <p:sp>
        <p:nvSpPr>
          <p:cNvPr id="21" name="Text 18"/>
          <p:cNvSpPr/>
          <p:nvPr/>
        </p:nvSpPr>
        <p:spPr>
          <a:xfrm>
            <a:off x="5124428" y="5088068"/>
            <a:ext cx="832115"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2F6FB3"/>
                </a:solidFill>
                <a:latin typeface="JetBrains Mono" pitchFamily="49" charset="0"/>
                <a:ea typeface="JetBrains Mono" pitchFamily="49" charset="-122"/>
                <a:cs typeface="JetBrains Mono" pitchFamily="49" charset="-120"/>
              </a:rPr>
              <a:t>s2.roll</a:t>
            </a:r>
            <a:endParaRPr lang="en-US" sz="1300" dirty="0"/>
          </a:p>
        </p:txBody>
      </p:sp>
      <p:sp>
        <p:nvSpPr>
          <p:cNvPr id="22" name="Text 19"/>
          <p:cNvSpPr/>
          <p:nvPr/>
        </p:nvSpPr>
        <p:spPr>
          <a:xfrm>
            <a:off x="6729457" y="4584657"/>
            <a:ext cx="2162087" cy="449439"/>
          </a:xfrm>
          <a:prstGeom prst="roundRect">
            <a:avLst>
              <a:gd name="adj" fmla="val 10597"/>
            </a:avLst>
          </a:prstGeom>
          <a:solidFill>
            <a:srgbClr val="FFFDF8"/>
          </a:solidFill>
          <a:ln w="6350">
            <a:solidFill>
              <a:srgbClr val="8C96A3"/>
            </a:solidFill>
            <a:prstDash val="solid"/>
          </a:ln>
        </p:spPr>
        <p:txBody>
          <a:bodyPr wrap="square" lIns="47730" tIns="77421" rIns="47730" bIns="52021" rtlCol="0" anchor="t">
            <a:normAutofit/>
          </a:bodyPr>
          <a:lstStyle/>
          <a:p>
            <a:pPr algn="ctr" indent="0" marL="0">
              <a:lnSpc>
                <a:spcPts val="2100"/>
              </a:lnSpc>
              <a:buNone/>
            </a:pPr>
            <a:r>
              <a:rPr lang="en-US" sz="1500" dirty="0">
                <a:solidFill>
                  <a:srgbClr val="14213D"/>
                </a:solidFill>
                <a:latin typeface="Rubik" pitchFamily="34" charset="0"/>
                <a:ea typeface="Rubik" pitchFamily="34" charset="-122"/>
                <a:cs typeface="Rubik" pitchFamily="34" charset="-120"/>
              </a:rPr>
              <a:t>"Ravi"</a:t>
            </a:r>
            <a:endParaRPr lang="en-US" sz="1500" dirty="0"/>
          </a:p>
        </p:txBody>
      </p:sp>
      <p:sp>
        <p:nvSpPr>
          <p:cNvPr id="23" name="Text 20"/>
          <p:cNvSpPr/>
          <p:nvPr/>
        </p:nvSpPr>
        <p:spPr>
          <a:xfrm>
            <a:off x="7394421" y="5088068"/>
            <a:ext cx="832115"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2F6FB3"/>
                </a:solidFill>
                <a:latin typeface="JetBrains Mono" pitchFamily="49" charset="0"/>
                <a:ea typeface="JetBrains Mono" pitchFamily="49" charset="-122"/>
                <a:cs typeface="JetBrains Mono" pitchFamily="49" charset="-120"/>
              </a:rPr>
              <a:t>s2.name</a:t>
            </a:r>
            <a:endParaRPr lang="en-US" sz="1300" dirty="0"/>
          </a:p>
        </p:txBody>
      </p:sp>
      <p:sp>
        <p:nvSpPr>
          <p:cNvPr id="24" name="Text 21"/>
          <p:cNvSpPr/>
          <p:nvPr/>
        </p:nvSpPr>
        <p:spPr>
          <a:xfrm>
            <a:off x="8999493" y="4584657"/>
            <a:ext cx="2162043" cy="449439"/>
          </a:xfrm>
          <a:prstGeom prst="roundRect">
            <a:avLst>
              <a:gd name="adj" fmla="val 10597"/>
            </a:avLst>
          </a:prstGeom>
          <a:solidFill>
            <a:srgbClr val="FFFDF8"/>
          </a:solidFill>
          <a:ln w="6350">
            <a:solidFill>
              <a:srgbClr val="8C96A3"/>
            </a:solidFill>
            <a:prstDash val="solid"/>
          </a:ln>
        </p:spPr>
        <p:txBody>
          <a:bodyPr wrap="square" lIns="47731" tIns="77421" rIns="47731" bIns="52021" rtlCol="0" anchor="t">
            <a:normAutofit/>
          </a:bodyPr>
          <a:lstStyle/>
          <a:p>
            <a:pPr algn="ctr" indent="0" marL="0">
              <a:lnSpc>
                <a:spcPts val="2100"/>
              </a:lnSpc>
              <a:buNone/>
            </a:pPr>
            <a:r>
              <a:rPr lang="en-US" sz="1500" dirty="0">
                <a:solidFill>
                  <a:srgbClr val="14213D"/>
                </a:solidFill>
                <a:latin typeface="Rubik" pitchFamily="34" charset="0"/>
                <a:ea typeface="Rubik" pitchFamily="34" charset="-122"/>
                <a:cs typeface="Rubik" pitchFamily="34" charset="-120"/>
              </a:rPr>
              <a:t>91.0</a:t>
            </a:r>
            <a:endParaRPr lang="en-US" sz="1500" dirty="0"/>
          </a:p>
        </p:txBody>
      </p:sp>
      <p:sp>
        <p:nvSpPr>
          <p:cNvPr id="25" name="Text 22"/>
          <p:cNvSpPr/>
          <p:nvPr/>
        </p:nvSpPr>
        <p:spPr>
          <a:xfrm>
            <a:off x="9604984" y="5088068"/>
            <a:ext cx="951018"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2F6FB3"/>
                </a:solidFill>
                <a:latin typeface="JetBrains Mono" pitchFamily="49" charset="0"/>
                <a:ea typeface="JetBrains Mono" pitchFamily="49" charset="-122"/>
                <a:cs typeface="JetBrains Mono" pitchFamily="49" charset="-120"/>
              </a:rPr>
              <a:t>s2.marks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333"/>
          </a:xfrm>
          <a:prstGeom prst="rect">
            <a:avLst/>
          </a:prstGeom>
          <a:noFill/>
          <a:ln/>
        </p:spPr>
        <p:txBody>
          <a:bodyPr wrap="square" lIns="0" tIns="0" rIns="0" bIns="0" rtlCol="0" anchor="t">
            <a:normAutofit/>
          </a:bodyPr>
          <a:lstStyle/>
          <a:p>
            <a:pPr algn="l" indent="0" marL="0">
              <a:lnSpc>
                <a:spcPts val="1675"/>
              </a:lnSpc>
              <a:buNone/>
            </a:pPr>
            <a:r>
              <a:rPr lang="en-US" sz="1196" b="1" spc="200" kern="0" dirty="0">
                <a:solidFill>
                  <a:srgbClr val="B8501F"/>
                </a:solidFill>
                <a:latin typeface="Rubik" pitchFamily="34" charset="0"/>
                <a:ea typeface="Rubik" pitchFamily="34" charset="-122"/>
                <a:cs typeface="Rubik" pitchFamily="34" charset="-120"/>
              </a:rPr>
              <a:t>INITIALIZATION</a:t>
            </a:r>
            <a:endParaRPr lang="en-US" sz="1196" dirty="0"/>
          </a:p>
        </p:txBody>
      </p:sp>
      <p:sp>
        <p:nvSpPr>
          <p:cNvPr id="3" name="Text 1"/>
          <p:cNvSpPr/>
          <p:nvPr>
            <p:ph type="title"/>
          </p:nvPr>
        </p:nvSpPr>
        <p:spPr>
          <a:xfrm>
            <a:off x="812800" y="1123336"/>
            <a:ext cx="10883392" cy="517922"/>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14213D"/>
                </a:solidFill>
                <a:latin typeface="Rubik" pitchFamily="34" charset="0"/>
                <a:ea typeface="Rubik" pitchFamily="34" charset="-122"/>
                <a:cs typeface="Rubik" pitchFamily="34" charset="-120"/>
              </a:rPr>
              <a:t>Initializing structure variables</a:t>
            </a:r>
            <a:endParaRPr lang="en-US" sz="3566" dirty="0"/>
          </a:p>
        </p:txBody>
      </p:sp>
      <p:sp>
        <p:nvSpPr>
          <p:cNvPr id="4" name="Shape 2"/>
          <p:cNvSpPr/>
          <p:nvPr/>
        </p:nvSpPr>
        <p:spPr>
          <a:xfrm>
            <a:off x="815975" y="1873033"/>
            <a:ext cx="10560050" cy="930275"/>
          </a:xfrm>
          <a:prstGeom prst="roundRect">
            <a:avLst>
              <a:gd name="adj" fmla="val 10580"/>
            </a:avLst>
          </a:prstGeom>
          <a:solidFill>
            <a:srgbClr val="FFFDF8"/>
          </a:solidFill>
          <a:ln w="6350">
            <a:solidFill>
              <a:srgbClr val="E2DED3"/>
            </a:solidFill>
            <a:prstDash val="solid"/>
          </a:ln>
        </p:spPr>
      </p:sp>
      <p:sp>
        <p:nvSpPr>
          <p:cNvPr id="5" name="Text 3"/>
          <p:cNvSpPr/>
          <p:nvPr/>
        </p:nvSpPr>
        <p:spPr>
          <a:xfrm>
            <a:off x="1021644" y="1966695"/>
            <a:ext cx="2354580" cy="7683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Rubik" pitchFamily="34" charset="0"/>
                <a:ea typeface="Rubik" pitchFamily="34" charset="-122"/>
                <a:cs typeface="Rubik" pitchFamily="34" charset="-120"/>
              </a:rPr>
              <a:t>In order</a:t>
            </a:r>
            <a:endParaRPr lang="en-US" sz="1500" dirty="0"/>
          </a:p>
          <a:p>
            <a:pPr algn="l" indent="0" marL="0">
              <a:lnSpc>
                <a:spcPts val="1950"/>
              </a:lnSpc>
              <a:buNone/>
            </a:pPr>
            <a:r>
              <a:rPr lang="en-US" sz="1500" dirty="0">
                <a:solidFill>
                  <a:srgbClr val="4A5568"/>
                </a:solidFill>
                <a:latin typeface="Rubik" pitchFamily="34" charset="0"/>
                <a:ea typeface="Rubik" pitchFamily="34" charset="-122"/>
                <a:cs typeface="Rubik" pitchFamily="34" charset="-120"/>
              </a:rPr>
              <a:t>same order as the definition</a:t>
            </a:r>
            <a:endParaRPr lang="en-US" sz="1500" dirty="0"/>
          </a:p>
        </p:txBody>
      </p:sp>
      <p:sp>
        <p:nvSpPr>
          <p:cNvPr id="6" name="Text 4"/>
          <p:cNvSpPr/>
          <p:nvPr/>
        </p:nvSpPr>
        <p:spPr>
          <a:xfrm>
            <a:off x="3510845" y="2213725"/>
            <a:ext cx="7889297" cy="274285"/>
          </a:xfrm>
          <a:prstGeom prst="rect">
            <a:avLst/>
          </a:prstGeom>
          <a:noFill/>
          <a:ln/>
        </p:spPr>
        <p:txBody>
          <a:bodyPr wrap="non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struct student s1 = {101, "Asha", 87.5};</a:t>
            </a:r>
            <a:endParaRPr lang="en-US" sz="1400" dirty="0"/>
          </a:p>
        </p:txBody>
      </p:sp>
      <p:sp>
        <p:nvSpPr>
          <p:cNvPr id="7" name="Shape 5"/>
          <p:cNvSpPr/>
          <p:nvPr/>
        </p:nvSpPr>
        <p:spPr>
          <a:xfrm>
            <a:off x="815975" y="2936658"/>
            <a:ext cx="10560050" cy="689592"/>
          </a:xfrm>
          <a:prstGeom prst="roundRect">
            <a:avLst>
              <a:gd name="adj" fmla="val 14273"/>
            </a:avLst>
          </a:prstGeom>
          <a:solidFill>
            <a:srgbClr val="FFFDF8"/>
          </a:solidFill>
          <a:ln w="6350">
            <a:solidFill>
              <a:srgbClr val="E2DED3"/>
            </a:solidFill>
            <a:prstDash val="solid"/>
          </a:ln>
        </p:spPr>
      </p:sp>
      <p:sp>
        <p:nvSpPr>
          <p:cNvPr id="8" name="Text 6"/>
          <p:cNvSpPr/>
          <p:nvPr/>
        </p:nvSpPr>
        <p:spPr>
          <a:xfrm>
            <a:off x="1021644" y="3033799"/>
            <a:ext cx="235458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Rubik" pitchFamily="34" charset="0"/>
                <a:ea typeface="Rubik" pitchFamily="34" charset="-122"/>
                <a:cs typeface="Rubik" pitchFamily="34" charset="-120"/>
              </a:rPr>
              <a:t>By member name</a:t>
            </a:r>
            <a:endParaRPr lang="en-US" sz="1500" dirty="0"/>
          </a:p>
          <a:p>
            <a:pPr algn="l" indent="0" marL="0">
              <a:lnSpc>
                <a:spcPts val="1950"/>
              </a:lnSpc>
              <a:buNone/>
            </a:pPr>
            <a:r>
              <a:rPr lang="en-US" sz="1500" dirty="0">
                <a:solidFill>
                  <a:srgbClr val="4A5568"/>
                </a:solidFill>
                <a:latin typeface="Rubik" pitchFamily="34" charset="0"/>
                <a:ea typeface="Rubik" pitchFamily="34" charset="-122"/>
                <a:cs typeface="Rubik" pitchFamily="34" charset="-120"/>
              </a:rPr>
              <a:t>order doesn’t matter</a:t>
            </a:r>
            <a:endParaRPr lang="en-US" sz="1500" dirty="0"/>
          </a:p>
        </p:txBody>
      </p:sp>
      <p:sp>
        <p:nvSpPr>
          <p:cNvPr id="9" name="Text 7"/>
          <p:cNvSpPr/>
          <p:nvPr/>
        </p:nvSpPr>
        <p:spPr>
          <a:xfrm>
            <a:off x="3510845" y="3157010"/>
            <a:ext cx="7889297" cy="274285"/>
          </a:xfrm>
          <a:prstGeom prst="rect">
            <a:avLst/>
          </a:prstGeom>
          <a:noFill/>
          <a:ln/>
        </p:spPr>
        <p:txBody>
          <a:bodyPr wrap="non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struct student s2 = {.roll = 102, .marks = 91.0};</a:t>
            </a:r>
            <a:endParaRPr lang="en-US" sz="1400" dirty="0"/>
          </a:p>
        </p:txBody>
      </p:sp>
      <p:sp>
        <p:nvSpPr>
          <p:cNvPr id="10" name="Shape 8"/>
          <p:cNvSpPr/>
          <p:nvPr/>
        </p:nvSpPr>
        <p:spPr>
          <a:xfrm>
            <a:off x="815975" y="3759597"/>
            <a:ext cx="10560050" cy="689592"/>
          </a:xfrm>
          <a:prstGeom prst="roundRect">
            <a:avLst>
              <a:gd name="adj" fmla="val 14273"/>
            </a:avLst>
          </a:prstGeom>
          <a:solidFill>
            <a:srgbClr val="FFFDF8"/>
          </a:solidFill>
          <a:ln w="6350">
            <a:solidFill>
              <a:srgbClr val="E2DED3"/>
            </a:solidFill>
            <a:prstDash val="solid"/>
          </a:ln>
        </p:spPr>
      </p:sp>
      <p:sp>
        <p:nvSpPr>
          <p:cNvPr id="11" name="Text 9"/>
          <p:cNvSpPr/>
          <p:nvPr/>
        </p:nvSpPr>
        <p:spPr>
          <a:xfrm>
            <a:off x="1021644" y="3856744"/>
            <a:ext cx="235458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Rubik" pitchFamily="34" charset="0"/>
                <a:ea typeface="Rubik" pitchFamily="34" charset="-122"/>
                <a:cs typeface="Rubik" pitchFamily="34" charset="-120"/>
              </a:rPr>
              <a:t>Partial</a:t>
            </a:r>
            <a:endParaRPr lang="en-US" sz="1500" dirty="0"/>
          </a:p>
          <a:p>
            <a:pPr algn="l" indent="0" marL="0">
              <a:lnSpc>
                <a:spcPts val="1950"/>
              </a:lnSpc>
              <a:buNone/>
            </a:pPr>
            <a:r>
              <a:rPr lang="en-US" sz="1500" dirty="0">
                <a:solidFill>
                  <a:srgbClr val="4A5568"/>
                </a:solidFill>
                <a:latin typeface="Rubik" pitchFamily="34" charset="0"/>
                <a:ea typeface="Rubik" pitchFamily="34" charset="-122"/>
                <a:cs typeface="Rubik" pitchFamily="34" charset="-120"/>
              </a:rPr>
              <a:t>the rest become 0</a:t>
            </a:r>
            <a:endParaRPr lang="en-US" sz="1500" dirty="0"/>
          </a:p>
        </p:txBody>
      </p:sp>
      <p:sp>
        <p:nvSpPr>
          <p:cNvPr id="12" name="Text 10"/>
          <p:cNvSpPr/>
          <p:nvPr/>
        </p:nvSpPr>
        <p:spPr>
          <a:xfrm>
            <a:off x="3510845" y="3979949"/>
            <a:ext cx="7889297" cy="274285"/>
          </a:xfrm>
          <a:prstGeom prst="rect">
            <a:avLst/>
          </a:prstGeom>
          <a:noFill/>
          <a:ln/>
        </p:spPr>
        <p:txBody>
          <a:bodyPr wrap="non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struct student s3 = {103};</a:t>
            </a:r>
            <a:endParaRPr lang="en-US" sz="1400" dirty="0"/>
          </a:p>
        </p:txBody>
      </p:sp>
      <p:sp>
        <p:nvSpPr>
          <p:cNvPr id="13" name="Shape 11"/>
          <p:cNvSpPr/>
          <p:nvPr/>
        </p:nvSpPr>
        <p:spPr>
          <a:xfrm>
            <a:off x="815975" y="4582542"/>
            <a:ext cx="10560050" cy="689592"/>
          </a:xfrm>
          <a:prstGeom prst="roundRect">
            <a:avLst>
              <a:gd name="adj" fmla="val 14273"/>
            </a:avLst>
          </a:prstGeom>
          <a:solidFill>
            <a:srgbClr val="FFFDF8"/>
          </a:solidFill>
          <a:ln w="6350">
            <a:solidFill>
              <a:srgbClr val="E2DED3"/>
            </a:solidFill>
            <a:prstDash val="solid"/>
          </a:ln>
        </p:spPr>
      </p:sp>
      <p:sp>
        <p:nvSpPr>
          <p:cNvPr id="14" name="Text 12"/>
          <p:cNvSpPr/>
          <p:nvPr/>
        </p:nvSpPr>
        <p:spPr>
          <a:xfrm>
            <a:off x="1021644" y="4679683"/>
            <a:ext cx="235458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Rubik" pitchFamily="34" charset="0"/>
                <a:ea typeface="Rubik" pitchFamily="34" charset="-122"/>
                <a:cs typeface="Rubik" pitchFamily="34" charset="-120"/>
              </a:rPr>
              <a:t>Copy</a:t>
            </a:r>
            <a:endParaRPr lang="en-US" sz="1500" dirty="0"/>
          </a:p>
          <a:p>
            <a:pPr algn="l" indent="0" marL="0">
              <a:lnSpc>
                <a:spcPts val="1950"/>
              </a:lnSpc>
              <a:buNone/>
            </a:pPr>
            <a:r>
              <a:rPr lang="en-US" sz="1500" dirty="0">
                <a:solidFill>
                  <a:srgbClr val="4A5568"/>
                </a:solidFill>
                <a:latin typeface="Rubik" pitchFamily="34" charset="0"/>
                <a:ea typeface="Rubik" pitchFamily="34" charset="-122"/>
                <a:cs typeface="Rubik" pitchFamily="34" charset="-120"/>
              </a:rPr>
              <a:t>all members at once</a:t>
            </a:r>
            <a:endParaRPr lang="en-US" sz="1500" dirty="0"/>
          </a:p>
        </p:txBody>
      </p:sp>
      <p:sp>
        <p:nvSpPr>
          <p:cNvPr id="15" name="Text 13"/>
          <p:cNvSpPr/>
          <p:nvPr/>
        </p:nvSpPr>
        <p:spPr>
          <a:xfrm>
            <a:off x="3510845" y="4802894"/>
            <a:ext cx="7889297" cy="274285"/>
          </a:xfrm>
          <a:prstGeom prst="rect">
            <a:avLst/>
          </a:prstGeom>
          <a:noFill/>
          <a:ln/>
        </p:spPr>
        <p:txBody>
          <a:bodyPr wrap="non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struct student s4 = s1;</a:t>
            </a:r>
            <a:endParaRPr lang="en-US" sz="1400" dirty="0"/>
          </a:p>
        </p:txBody>
      </p:sp>
      <p:sp>
        <p:nvSpPr>
          <p:cNvPr id="16" name="Text 14"/>
          <p:cNvSpPr/>
          <p:nvPr/>
        </p:nvSpPr>
        <p:spPr>
          <a:xfrm>
            <a:off x="812800" y="5529306"/>
            <a:ext cx="10566400" cy="515893"/>
          </a:xfrm>
          <a:prstGeom prst="roundRect">
            <a:avLst>
              <a:gd name="adj" fmla="val 14771"/>
            </a:avLst>
          </a:prstGeom>
          <a:solidFill>
            <a:srgbClr val="F3E3D6"/>
          </a:solidFill>
          <a:ln/>
        </p:spPr>
        <p:txBody>
          <a:bodyPr wrap="square" lIns="155482" tIns="104682" rIns="0" bIns="79282" rtlCol="0" anchor="t">
            <a:normAutofit/>
          </a:bodyPr>
          <a:lstStyle/>
          <a:p>
            <a:pPr algn="l" indent="0" marL="0">
              <a:lnSpc>
                <a:spcPts val="2074"/>
              </a:lnSpc>
              <a:buNone/>
            </a:pPr>
            <a:r>
              <a:rPr lang="en-US" sz="1481" b="1" dirty="0">
                <a:solidFill>
                  <a:srgbClr val="14213D"/>
                </a:solidFill>
                <a:latin typeface="Rubik" pitchFamily="34" charset="0"/>
                <a:ea typeface="Rubik" pitchFamily="34" charset="-122"/>
                <a:cs typeface="Rubik" pitchFamily="34" charset="-120"/>
              </a:rPr>
              <a:t>Braces work only while declaring.</a:t>
            </a:r>
            <a:r>
              <a:rPr lang="en-US" sz="1481" dirty="0">
                <a:solidFill>
                  <a:srgbClr val="14213D"/>
                </a:solidFill>
                <a:latin typeface="Rubik" pitchFamily="34" charset="0"/>
                <a:ea typeface="Rubik" pitchFamily="34" charset="-122"/>
                <a:cs typeface="Rubik" pitchFamily="34" charset="-120"/>
              </a:rPr>
              <a:t> s5 = {105, "Kiran", 66.0}; later is an error.</a:t>
            </a:r>
            <a:endParaRPr lang="en-US" sz="148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ACCESSING MEMBERS</a:t>
            </a:r>
            <a:endParaRPr lang="en-US" sz="1200" dirty="0"/>
          </a:p>
        </p:txBody>
      </p:sp>
      <p:sp>
        <p:nvSpPr>
          <p:cNvPr id="3" name="Text 1"/>
          <p:cNvSpPr/>
          <p:nvPr>
            <p:ph type="title"/>
          </p:nvPr>
        </p:nvSpPr>
        <p:spPr>
          <a:xfrm>
            <a:off x="812800" y="11277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The dot operator: variable.member</a:t>
            </a:r>
            <a:endParaRPr lang="en-US" sz="3600" dirty="0"/>
          </a:p>
        </p:txBody>
      </p:sp>
      <p:sp>
        <p:nvSpPr>
          <p:cNvPr id="4" name="Text 2"/>
          <p:cNvSpPr/>
          <p:nvPr/>
        </p:nvSpPr>
        <p:spPr>
          <a:xfrm>
            <a:off x="812800" y="1884629"/>
            <a:ext cx="5461000" cy="3286125"/>
          </a:xfrm>
          <a:prstGeom prst="roundRect">
            <a:avLst>
              <a:gd name="adj" fmla="val 3092"/>
            </a:avLst>
          </a:prstGeom>
          <a:solidFill>
            <a:srgbClr val="14213D"/>
          </a:solidFill>
          <a:ln/>
        </p:spPr>
        <p:txBody>
          <a:bodyPr wrap="none" lIns="224242" tIns="198842" rIns="75652" bIns="173442" rtlCol="0" anchor="t">
            <a:normAutofit/>
          </a:bodyPr>
          <a:lstStyle/>
          <a:p>
            <a:pPr algn="l" indent="0" marL="0">
              <a:lnSpc>
                <a:spcPts val="2025"/>
              </a:lnSpc>
              <a:buNone/>
            </a:pPr>
            <a:r>
              <a:rPr lang="en-US" sz="1350" dirty="0">
                <a:solidFill>
                  <a:srgbClr val="8FA3BF"/>
                </a:solidFill>
                <a:latin typeface="JetBrains Mono" pitchFamily="49" charset="0"/>
                <a:ea typeface="JetBrains Mono" pitchFamily="49" charset="-122"/>
                <a:cs typeface="JetBrains Mono" pitchFamily="49" charset="-120"/>
              </a:rPr>
              <a:t>// Read (print)</a:t>
            </a:r>
            <a:endParaRPr lang="en-US" sz="1350" dirty="0"/>
          </a:p>
          <a:p>
            <a:pPr algn="l" indent="0" marL="0">
              <a:lnSpc>
                <a:spcPts val="2025"/>
              </a:lnSpc>
              <a:buNone/>
            </a:pPr>
            <a:r>
              <a:rPr lang="en-US" sz="1350" dirty="0">
                <a:solidFill>
                  <a:srgbClr val="E6EBF2"/>
                </a:solidFill>
                <a:latin typeface="JetBrains Mono" pitchFamily="49" charset="0"/>
                <a:ea typeface="JetBrains Mono" pitchFamily="49" charset="-122"/>
                <a:cs typeface="JetBrains Mono" pitchFamily="49" charset="-120"/>
              </a:rPr>
              <a:t>printf("%d", s1</a:t>
            </a:r>
            <a:r>
              <a:rPr lang="en-US" sz="1350" dirty="0">
                <a:solidFill>
                  <a:srgbClr val="F5A66B"/>
                </a:solidFill>
                <a:latin typeface="JetBrains Mono" pitchFamily="49" charset="0"/>
                <a:ea typeface="JetBrains Mono" pitchFamily="49" charset="-122"/>
                <a:cs typeface="JetBrains Mono" pitchFamily="49" charset="-120"/>
              </a:rPr>
              <a:t>.</a:t>
            </a:r>
            <a:r>
              <a:rPr lang="en-US" sz="1350" dirty="0">
                <a:solidFill>
                  <a:srgbClr val="E6EBF2"/>
                </a:solidFill>
                <a:latin typeface="JetBrains Mono" pitchFamily="49" charset="0"/>
                <a:ea typeface="JetBrains Mono" pitchFamily="49" charset="-122"/>
                <a:cs typeface="JetBrains Mono" pitchFamily="49" charset="-120"/>
              </a:rPr>
              <a:t>roll);</a:t>
            </a:r>
            <a:endParaRPr lang="en-US" sz="1350" dirty="0"/>
          </a:p>
          <a:p>
            <a:pPr algn="l" indent="0" marL="0">
              <a:lnSpc>
                <a:spcPts val="2025"/>
              </a:lnSpc>
              <a:buNone/>
            </a:pPr>
            <a:r>
              <a:rPr lang="en-US" sz="1350" dirty="0">
                <a:solidFill>
                  <a:srgbClr val="E6EBF2"/>
                </a:solidFill>
                <a:latin typeface="JetBrains Mono" pitchFamily="49" charset="0"/>
                <a:ea typeface="JetBrains Mono" pitchFamily="49" charset="-122"/>
                <a:cs typeface="JetBrains Mono" pitchFamily="49" charset="-120"/>
              </a:rPr>
              <a:t>printf("%s", s1</a:t>
            </a:r>
            <a:r>
              <a:rPr lang="en-US" sz="1350" dirty="0">
                <a:solidFill>
                  <a:srgbClr val="F5A66B"/>
                </a:solidFill>
                <a:latin typeface="JetBrains Mono" pitchFamily="49" charset="0"/>
                <a:ea typeface="JetBrains Mono" pitchFamily="49" charset="-122"/>
                <a:cs typeface="JetBrains Mono" pitchFamily="49" charset="-120"/>
              </a:rPr>
              <a:t>.</a:t>
            </a:r>
            <a:r>
              <a:rPr lang="en-US" sz="1350" dirty="0">
                <a:solidFill>
                  <a:srgbClr val="E6EBF2"/>
                </a:solidFill>
                <a:latin typeface="JetBrains Mono" pitchFamily="49" charset="0"/>
                <a:ea typeface="JetBrains Mono" pitchFamily="49" charset="-122"/>
                <a:cs typeface="JetBrains Mono" pitchFamily="49" charset="-120"/>
              </a:rPr>
              <a:t>name);</a:t>
            </a:r>
            <a:endParaRPr lang="en-US" sz="1350" dirty="0"/>
          </a:p>
          <a:p>
            <a:pPr algn="l" indent="0" marL="0">
              <a:lnSpc>
                <a:spcPts val="2025"/>
              </a:lnSpc>
              <a:buNone/>
            </a:pPr>
            <a:endParaRPr lang="en-US" sz="1350" dirty="0"/>
          </a:p>
          <a:p>
            <a:pPr algn="l" indent="0" marL="0">
              <a:lnSpc>
                <a:spcPts val="2025"/>
              </a:lnSpc>
              <a:buNone/>
            </a:pPr>
            <a:r>
              <a:rPr lang="en-US" sz="1350" dirty="0">
                <a:solidFill>
                  <a:srgbClr val="8FA3BF"/>
                </a:solidFill>
                <a:latin typeface="JetBrains Mono" pitchFamily="49" charset="0"/>
                <a:ea typeface="JetBrains Mono" pitchFamily="49" charset="-122"/>
                <a:cs typeface="JetBrains Mono" pitchFamily="49" charset="-120"/>
              </a:rPr>
              <a:t>// Change</a:t>
            </a:r>
            <a:endParaRPr lang="en-US" sz="1350" dirty="0"/>
          </a:p>
          <a:p>
            <a:pPr algn="l" indent="0" marL="0">
              <a:lnSpc>
                <a:spcPts val="2025"/>
              </a:lnSpc>
              <a:buNone/>
            </a:pPr>
            <a:r>
              <a:rPr lang="en-US" sz="1350" dirty="0">
                <a:solidFill>
                  <a:srgbClr val="E6EBF2"/>
                </a:solidFill>
                <a:latin typeface="JetBrains Mono" pitchFamily="49" charset="0"/>
                <a:ea typeface="JetBrains Mono" pitchFamily="49" charset="-122"/>
                <a:cs typeface="JetBrains Mono" pitchFamily="49" charset="-120"/>
              </a:rPr>
              <a:t>s1</a:t>
            </a:r>
            <a:r>
              <a:rPr lang="en-US" sz="1350" dirty="0">
                <a:solidFill>
                  <a:srgbClr val="F5A66B"/>
                </a:solidFill>
                <a:latin typeface="JetBrains Mono" pitchFamily="49" charset="0"/>
                <a:ea typeface="JetBrains Mono" pitchFamily="49" charset="-122"/>
                <a:cs typeface="JetBrains Mono" pitchFamily="49" charset="-120"/>
              </a:rPr>
              <a:t>.</a:t>
            </a:r>
            <a:r>
              <a:rPr lang="en-US" sz="1350" dirty="0">
                <a:solidFill>
                  <a:srgbClr val="E6EBF2"/>
                </a:solidFill>
                <a:latin typeface="JetBrains Mono" pitchFamily="49" charset="0"/>
                <a:ea typeface="JetBrains Mono" pitchFamily="49" charset="-122"/>
                <a:cs typeface="JetBrains Mono" pitchFamily="49" charset="-120"/>
              </a:rPr>
              <a:t>marks = 90.0;</a:t>
            </a:r>
            <a:endParaRPr lang="en-US" sz="1350" dirty="0"/>
          </a:p>
          <a:p>
            <a:pPr algn="l" indent="0" marL="0">
              <a:lnSpc>
                <a:spcPts val="2025"/>
              </a:lnSpc>
              <a:buNone/>
            </a:pPr>
            <a:r>
              <a:rPr lang="en-US" sz="1350" dirty="0">
                <a:solidFill>
                  <a:srgbClr val="E6EBF2"/>
                </a:solidFill>
                <a:latin typeface="JetBrains Mono" pitchFamily="49" charset="0"/>
                <a:ea typeface="JetBrains Mono" pitchFamily="49" charset="-122"/>
                <a:cs typeface="JetBrains Mono" pitchFamily="49" charset="-120"/>
              </a:rPr>
              <a:t>strcpy(s1</a:t>
            </a:r>
            <a:r>
              <a:rPr lang="en-US" sz="1350" dirty="0">
                <a:solidFill>
                  <a:srgbClr val="F5A66B"/>
                </a:solidFill>
                <a:latin typeface="JetBrains Mono" pitchFamily="49" charset="0"/>
                <a:ea typeface="JetBrains Mono" pitchFamily="49" charset="-122"/>
                <a:cs typeface="JetBrains Mono" pitchFamily="49" charset="-120"/>
              </a:rPr>
              <a:t>.</a:t>
            </a:r>
            <a:r>
              <a:rPr lang="en-US" sz="1350" dirty="0">
                <a:solidFill>
                  <a:srgbClr val="E6EBF2"/>
                </a:solidFill>
                <a:latin typeface="JetBrains Mono" pitchFamily="49" charset="0"/>
                <a:ea typeface="JetBrains Mono" pitchFamily="49" charset="-122"/>
                <a:cs typeface="JetBrains Mono" pitchFamily="49" charset="-120"/>
              </a:rPr>
              <a:t>name, "Asha K");</a:t>
            </a:r>
            <a:endParaRPr lang="en-US" sz="1350" dirty="0"/>
          </a:p>
          <a:p>
            <a:pPr algn="l" indent="0" marL="0">
              <a:lnSpc>
                <a:spcPts val="2025"/>
              </a:lnSpc>
              <a:buNone/>
            </a:pPr>
            <a:endParaRPr lang="en-US" sz="1350" dirty="0"/>
          </a:p>
          <a:p>
            <a:pPr algn="l" indent="0" marL="0">
              <a:lnSpc>
                <a:spcPts val="2025"/>
              </a:lnSpc>
              <a:buNone/>
            </a:pPr>
            <a:r>
              <a:rPr lang="en-US" sz="1350" dirty="0">
                <a:solidFill>
                  <a:srgbClr val="8FA3BF"/>
                </a:solidFill>
                <a:latin typeface="JetBrains Mono" pitchFamily="49" charset="0"/>
                <a:ea typeface="JetBrains Mono" pitchFamily="49" charset="-122"/>
                <a:cs typeface="JetBrains Mono" pitchFamily="49" charset="-120"/>
              </a:rPr>
              <a:t>// Input from keyboard</a:t>
            </a:r>
            <a:endParaRPr lang="en-US" sz="1350" dirty="0"/>
          </a:p>
          <a:p>
            <a:pPr algn="l" indent="0" marL="0">
              <a:lnSpc>
                <a:spcPts val="2025"/>
              </a:lnSpc>
              <a:buNone/>
            </a:pPr>
            <a:r>
              <a:rPr lang="en-US" sz="1350" dirty="0">
                <a:solidFill>
                  <a:srgbClr val="E6EBF2"/>
                </a:solidFill>
                <a:latin typeface="JetBrains Mono" pitchFamily="49" charset="0"/>
                <a:ea typeface="JetBrains Mono" pitchFamily="49" charset="-122"/>
                <a:cs typeface="JetBrains Mono" pitchFamily="49" charset="-120"/>
              </a:rPr>
              <a:t>scanf("%d", &amp;s1</a:t>
            </a:r>
            <a:r>
              <a:rPr lang="en-US" sz="1350" dirty="0">
                <a:solidFill>
                  <a:srgbClr val="F5A66B"/>
                </a:solidFill>
                <a:latin typeface="JetBrains Mono" pitchFamily="49" charset="0"/>
                <a:ea typeface="JetBrains Mono" pitchFamily="49" charset="-122"/>
                <a:cs typeface="JetBrains Mono" pitchFamily="49" charset="-120"/>
              </a:rPr>
              <a:t>.</a:t>
            </a:r>
            <a:r>
              <a:rPr lang="en-US" sz="1350" dirty="0">
                <a:solidFill>
                  <a:srgbClr val="E6EBF2"/>
                </a:solidFill>
                <a:latin typeface="JetBrains Mono" pitchFamily="49" charset="0"/>
                <a:ea typeface="JetBrains Mono" pitchFamily="49" charset="-122"/>
                <a:cs typeface="JetBrains Mono" pitchFamily="49" charset="-120"/>
              </a:rPr>
              <a:t>roll);</a:t>
            </a:r>
            <a:endParaRPr lang="en-US" sz="1350" dirty="0"/>
          </a:p>
          <a:p>
            <a:pPr algn="l" indent="0" marL="0">
              <a:lnSpc>
                <a:spcPts val="2025"/>
              </a:lnSpc>
              <a:buNone/>
            </a:pPr>
            <a:r>
              <a:rPr lang="en-US" sz="1350" dirty="0">
                <a:solidFill>
                  <a:srgbClr val="E6EBF2"/>
                </a:solidFill>
                <a:latin typeface="JetBrains Mono" pitchFamily="49" charset="0"/>
                <a:ea typeface="JetBrains Mono" pitchFamily="49" charset="-122"/>
                <a:cs typeface="JetBrains Mono" pitchFamily="49" charset="-120"/>
              </a:rPr>
              <a:t>scanf("%s", s1</a:t>
            </a:r>
            <a:r>
              <a:rPr lang="en-US" sz="1350" dirty="0">
                <a:solidFill>
                  <a:srgbClr val="F5A66B"/>
                </a:solidFill>
                <a:latin typeface="JetBrains Mono" pitchFamily="49" charset="0"/>
                <a:ea typeface="JetBrains Mono" pitchFamily="49" charset="-122"/>
                <a:cs typeface="JetBrains Mono" pitchFamily="49" charset="-120"/>
              </a:rPr>
              <a:t>.</a:t>
            </a:r>
            <a:r>
              <a:rPr lang="en-US" sz="1350" dirty="0">
                <a:solidFill>
                  <a:srgbClr val="E6EBF2"/>
                </a:solidFill>
                <a:latin typeface="JetBrains Mono" pitchFamily="49" charset="0"/>
                <a:ea typeface="JetBrains Mono" pitchFamily="49" charset="-122"/>
                <a:cs typeface="JetBrains Mono" pitchFamily="49" charset="-120"/>
              </a:rPr>
              <a:t>name);</a:t>
            </a:r>
            <a:endParaRPr lang="en-US" sz="1350" dirty="0"/>
          </a:p>
        </p:txBody>
      </p:sp>
      <p:sp>
        <p:nvSpPr>
          <p:cNvPr id="5" name="Shape 3"/>
          <p:cNvSpPr/>
          <p:nvPr/>
        </p:nvSpPr>
        <p:spPr>
          <a:xfrm>
            <a:off x="6581775" y="1887804"/>
            <a:ext cx="4794250" cy="886266"/>
          </a:xfrm>
          <a:prstGeom prst="roundRect">
            <a:avLst>
              <a:gd name="adj" fmla="val 11106"/>
            </a:avLst>
          </a:prstGeom>
          <a:solidFill>
            <a:srgbClr val="FFFDF8"/>
          </a:solidFill>
          <a:ln w="6350">
            <a:solidFill>
              <a:srgbClr val="E2DED3"/>
            </a:solidFill>
            <a:prstDash val="solid"/>
          </a:ln>
        </p:spPr>
      </p:sp>
      <p:sp>
        <p:nvSpPr>
          <p:cNvPr id="6" name="Text 4"/>
          <p:cNvSpPr/>
          <p:nvPr/>
        </p:nvSpPr>
        <p:spPr>
          <a:xfrm>
            <a:off x="6762045" y="2068072"/>
            <a:ext cx="456672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Read it as “roll of s1”</a:t>
            </a:r>
            <a:endParaRPr lang="en-US" sz="1600" dirty="0"/>
          </a:p>
        </p:txBody>
      </p:sp>
      <p:sp>
        <p:nvSpPr>
          <p:cNvPr id="7" name="Text 5"/>
          <p:cNvSpPr/>
          <p:nvPr/>
        </p:nvSpPr>
        <p:spPr>
          <a:xfrm>
            <a:off x="6762045" y="2362684"/>
            <a:ext cx="456672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A member works like a normal variable of its type</a:t>
            </a:r>
            <a:endParaRPr lang="en-US" sz="1300" dirty="0"/>
          </a:p>
        </p:txBody>
      </p:sp>
      <p:sp>
        <p:nvSpPr>
          <p:cNvPr id="8" name="Shape 6"/>
          <p:cNvSpPr/>
          <p:nvPr/>
        </p:nvSpPr>
        <p:spPr>
          <a:xfrm>
            <a:off x="6581775" y="2907419"/>
            <a:ext cx="4794250" cy="886266"/>
          </a:xfrm>
          <a:prstGeom prst="roundRect">
            <a:avLst>
              <a:gd name="adj" fmla="val 11106"/>
            </a:avLst>
          </a:prstGeom>
          <a:solidFill>
            <a:srgbClr val="FFFDF8"/>
          </a:solidFill>
          <a:ln w="6350">
            <a:solidFill>
              <a:srgbClr val="E2DED3"/>
            </a:solidFill>
            <a:prstDash val="solid"/>
          </a:ln>
        </p:spPr>
      </p:sp>
      <p:sp>
        <p:nvSpPr>
          <p:cNvPr id="9" name="Text 7"/>
          <p:cNvSpPr/>
          <p:nvPr/>
        </p:nvSpPr>
        <p:spPr>
          <a:xfrm>
            <a:off x="6762045" y="3087688"/>
            <a:ext cx="456672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Strings need strcpy()</a:t>
            </a:r>
            <a:endParaRPr lang="en-US" sz="1600" dirty="0"/>
          </a:p>
        </p:txBody>
      </p:sp>
      <p:sp>
        <p:nvSpPr>
          <p:cNvPr id="10" name="Text 8"/>
          <p:cNvSpPr/>
          <p:nvPr/>
        </p:nvSpPr>
        <p:spPr>
          <a:xfrm>
            <a:off x="6762045" y="3382299"/>
            <a:ext cx="456672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s1.name = "Asha"; is an error</a:t>
            </a:r>
            <a:endParaRPr lang="en-US" sz="1300" dirty="0"/>
          </a:p>
        </p:txBody>
      </p:sp>
      <p:sp>
        <p:nvSpPr>
          <p:cNvPr id="11" name="Shape 9"/>
          <p:cNvSpPr/>
          <p:nvPr/>
        </p:nvSpPr>
        <p:spPr>
          <a:xfrm>
            <a:off x="6581775" y="3927035"/>
            <a:ext cx="4794250" cy="886266"/>
          </a:xfrm>
          <a:prstGeom prst="roundRect">
            <a:avLst>
              <a:gd name="adj" fmla="val 11106"/>
            </a:avLst>
          </a:prstGeom>
          <a:solidFill>
            <a:srgbClr val="FFFDF8"/>
          </a:solidFill>
          <a:ln w="6350">
            <a:solidFill>
              <a:srgbClr val="E2DED3"/>
            </a:solidFill>
            <a:prstDash val="solid"/>
          </a:ln>
        </p:spPr>
      </p:sp>
      <p:sp>
        <p:nvSpPr>
          <p:cNvPr id="12" name="Text 10"/>
          <p:cNvSpPr/>
          <p:nvPr/>
        </p:nvSpPr>
        <p:spPr>
          <a:xfrm>
            <a:off x="6762045" y="4107303"/>
            <a:ext cx="456672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Use the variable name</a:t>
            </a:r>
            <a:endParaRPr lang="en-US" sz="1600" dirty="0"/>
          </a:p>
        </p:txBody>
      </p:sp>
      <p:sp>
        <p:nvSpPr>
          <p:cNvPr id="13" name="Text 11"/>
          <p:cNvSpPr/>
          <p:nvPr/>
        </p:nvSpPr>
        <p:spPr>
          <a:xfrm>
            <a:off x="6762045" y="4401920"/>
            <a:ext cx="456672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s1.roll is right; student.roll is wrong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PUTTING IT TOGETHER · STUDENT DETAILS</a:t>
            </a:r>
            <a:endParaRPr lang="en-US" sz="1200" dirty="0"/>
          </a:p>
        </p:txBody>
      </p:sp>
      <p:sp>
        <p:nvSpPr>
          <p:cNvPr id="3" name="Text 1"/>
          <p:cNvSpPr/>
          <p:nvPr>
            <p:ph type="title"/>
          </p:nvPr>
        </p:nvSpPr>
        <p:spPr>
          <a:xfrm>
            <a:off x="812800" y="11277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One program, every step</a:t>
            </a:r>
            <a:endParaRPr lang="en-US" sz="3600" dirty="0"/>
          </a:p>
        </p:txBody>
      </p:sp>
      <p:sp>
        <p:nvSpPr>
          <p:cNvPr id="4" name="Text 2"/>
          <p:cNvSpPr/>
          <p:nvPr/>
        </p:nvSpPr>
        <p:spPr>
          <a:xfrm>
            <a:off x="812800" y="1884629"/>
            <a:ext cx="5715000" cy="3873103"/>
          </a:xfrm>
          <a:prstGeom prst="roundRect">
            <a:avLst>
              <a:gd name="adj" fmla="val 2623"/>
            </a:avLst>
          </a:prstGeom>
          <a:solidFill>
            <a:srgbClr val="14213D"/>
          </a:solidFill>
          <a:ln/>
        </p:spPr>
        <p:txBody>
          <a:bodyPr wrap="none" lIns="224242" tIns="173442" rIns="68032" bIns="148042" rtlCol="0" anchor="t">
            <a:normAutofit/>
          </a:bodyPr>
          <a:lstStyle/>
          <a:p>
            <a:pPr algn="l" indent="0" marL="0">
              <a:lnSpc>
                <a:spcPts val="1820"/>
              </a:lnSpc>
              <a:buNone/>
            </a:pPr>
            <a:r>
              <a:rPr lang="en-US" sz="1300" dirty="0">
                <a:solidFill>
                  <a:srgbClr val="F5A66B"/>
                </a:solidFill>
                <a:latin typeface="JetBrains Mono" pitchFamily="49" charset="0"/>
                <a:ea typeface="JetBrains Mono" pitchFamily="49" charset="-122"/>
                <a:cs typeface="JetBrains Mono" pitchFamily="49" charset="-120"/>
              </a:rPr>
              <a:t>struct student {</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int   roll;</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char  name[20];</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float marks;</a:t>
            </a:r>
            <a:endParaRPr lang="en-US" sz="1300" dirty="0"/>
          </a:p>
          <a:p>
            <a:pPr algn="l" indent="0" marL="0">
              <a:lnSpc>
                <a:spcPts val="1820"/>
              </a:lnSpc>
              <a:buNone/>
            </a:pPr>
            <a:r>
              <a:rPr lang="en-US" sz="1300" dirty="0">
                <a:solidFill>
                  <a:srgbClr val="F5A66B"/>
                </a:solidFill>
                <a:latin typeface="JetBrains Mono" pitchFamily="49" charset="0"/>
                <a:ea typeface="JetBrains Mono" pitchFamily="49" charset="-122"/>
                <a:cs typeface="JetBrains Mono" pitchFamily="49" charset="-120"/>
              </a:rPr>
              <a:t>};</a:t>
            </a:r>
            <a:endParaRPr lang="en-US" sz="1300" dirty="0"/>
          </a:p>
          <a:p>
            <a:pPr algn="l" indent="0" marL="0">
              <a:lnSpc>
                <a:spcPts val="1820"/>
              </a:lnSpc>
              <a:buNone/>
            </a:pP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int main(void) {</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a:t>
            </a:r>
            <a:r>
              <a:rPr lang="en-US" sz="1300" dirty="0">
                <a:solidFill>
                  <a:srgbClr val="F5A66B"/>
                </a:solidFill>
                <a:latin typeface="JetBrains Mono" pitchFamily="49" charset="0"/>
                <a:ea typeface="JetBrains Mono" pitchFamily="49" charset="-122"/>
                <a:cs typeface="JetBrains Mono" pitchFamily="49" charset="-120"/>
              </a:rPr>
              <a:t>struct student s1 = {101, "Asha", 87.5};</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struct student s2;</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scanf("%d %s %f", &amp;s2.roll, s2.name, &amp;s2.marks);</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s1.marks = s1.marks + 2;</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printf("%s: %.1f\n", </a:t>
            </a:r>
            <a:r>
              <a:rPr lang="en-US" sz="1300" dirty="0">
                <a:solidFill>
                  <a:srgbClr val="F5A66B"/>
                </a:solidFill>
                <a:latin typeface="JetBrains Mono" pitchFamily="49" charset="0"/>
                <a:ea typeface="JetBrains Mono" pitchFamily="49" charset="-122"/>
                <a:cs typeface="JetBrains Mono" pitchFamily="49" charset="-120"/>
              </a:rPr>
              <a:t>s1.name</a:t>
            </a:r>
            <a:r>
              <a:rPr lang="en-US" sz="1300" dirty="0">
                <a:solidFill>
                  <a:srgbClr val="E6EBF2"/>
                </a:solidFill>
                <a:latin typeface="JetBrains Mono" pitchFamily="49" charset="0"/>
                <a:ea typeface="JetBrains Mono" pitchFamily="49" charset="-122"/>
                <a:cs typeface="JetBrains Mono" pitchFamily="49" charset="-120"/>
              </a:rPr>
              <a:t>, </a:t>
            </a:r>
            <a:r>
              <a:rPr lang="en-US" sz="1300" dirty="0">
                <a:solidFill>
                  <a:srgbClr val="F5A66B"/>
                </a:solidFill>
                <a:latin typeface="JetBrains Mono" pitchFamily="49" charset="0"/>
                <a:ea typeface="JetBrains Mono" pitchFamily="49" charset="-122"/>
                <a:cs typeface="JetBrains Mono" pitchFamily="49" charset="-120"/>
              </a:rPr>
              <a:t>s1.marks</a:t>
            </a:r>
            <a:r>
              <a:rPr lang="en-US" sz="1300" dirty="0">
                <a:solidFill>
                  <a:srgbClr val="E6EBF2"/>
                </a:solidFill>
                <a:latin typeface="JetBrains Mono" pitchFamily="49" charset="0"/>
                <a:ea typeface="JetBrains Mono" pitchFamily="49" charset="-122"/>
                <a:cs typeface="JetBrains Mono" pitchFamily="49" charset="-120"/>
              </a:rPr>
              <a:t>);</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printf("%s: %.1f\n", s2.name, s2.marks);</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return 0;</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a:t>
            </a:r>
            <a:endParaRPr lang="en-US" sz="1300" dirty="0"/>
          </a:p>
        </p:txBody>
      </p:sp>
      <p:sp>
        <p:nvSpPr>
          <p:cNvPr id="5" name="Shape 3"/>
          <p:cNvSpPr/>
          <p:nvPr/>
        </p:nvSpPr>
        <p:spPr>
          <a:xfrm>
            <a:off x="6835775" y="1887804"/>
            <a:ext cx="4540250" cy="810066"/>
          </a:xfrm>
          <a:prstGeom prst="roundRect">
            <a:avLst>
              <a:gd name="adj" fmla="val 12150"/>
            </a:avLst>
          </a:prstGeom>
          <a:solidFill>
            <a:srgbClr val="FFFDF8"/>
          </a:solidFill>
          <a:ln w="6350">
            <a:solidFill>
              <a:srgbClr val="E2DED3"/>
            </a:solidFill>
            <a:prstDash val="solid"/>
          </a:ln>
        </p:spPr>
      </p:sp>
      <p:sp>
        <p:nvSpPr>
          <p:cNvPr id="6" name="Text 4"/>
          <p:cNvSpPr/>
          <p:nvPr/>
        </p:nvSpPr>
        <p:spPr>
          <a:xfrm>
            <a:off x="7016045" y="2097267"/>
            <a:ext cx="18966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501F"/>
                </a:solidFill>
                <a:latin typeface="Rubik" pitchFamily="34" charset="0"/>
                <a:ea typeface="Rubik" pitchFamily="34" charset="-122"/>
                <a:cs typeface="Rubik" pitchFamily="34" charset="-120"/>
              </a:rPr>
              <a:t>1</a:t>
            </a:r>
            <a:endParaRPr lang="en-US" sz="2200" dirty="0"/>
          </a:p>
        </p:txBody>
      </p:sp>
      <p:sp>
        <p:nvSpPr>
          <p:cNvPr id="7" name="Text 5"/>
          <p:cNvSpPr/>
          <p:nvPr/>
        </p:nvSpPr>
        <p:spPr>
          <a:xfrm>
            <a:off x="7307307" y="2042672"/>
            <a:ext cx="154931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Define</a:t>
            </a:r>
            <a:endParaRPr lang="en-US" sz="1600" dirty="0"/>
          </a:p>
        </p:txBody>
      </p:sp>
      <p:sp>
        <p:nvSpPr>
          <p:cNvPr id="8" name="Text 6"/>
          <p:cNvSpPr/>
          <p:nvPr/>
        </p:nvSpPr>
        <p:spPr>
          <a:xfrm>
            <a:off x="7307307" y="2311884"/>
            <a:ext cx="179821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struct student { … };</a:t>
            </a:r>
            <a:endParaRPr lang="en-US" sz="1300" dirty="0"/>
          </a:p>
        </p:txBody>
      </p:sp>
      <p:sp>
        <p:nvSpPr>
          <p:cNvPr id="9" name="Shape 7"/>
          <p:cNvSpPr/>
          <p:nvPr/>
        </p:nvSpPr>
        <p:spPr>
          <a:xfrm>
            <a:off x="6835775" y="2831219"/>
            <a:ext cx="4540250" cy="810066"/>
          </a:xfrm>
          <a:prstGeom prst="roundRect">
            <a:avLst>
              <a:gd name="adj" fmla="val 12150"/>
            </a:avLst>
          </a:prstGeom>
          <a:solidFill>
            <a:srgbClr val="FFFDF8"/>
          </a:solidFill>
          <a:ln w="6350">
            <a:solidFill>
              <a:srgbClr val="E2DED3"/>
            </a:solidFill>
            <a:prstDash val="solid"/>
          </a:ln>
        </p:spPr>
      </p:sp>
      <p:sp>
        <p:nvSpPr>
          <p:cNvPr id="10" name="Text 8"/>
          <p:cNvSpPr/>
          <p:nvPr/>
        </p:nvSpPr>
        <p:spPr>
          <a:xfrm>
            <a:off x="7016045" y="3040683"/>
            <a:ext cx="232436"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501F"/>
                </a:solidFill>
                <a:latin typeface="Rubik" pitchFamily="34" charset="0"/>
                <a:ea typeface="Rubik" pitchFamily="34" charset="-122"/>
                <a:cs typeface="Rubik" pitchFamily="34" charset="-120"/>
              </a:rPr>
              <a:t>2</a:t>
            </a:r>
            <a:endParaRPr lang="en-US" sz="2200" dirty="0"/>
          </a:p>
        </p:txBody>
      </p:sp>
      <p:sp>
        <p:nvSpPr>
          <p:cNvPr id="11" name="Text 9"/>
          <p:cNvSpPr/>
          <p:nvPr/>
        </p:nvSpPr>
        <p:spPr>
          <a:xfrm>
            <a:off x="7350081" y="2986088"/>
            <a:ext cx="248052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Declare and initialize</a:t>
            </a:r>
            <a:endParaRPr lang="en-US" sz="1600" dirty="0"/>
          </a:p>
        </p:txBody>
      </p:sp>
      <p:sp>
        <p:nvSpPr>
          <p:cNvPr id="12" name="Text 10"/>
          <p:cNvSpPr/>
          <p:nvPr/>
        </p:nvSpPr>
        <p:spPr>
          <a:xfrm>
            <a:off x="7350081" y="3255299"/>
            <a:ext cx="212911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s1 with values, s2 empty</a:t>
            </a:r>
            <a:endParaRPr lang="en-US" sz="1300" dirty="0"/>
          </a:p>
        </p:txBody>
      </p:sp>
      <p:sp>
        <p:nvSpPr>
          <p:cNvPr id="13" name="Shape 11"/>
          <p:cNvSpPr/>
          <p:nvPr/>
        </p:nvSpPr>
        <p:spPr>
          <a:xfrm>
            <a:off x="6835775" y="3774635"/>
            <a:ext cx="4540250" cy="810066"/>
          </a:xfrm>
          <a:prstGeom prst="roundRect">
            <a:avLst>
              <a:gd name="adj" fmla="val 12150"/>
            </a:avLst>
          </a:prstGeom>
          <a:solidFill>
            <a:srgbClr val="FFFDF8"/>
          </a:solidFill>
          <a:ln w="6350">
            <a:solidFill>
              <a:srgbClr val="E2DED3"/>
            </a:solidFill>
            <a:prstDash val="solid"/>
          </a:ln>
        </p:spPr>
      </p:sp>
      <p:sp>
        <p:nvSpPr>
          <p:cNvPr id="14" name="Text 12"/>
          <p:cNvSpPr/>
          <p:nvPr/>
        </p:nvSpPr>
        <p:spPr>
          <a:xfrm>
            <a:off x="7016045" y="3984098"/>
            <a:ext cx="234950"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501F"/>
                </a:solidFill>
                <a:latin typeface="Rubik" pitchFamily="34" charset="0"/>
                <a:ea typeface="Rubik" pitchFamily="34" charset="-122"/>
                <a:cs typeface="Rubik" pitchFamily="34" charset="-120"/>
              </a:rPr>
              <a:t>3</a:t>
            </a:r>
            <a:endParaRPr lang="en-US" sz="2200" dirty="0"/>
          </a:p>
        </p:txBody>
      </p:sp>
      <p:sp>
        <p:nvSpPr>
          <p:cNvPr id="15" name="Text 13"/>
          <p:cNvSpPr/>
          <p:nvPr/>
        </p:nvSpPr>
        <p:spPr>
          <a:xfrm>
            <a:off x="7352595" y="3929503"/>
            <a:ext cx="23850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Fill and change</a:t>
            </a:r>
            <a:endParaRPr lang="en-US" sz="1600" dirty="0"/>
          </a:p>
        </p:txBody>
      </p:sp>
      <p:sp>
        <p:nvSpPr>
          <p:cNvPr id="16" name="Text 14"/>
          <p:cNvSpPr/>
          <p:nvPr/>
        </p:nvSpPr>
        <p:spPr>
          <a:xfrm>
            <a:off x="7352595" y="4198720"/>
            <a:ext cx="27787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scanf into s2, update s1.marks</a:t>
            </a:r>
            <a:endParaRPr lang="en-US" sz="1300" dirty="0"/>
          </a:p>
        </p:txBody>
      </p:sp>
      <p:sp>
        <p:nvSpPr>
          <p:cNvPr id="17" name="Shape 15"/>
          <p:cNvSpPr/>
          <p:nvPr/>
        </p:nvSpPr>
        <p:spPr>
          <a:xfrm>
            <a:off x="6835775" y="4718050"/>
            <a:ext cx="4540250" cy="810066"/>
          </a:xfrm>
          <a:prstGeom prst="roundRect">
            <a:avLst>
              <a:gd name="adj" fmla="val 12150"/>
            </a:avLst>
          </a:prstGeom>
          <a:solidFill>
            <a:srgbClr val="FFFDF8"/>
          </a:solidFill>
          <a:ln w="6350">
            <a:solidFill>
              <a:srgbClr val="E2DED3"/>
            </a:solidFill>
            <a:prstDash val="solid"/>
          </a:ln>
        </p:spPr>
      </p:sp>
      <p:sp>
        <p:nvSpPr>
          <p:cNvPr id="18" name="Text 16"/>
          <p:cNvSpPr/>
          <p:nvPr/>
        </p:nvSpPr>
        <p:spPr>
          <a:xfrm>
            <a:off x="7016045" y="4927513"/>
            <a:ext cx="241388"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501F"/>
                </a:solidFill>
                <a:latin typeface="Rubik" pitchFamily="34" charset="0"/>
                <a:ea typeface="Rubik" pitchFamily="34" charset="-122"/>
                <a:cs typeface="Rubik" pitchFamily="34" charset="-120"/>
              </a:rPr>
              <a:t>4</a:t>
            </a:r>
            <a:endParaRPr lang="en-US" sz="2200" dirty="0"/>
          </a:p>
        </p:txBody>
      </p:sp>
      <p:sp>
        <p:nvSpPr>
          <p:cNvPr id="19" name="Text 17"/>
          <p:cNvSpPr/>
          <p:nvPr/>
        </p:nvSpPr>
        <p:spPr>
          <a:xfrm>
            <a:off x="7359033" y="4872918"/>
            <a:ext cx="209900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Access</a:t>
            </a:r>
            <a:endParaRPr lang="en-US" sz="1600" dirty="0"/>
          </a:p>
        </p:txBody>
      </p:sp>
      <p:sp>
        <p:nvSpPr>
          <p:cNvPr id="20" name="Text 18"/>
          <p:cNvSpPr/>
          <p:nvPr/>
        </p:nvSpPr>
        <p:spPr>
          <a:xfrm>
            <a:off x="7359033" y="5142136"/>
            <a:ext cx="244543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Print with the dot operator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WATCH OUT</a:t>
            </a:r>
            <a:endParaRPr lang="en-US" sz="1200" dirty="0"/>
          </a:p>
        </p:txBody>
      </p:sp>
      <p:sp>
        <p:nvSpPr>
          <p:cNvPr id="3" name="Text 1"/>
          <p:cNvSpPr/>
          <p:nvPr>
            <p:ph type="title"/>
          </p:nvPr>
        </p:nvSpPr>
        <p:spPr>
          <a:xfrm>
            <a:off x="812800" y="11277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Six common beginner mistakes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946718"/>
          <a:ext cx="10555111" cy="2692312"/>
        </p:xfrm>
        <a:graphic>
          <a:graphicData uri="http://schemas.openxmlformats.org/drawingml/2006/table">
            <a:tbl>
              <a:tblPr/>
              <a:tblGrid>
                <a:gridCol w="3166533"/>
                <a:gridCol w="3694289"/>
                <a:gridCol w="3694289"/>
              </a:tblGrid>
              <a:tr h="384616">
                <a:tc>
                  <a:txBody>
                    <a:bodyPr/>
                    <a:lstStyle/>
                    <a:p>
                      <a:pPr indent="0" marL="0">
                        <a:lnSpc>
                          <a:spcPts val="1960"/>
                        </a:lnSpc>
                        <a:buNone/>
                      </a:pPr>
                      <a:r>
                        <a:rPr lang="en-US" sz="1400" b="1" dirty="0">
                          <a:solidFill>
                            <a:srgbClr val="F7F5EF"/>
                          </a:solidFill>
                          <a:latin typeface="Rubik" pitchFamily="34" charset="0"/>
                          <a:ea typeface="Rubik" pitchFamily="34" charset="-122"/>
                          <a:cs typeface="Rubik" pitchFamily="34" charset="-120"/>
                        </a:rPr>
                        <a:t>Mistake</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5EF"/>
                          </a:solidFill>
                          <a:latin typeface="Rubik" pitchFamily="34" charset="0"/>
                          <a:ea typeface="Rubik" pitchFamily="34" charset="-122"/>
                          <a:cs typeface="Rubik" pitchFamily="34" charset="-120"/>
                        </a:rPr>
                        <a:t>Wrong</a:t>
                      </a:r>
                      <a:endParaRPr lang="en-US" sz="1400" dirty="0">
                        <a:latin typeface="Rubik" charset="0"/>
                        <a:ea typeface="Rubik" charset="0"/>
                        <a:cs typeface="Rubik"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5EF"/>
                          </a:solidFill>
                          <a:latin typeface="Rubik" pitchFamily="34" charset="0"/>
                          <a:ea typeface="Rubik" pitchFamily="34" charset="-122"/>
                          <a:cs typeface="Rubik" pitchFamily="34" charset="-120"/>
                        </a:rPr>
                        <a:t>Right</a:t>
                      </a:r>
                      <a:endParaRPr lang="en-US" sz="1400" dirty="0">
                        <a:latin typeface="Rubik" charset="0"/>
                        <a:ea typeface="Rubik" charset="0"/>
                        <a:cs typeface="Rubik"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No semicolon after }</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struct student { … }</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struct student { … };</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Leaving out struct</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student s1;</a:t>
                      </a:r>
                      <a:endParaRPr lang="en-US" sz="1400" dirty="0">
                        <a:latin typeface="Rubik" charset="0"/>
                        <a:ea typeface="Rubik" charset="0"/>
                        <a:cs typeface="Rubik" charset="0"/>
                      </a:endParaRPr>
                    </a:p>
                  </a:txBody>
                  <a:tcPr marL="62230" marR="62230" marT="62230" marB="6223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struct student s1;</a:t>
                      </a:r>
                      <a:endParaRPr lang="en-US" sz="1400" dirty="0">
                        <a:latin typeface="Rubik" charset="0"/>
                        <a:ea typeface="Rubik" charset="0"/>
                        <a:cs typeface="Rubik" charset="0"/>
                      </a:endParaRPr>
                    </a:p>
                  </a:txBody>
                  <a:tcPr marL="62230" marR="62230" marT="62230" marB="6223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Structure name, not variable</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student.roll = 5;</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s1.roll = 5;</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String with =</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s1.name = "Asha";</a:t>
                      </a:r>
                      <a:endParaRPr lang="en-US" sz="1400" dirty="0">
                        <a:latin typeface="Rubik" charset="0"/>
                        <a:ea typeface="Rubik" charset="0"/>
                        <a:cs typeface="Rubik" charset="0"/>
                      </a:endParaRPr>
                    </a:p>
                  </a:txBody>
                  <a:tcPr marL="62230" marR="62230" marT="62230" marB="6223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strcpy(s1.name, "Asha");</a:t>
                      </a:r>
                      <a:endParaRPr lang="en-US" sz="1400" dirty="0">
                        <a:latin typeface="Rubik" charset="0"/>
                        <a:ea typeface="Rubik" charset="0"/>
                        <a:cs typeface="Rubik" charset="0"/>
                      </a:endParaRPr>
                    </a:p>
                  </a:txBody>
                  <a:tcPr marL="62230" marR="62230" marT="62230" marB="6223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Braces after declaring</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s1 = {101, "Asha", 87.5};</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Assign members one by one</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4616">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Comparing whole structures</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if (s1 == s2)</a:t>
                      </a:r>
                      <a:endParaRPr lang="en-US" sz="1400" dirty="0">
                        <a:latin typeface="Rubik" charset="0"/>
                        <a:ea typeface="Rubik" charset="0"/>
                        <a:cs typeface="Rubik" charset="0"/>
                      </a:endParaRPr>
                    </a:p>
                  </a:txBody>
                  <a:tcPr marL="62230" marR="62230" marT="62230" marB="6223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if (s1.roll == s2.roll)</a:t>
                      </a:r>
                      <a:endParaRPr lang="en-US" sz="1400" dirty="0">
                        <a:latin typeface="Rubik" charset="0"/>
                        <a:ea typeface="Rubik" charset="0"/>
                        <a:cs typeface="Rubik" charset="0"/>
                      </a:endParaRPr>
                    </a:p>
                  </a:txBody>
                  <a:tcPr marL="62230" marR="62230" marT="62230" marB="6223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8A4B"/>
                </a:solidFill>
                <a:latin typeface="Rubik" pitchFamily="34" charset="0"/>
                <a:ea typeface="Rubik" pitchFamily="34" charset="-122"/>
                <a:cs typeface="Rubik" pitchFamily="34" charset="-120"/>
              </a:rPr>
              <a:t>PRACTICE</a:t>
            </a:r>
            <a:endParaRPr lang="en-US" sz="1200" dirty="0"/>
          </a:p>
        </p:txBody>
      </p:sp>
      <p:sp>
        <p:nvSpPr>
          <p:cNvPr id="3" name="Text 1"/>
          <p:cNvSpPr/>
          <p:nvPr>
            <p:ph type="title"/>
          </p:nvPr>
        </p:nvSpPr>
        <p:spPr>
          <a:xfrm>
            <a:off x="812800" y="11277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Rubik" pitchFamily="34" charset="0"/>
                <a:ea typeface="Rubik" pitchFamily="34" charset="-122"/>
                <a:cs typeface="Rubik" pitchFamily="34" charset="-120"/>
              </a:rPr>
              <a:t>Quick check</a:t>
            </a:r>
            <a:endParaRPr lang="en-US" sz="3600" dirty="0"/>
          </a:p>
        </p:txBody>
      </p:sp>
      <p:sp>
        <p:nvSpPr>
          <p:cNvPr id="4" name="Text 2"/>
          <p:cNvSpPr/>
          <p:nvPr/>
        </p:nvSpPr>
        <p:spPr>
          <a:xfrm>
            <a:off x="839964" y="1935429"/>
            <a:ext cx="6348744" cy="1793081"/>
          </a:xfrm>
          <a:prstGeom prst="rect">
            <a:avLst/>
          </a:prstGeom>
          <a:noFill/>
          <a:ln/>
        </p:spPr>
        <p:txBody>
          <a:bodyPr wrap="square" lIns="0" tIns="0" rIns="0" bIns="0" rtlCol="0" anchor="t">
            <a:normAutofit/>
          </a:bodyPr>
          <a:lstStyle/>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How is a structure different from an array?</a:t>
            </a:r>
            <a:endParaRPr lang="en-US" sz="1600" dirty="0"/>
          </a:p>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Is memory allocated when a structure is defined?</a:t>
            </a:r>
            <a:endParaRPr lang="en-US" sz="1600" dirty="0"/>
          </a:p>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Which operator accesses a member?</a:t>
            </a:r>
            <a:endParaRPr lang="en-US" sz="1600" dirty="0"/>
          </a:p>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After struct student s3 = {103}; what is s3.marks?</a:t>
            </a:r>
            <a:endParaRPr lang="en-US" sz="1600" dirty="0"/>
          </a:p>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Marks of 60 students, or title, author and price of a book: which needs a structure?</a:t>
            </a:r>
            <a:endParaRPr lang="en-US" sz="1600" dirty="0"/>
          </a:p>
        </p:txBody>
      </p:sp>
      <p:sp>
        <p:nvSpPr>
          <p:cNvPr id="5" name="Shape 3"/>
          <p:cNvSpPr/>
          <p:nvPr/>
        </p:nvSpPr>
        <p:spPr>
          <a:xfrm>
            <a:off x="7321550" y="1941779"/>
            <a:ext cx="4051300" cy="2601913"/>
          </a:xfrm>
          <a:prstGeom prst="roundRect">
            <a:avLst>
              <a:gd name="adj" fmla="val 3661"/>
            </a:avLst>
          </a:prstGeom>
          <a:solidFill>
            <a:srgbClr val="1E2B47"/>
          </a:solidFill>
          <a:ln w="12700">
            <a:solidFill>
              <a:srgbClr val="F08A4B"/>
            </a:solidFill>
            <a:prstDash val="solid"/>
          </a:ln>
        </p:spPr>
      </p:sp>
      <p:sp>
        <p:nvSpPr>
          <p:cNvPr id="6" name="Text 4"/>
          <p:cNvSpPr/>
          <p:nvPr/>
        </p:nvSpPr>
        <p:spPr>
          <a:xfrm>
            <a:off x="7555089" y="2175315"/>
            <a:ext cx="3691749"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EF"/>
                </a:solidFill>
                <a:latin typeface="Rubik" pitchFamily="34" charset="0"/>
                <a:ea typeface="Rubik" pitchFamily="34" charset="-122"/>
                <a:cs typeface="Rubik" pitchFamily="34" charset="-120"/>
              </a:rPr>
              <a:t>Find the three bugs</a:t>
            </a:r>
            <a:endParaRPr lang="en-US" sz="1800" dirty="0"/>
          </a:p>
        </p:txBody>
      </p:sp>
      <p:sp>
        <p:nvSpPr>
          <p:cNvPr id="7" name="Text 5"/>
          <p:cNvSpPr/>
          <p:nvPr/>
        </p:nvSpPr>
        <p:spPr>
          <a:xfrm>
            <a:off x="7555089" y="2576599"/>
            <a:ext cx="3691749" cy="17589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struct point {</a:t>
            </a:r>
            <a:endParaRPr lang="en-US" sz="1300" dirty="0"/>
          </a:p>
          <a:p>
            <a:pPr algn="l" indent="0" marL="0">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    int x;</a:t>
            </a:r>
            <a:endParaRPr lang="en-US" sz="1300" dirty="0"/>
          </a:p>
          <a:p>
            <a:pPr algn="l" indent="0" marL="0">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    int y;</a:t>
            </a:r>
            <a:endParaRPr lang="en-US" sz="1300" dirty="0"/>
          </a:p>
          <a:p>
            <a:pPr algn="l" indent="0" marL="0">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endParaRPr lang="en-US" sz="1300" dirty="0"/>
          </a:p>
          <a:p>
            <a:pPr algn="l" indent="0" marL="0">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point p1 = {3, 4};</a:t>
            </a:r>
            <a:endParaRPr lang="en-US" sz="1300" dirty="0"/>
          </a:p>
          <a:p>
            <a:pPr algn="l" indent="0" marL="0">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printf("%d", point.x);</a:t>
            </a:r>
            <a:endParaRPr lang="en-US" sz="1300" dirty="0"/>
          </a:p>
        </p:txBody>
      </p:sp>
    </p:spTree>
  </p:cSld>
  <p:clrMapOvr>
    <a:masterClrMapping/>
  </p:clrMapOvr>
</p:sld>
</file>

<file path=ppt/theme/theme1.xml><?xml version="1.0" encoding="utf-8"?>
<a:theme xmlns:a="http://schemas.openxmlformats.org/drawingml/2006/main" name="Structures in C">
  <a:themeElements>
    <a:clrScheme name="Structures in C">
      <a:dk1>
        <a:srgbClr val="14213D"/>
      </a:dk1>
      <a:lt1>
        <a:srgbClr val="F7F5EF"/>
      </a:lt1>
      <a:dk2>
        <a:srgbClr val="4D566A"/>
      </a:dk2>
      <a:lt2>
        <a:srgbClr val="E0E0DD"/>
      </a:lt2>
      <a:accent1>
        <a:srgbClr val="B8501F"/>
      </a:accent1>
      <a:accent2>
        <a:srgbClr val="2F6FB3"/>
      </a:accent2>
      <a:accent3>
        <a:srgbClr val="F08A4B"/>
      </a:accent3>
      <a:accent4>
        <a:srgbClr val="BFD0E6"/>
      </a:accent4>
      <a:accent5>
        <a:srgbClr val="8FA3BF"/>
      </a:accent5>
      <a:accent6>
        <a:srgbClr val="3D4A5C"/>
      </a:accent6>
      <a:hlink>
        <a:srgbClr val="0563C1"/>
      </a:hlink>
      <a:folHlink>
        <a:srgbClr val="954F72"/>
      </a:folHlink>
    </a:clrScheme>
    <a:fontScheme name="Structures in C">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Structures in C</dc:title>
  <dc:subject/>
  <dc:creator/>
  <cp:lastModifiedBy/>
  <cp:revision>1</cp:revision>
  <dcterms:created xsi:type="dcterms:W3CDTF">2026-10-17T14:47:25Z</dcterms:created>
  <dcterms:modified xsi:type="dcterms:W3CDTF">2026-10-17T14:47:25Z</dcterms:modified>
</cp:coreProperties>
</file>