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learn how a C program can ask for memory while it is running, and how to give it back. Before starting, quickly revise: what is a pointer, and how do we access array elements with an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if we don’t know the class size when writing the program, what size should we give the array? Let them see that any fixed number is either too small or wasteful. Dynamic memory allocation solves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the compiler fixes the size. Dynamic: the size is decided at run time, for example after reading n from the user. Write “compile time” vs “run time”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stack memory is cleaned up automatically, heap memory is not. Whatever you take from the heap, you must give back yourself with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hotel story slowly. Booking = malloc or calloc. The key card with the room number = the pointer. Checking out = free. If a guest never checks out, the room can never be given to anyone else: that is a memory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piece by piece with students. Stress why we use sizeof(int) instead of writing 4: the size of int can differ between computers. The (int *) cast is optional in C, but many textbooks 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marks are garbage values: whatever was left in that memory before. The addresses 1000 to 1016 are only examples; each int takes 4 bytes, so the addresses go up by 4. Then show the NULL check: every malloc should be followed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malloc: same job, but calloc takes the count and the size separately and clears the memory to zero. Like booking a room that has already been cleaned. It also returns NULL when no memory is left, so check for NULL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exam question. Ask students to fill this table from memory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Heap memory is never freed automatically while the program runs. Explain the leak example: if we write p = malloc(...) twice, the first block’s address is lost and can never be freed. After free(p), p still holds the old address, so set p = NULL to be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full program in the handout; the complete version also has #include &lt;stdio.h&gt;, #include &lt;stdlib.h&gt;, main() and printf prompts. Sample run: 3 students with 80, 90, 70 gives Average = 80.00. Try it: replace malloc with calloc(n, sizeof(int)) and the output stays the same, because we fill every value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mistakes to mention verbally: freeing the same pointer twice, calling free() on a normal array like int a[5], and forgetting #include &lt;stdlib.h&gt;.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&lt;stdlib.h&gt;. 2: NULL. 3: malloc gives garbage values, calloc gives all zeros. 4: No, malloc(10) gives 10 bytes; 10 ints need 10 * sizeof(int), usually 40 bytes. 5: memory that was allocated but never freed. Bugs: p[3] goes past the end (only p[0] to p[2] exist), and p[0] is used after free(p), a dangling 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726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8A4B"/>
                </a:solidFill>
                <a:latin typeface="Rubik" pitchFamily="34" charset="0"/>
                <a:ea typeface="Rubik" pitchFamily="34" charset="-122"/>
                <a:cs typeface="Rubik" pitchFamily="34" charset="-120"/>
              </a:rPr>
              <a:t>C PROGRAMMING · POINTERS AND MEMORY</a:t>
            </a:r>
            <a:endParaRPr lang="en-US" sz="1200" dirty="0"/>
          </a:p>
        </p:txBody>
      </p:sp>
      <p:sp>
        <p:nvSpPr>
          <p:cNvPr id="3" name="Text 1"/>
          <p:cNvSpPr/>
          <p:nvPr>
            <p:ph type="title"/>
          </p:nvPr>
        </p:nvSpPr>
        <p:spPr>
          <a:xfrm>
            <a:off x="812800" y="25400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Dynamic Memory</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Allocation in C</a:t>
            </a:r>
            <a:endParaRPr lang="en-US" sz="6000" dirty="0"/>
          </a:p>
        </p:txBody>
      </p:sp>
      <p:sp>
        <p:nvSpPr>
          <p:cNvPr id="4" name="Text 2"/>
          <p:cNvSpPr/>
          <p:nvPr/>
        </p:nvSpPr>
        <p:spPr>
          <a:xfrm>
            <a:off x="812800" y="4394200"/>
            <a:ext cx="10883392" cy="416542"/>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FD0E6"/>
                </a:solidFill>
                <a:latin typeface="JetBrains Mono" pitchFamily="49" charset="0"/>
                <a:ea typeface="JetBrains Mono" pitchFamily="49" charset="-122"/>
                <a:cs typeface="JetBrains Mono" pitchFamily="49" charset="-120"/>
              </a:rPr>
              <a:t>malloc() · calloc() · free()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THE PROBLEM</a:t>
            </a:r>
            <a:endParaRPr lang="en-US" sz="1200" dirty="0"/>
          </a:p>
        </p:txBody>
      </p:sp>
      <p:sp>
        <p:nvSpPr>
          <p:cNvPr id="3" name="Text 1"/>
          <p:cNvSpPr/>
          <p:nvPr>
            <p:ph type="title"/>
          </p:nvPr>
        </p:nvSpPr>
        <p:spPr>
          <a:xfrm>
            <a:off x="812800" y="1127743"/>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A normal array cannot change its size</a:t>
            </a:r>
            <a:endParaRPr lang="en-US" sz="3600" dirty="0"/>
          </a:p>
        </p:txBody>
      </p:sp>
      <p:sp>
        <p:nvSpPr>
          <p:cNvPr id="4" name="Text 2"/>
          <p:cNvSpPr/>
          <p:nvPr/>
        </p:nvSpPr>
        <p:spPr>
          <a:xfrm>
            <a:off x="812800" y="1935427"/>
            <a:ext cx="10566400" cy="726414"/>
          </a:xfrm>
          <a:prstGeom prst="roundRect">
            <a:avLst>
              <a:gd name="adj" fmla="val 13987"/>
            </a:avLst>
          </a:prstGeom>
          <a:solidFill>
            <a:srgbClr val="14213D"/>
          </a:solidFill>
          <a:ln/>
        </p:spPr>
        <p:txBody>
          <a:bodyPr wrap="none" lIns="224242" tIns="173442" rIns="0" bIns="148042" rtlCol="0" anchor="t">
            <a:normAutofit/>
          </a:bodyPr>
          <a:lstStyle/>
          <a:p>
            <a:pPr algn="l" indent="0" marL="0">
              <a:lnSpc>
                <a:spcPts val="2520"/>
              </a:lnSpc>
              <a:buNone/>
            </a:pPr>
            <a:r>
              <a:rPr lang="en-US" sz="1800" dirty="0">
                <a:solidFill>
                  <a:srgbClr val="E6EBF2"/>
                </a:solidFill>
                <a:latin typeface="JetBrains Mono" pitchFamily="49" charset="0"/>
                <a:ea typeface="JetBrains Mono" pitchFamily="49" charset="-122"/>
                <a:cs typeface="JetBrains Mono" pitchFamily="49" charset="-120"/>
              </a:rPr>
              <a:t>int marks[50]; </a:t>
            </a:r>
            <a:r>
              <a:rPr lang="en-US" sz="1800" dirty="0">
                <a:solidFill>
                  <a:srgbClr val="8FA3BF"/>
                </a:solidFill>
                <a:latin typeface="JetBrains Mono" pitchFamily="49" charset="0"/>
                <a:ea typeface="JetBrains Mono" pitchFamily="49" charset="-122"/>
                <a:cs typeface="JetBrains Mono" pitchFamily="49" charset="-120"/>
              </a:rPr>
              <a:t>// space for exactly 50 students</a:t>
            </a:r>
            <a:endParaRPr lang="en-US" sz="1800" dirty="0"/>
          </a:p>
        </p:txBody>
      </p:sp>
      <p:sp>
        <p:nvSpPr>
          <p:cNvPr id="5" name="Shape 3"/>
          <p:cNvSpPr/>
          <p:nvPr/>
        </p:nvSpPr>
        <p:spPr>
          <a:xfrm>
            <a:off x="815975" y="2969816"/>
            <a:ext cx="5175250" cy="1493352"/>
          </a:xfrm>
          <a:prstGeom prst="roundRect">
            <a:avLst>
              <a:gd name="adj" fmla="val 6591"/>
            </a:avLst>
          </a:prstGeom>
          <a:solidFill>
            <a:srgbClr val="FFFDF8"/>
          </a:solidFill>
          <a:ln w="6350">
            <a:solidFill>
              <a:srgbClr val="E2DED3"/>
            </a:solidFill>
            <a:prstDash val="solid"/>
          </a:ln>
        </p:spPr>
      </p:sp>
      <p:sp>
        <p:nvSpPr>
          <p:cNvPr id="6" name="Text 4"/>
          <p:cNvSpPr/>
          <p:nvPr/>
        </p:nvSpPr>
        <p:spPr>
          <a:xfrm>
            <a:off x="1072444" y="3226285"/>
            <a:ext cx="4802180" cy="360671"/>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501F"/>
                </a:solidFill>
                <a:latin typeface="Rubik" pitchFamily="34" charset="0"/>
                <a:ea typeface="Rubik" pitchFamily="34" charset="-122"/>
                <a:cs typeface="Rubik" pitchFamily="34" charset="-120"/>
              </a:rPr>
              <a:t>Too small</a:t>
            </a:r>
            <a:endParaRPr lang="en-US" sz="2200" dirty="0"/>
          </a:p>
        </p:txBody>
      </p:sp>
      <p:sp>
        <p:nvSpPr>
          <p:cNvPr id="7" name="Text 5"/>
          <p:cNvSpPr/>
          <p:nvPr/>
        </p:nvSpPr>
        <p:spPr>
          <a:xfrm>
            <a:off x="1072444" y="3637756"/>
            <a:ext cx="4802180" cy="59434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The class has 70 students. There is no room for the last 20.</a:t>
            </a:r>
            <a:endParaRPr lang="en-US" sz="1600" dirty="0"/>
          </a:p>
        </p:txBody>
      </p:sp>
      <p:sp>
        <p:nvSpPr>
          <p:cNvPr id="8" name="Shape 6"/>
          <p:cNvSpPr/>
          <p:nvPr/>
        </p:nvSpPr>
        <p:spPr>
          <a:xfrm>
            <a:off x="6200775" y="2969816"/>
            <a:ext cx="5175250" cy="1493352"/>
          </a:xfrm>
          <a:prstGeom prst="roundRect">
            <a:avLst>
              <a:gd name="adj" fmla="val 6591"/>
            </a:avLst>
          </a:prstGeom>
          <a:solidFill>
            <a:srgbClr val="FFFDF8"/>
          </a:solidFill>
          <a:ln w="6350">
            <a:solidFill>
              <a:srgbClr val="E2DED3"/>
            </a:solidFill>
            <a:prstDash val="solid"/>
          </a:ln>
        </p:spPr>
      </p:sp>
      <p:sp>
        <p:nvSpPr>
          <p:cNvPr id="9" name="Text 7"/>
          <p:cNvSpPr/>
          <p:nvPr/>
        </p:nvSpPr>
        <p:spPr>
          <a:xfrm>
            <a:off x="6457245" y="3226285"/>
            <a:ext cx="4802180" cy="360671"/>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F6FB3"/>
                </a:solidFill>
                <a:latin typeface="Rubik" pitchFamily="34" charset="0"/>
                <a:ea typeface="Rubik" pitchFamily="34" charset="-122"/>
                <a:cs typeface="Rubik" pitchFamily="34" charset="-120"/>
              </a:rPr>
              <a:t>Too big</a:t>
            </a:r>
            <a:endParaRPr lang="en-US" sz="2200" dirty="0"/>
          </a:p>
        </p:txBody>
      </p:sp>
      <p:sp>
        <p:nvSpPr>
          <p:cNvPr id="10" name="Text 8"/>
          <p:cNvSpPr/>
          <p:nvPr/>
        </p:nvSpPr>
        <p:spPr>
          <a:xfrm>
            <a:off x="6457245" y="3637756"/>
            <a:ext cx="4802180" cy="59434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The class has 10 students. Space for the other 40 is wasted.</a:t>
            </a:r>
            <a:endParaRPr lang="en-US" sz="1600" dirty="0"/>
          </a:p>
        </p:txBody>
      </p:sp>
      <p:sp>
        <p:nvSpPr>
          <p:cNvPr id="11" name="Text 9"/>
          <p:cNvSpPr/>
          <p:nvPr/>
        </p:nvSpPr>
        <p:spPr>
          <a:xfrm>
            <a:off x="812800" y="4771143"/>
            <a:ext cx="10883392" cy="30987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Rubik" pitchFamily="34" charset="0"/>
                <a:ea typeface="Rubik" pitchFamily="34" charset="-122"/>
                <a:cs typeface="Rubik" pitchFamily="34" charset="-120"/>
              </a:rPr>
              <a:t>What we want:</a:t>
            </a:r>
            <a:r>
              <a:rPr lang="en-US" sz="1600" dirty="0">
                <a:solidFill>
                  <a:srgbClr val="14213D"/>
                </a:solidFill>
                <a:latin typeface="Rubik" pitchFamily="34" charset="0"/>
                <a:ea typeface="Rubik" pitchFamily="34" charset="-122"/>
                <a:cs typeface="Rubik" pitchFamily="34" charset="-120"/>
              </a:rPr>
              <a:t> ask how many students there are, then make an array of exactly that size.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8A4B"/>
                </a:solidFill>
                <a:latin typeface="Rubik" pitchFamily="34" charset="0"/>
                <a:ea typeface="Rubik" pitchFamily="34" charset="-122"/>
                <a:cs typeface="Rubik" pitchFamily="34" charset="-120"/>
              </a:rPr>
              <a:t>THE IDEA</a:t>
            </a:r>
            <a:endParaRPr lang="en-US" sz="1200" dirty="0"/>
          </a:p>
        </p:txBody>
      </p:sp>
      <p:sp>
        <p:nvSpPr>
          <p:cNvPr id="3" name="Text 1"/>
          <p:cNvSpPr/>
          <p:nvPr>
            <p:ph type="title"/>
          </p:nvPr>
        </p:nvSpPr>
        <p:spPr>
          <a:xfrm>
            <a:off x="812800" y="1127742"/>
            <a:ext cx="10883392" cy="1076942"/>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5EF"/>
                </a:solidFill>
                <a:latin typeface="Rubik" pitchFamily="34" charset="0"/>
                <a:ea typeface="Rubik" pitchFamily="34" charset="-122"/>
                <a:cs typeface="Rubik" pitchFamily="34" charset="-120"/>
              </a:rPr>
              <a:t>Dynamic memory allocation means asking for memory </a:t>
            </a:r>
            <a:r>
              <a:rPr lang="en-US" sz="3600" b="1" i="0" dirty="0">
                <a:solidFill>
                  <a:srgbClr val="F08A4B"/>
                </a:solidFill>
                <a:latin typeface="Rubik" pitchFamily="34" charset="0"/>
                <a:ea typeface="Rubik" pitchFamily="34" charset="-122"/>
                <a:cs typeface="Rubik" pitchFamily="34" charset="-120"/>
              </a:rPr>
              <a:t>while the program is running</a:t>
            </a:r>
            <a:r>
              <a:rPr lang="en-US" sz="3600" b="1" i="0" dirty="0">
                <a:solidFill>
                  <a:srgbClr val="F7F5EF"/>
                </a:solidFill>
                <a:latin typeface="Rubik" pitchFamily="34" charset="0"/>
                <a:ea typeface="Rubik" pitchFamily="34" charset="-122"/>
                <a:cs typeface="Rubik" pitchFamily="34" charset="-120"/>
              </a:rPr>
              <a:t>.</a:t>
            </a:r>
            <a:endParaRPr lang="en-US" sz="3600" dirty="0"/>
          </a:p>
        </p:txBody>
      </p:sp>
      <p:sp>
        <p:nvSpPr>
          <p:cNvPr id="4" name="Shape 2"/>
          <p:cNvSpPr/>
          <p:nvPr/>
        </p:nvSpPr>
        <p:spPr>
          <a:xfrm>
            <a:off x="812800" y="2534886"/>
            <a:ext cx="5170311" cy="1902134"/>
          </a:xfrm>
          <a:prstGeom prst="roundRect">
            <a:avLst>
              <a:gd name="adj" fmla="val 5341"/>
            </a:avLst>
          </a:prstGeom>
          <a:solidFill>
            <a:srgbClr val="1E2B47"/>
          </a:solidFill>
          <a:ln/>
        </p:spPr>
      </p:sp>
      <p:sp>
        <p:nvSpPr>
          <p:cNvPr id="5" name="Text 3"/>
          <p:cNvSpPr/>
          <p:nvPr/>
        </p:nvSpPr>
        <p:spPr>
          <a:xfrm>
            <a:off x="1066800" y="2788886"/>
            <a:ext cx="4802180" cy="23874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A3BF"/>
                </a:solidFill>
                <a:latin typeface="Rubik" pitchFamily="34" charset="0"/>
                <a:ea typeface="Rubik" pitchFamily="34" charset="-122"/>
                <a:cs typeface="Rubik" pitchFamily="34" charset="-120"/>
              </a:rPr>
              <a:t>STATIC</a:t>
            </a:r>
            <a:endParaRPr lang="en-US" sz="1200" dirty="0"/>
          </a:p>
        </p:txBody>
      </p:sp>
      <p:sp>
        <p:nvSpPr>
          <p:cNvPr id="6" name="Text 4"/>
          <p:cNvSpPr/>
          <p:nvPr/>
        </p:nvSpPr>
        <p:spPr>
          <a:xfrm>
            <a:off x="1066800" y="3103828"/>
            <a:ext cx="4802180" cy="695942"/>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F"/>
                </a:solidFill>
                <a:latin typeface="Rubik" pitchFamily="34" charset="0"/>
                <a:ea typeface="Rubik" pitchFamily="34" charset="-122"/>
                <a:cs typeface="Rubik" pitchFamily="34" charset="-120"/>
              </a:rPr>
              <a:t>Size fixed when you write the code</a:t>
            </a:r>
            <a:endParaRPr lang="en-US" sz="2200" dirty="0"/>
          </a:p>
        </p:txBody>
      </p:sp>
      <p:sp>
        <p:nvSpPr>
          <p:cNvPr id="7" name="Text 5"/>
          <p:cNvSpPr/>
          <p:nvPr/>
        </p:nvSpPr>
        <p:spPr>
          <a:xfrm>
            <a:off x="1066800" y="3875970"/>
            <a:ext cx="4802180"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BF2"/>
                </a:solidFill>
                <a:latin typeface="JetBrains Mono" pitchFamily="49" charset="0"/>
                <a:ea typeface="JetBrains Mono" pitchFamily="49" charset="-122"/>
                <a:cs typeface="JetBrains Mono" pitchFamily="49" charset="-120"/>
              </a:rPr>
              <a:t>int a[50];</a:t>
            </a:r>
            <a:endParaRPr lang="en-US" sz="1600" dirty="0"/>
          </a:p>
        </p:txBody>
      </p:sp>
      <p:sp>
        <p:nvSpPr>
          <p:cNvPr id="8" name="Shape 6"/>
          <p:cNvSpPr/>
          <p:nvPr/>
        </p:nvSpPr>
        <p:spPr>
          <a:xfrm>
            <a:off x="6192661" y="2541236"/>
            <a:ext cx="5180189" cy="1889434"/>
          </a:xfrm>
          <a:prstGeom prst="roundRect">
            <a:avLst>
              <a:gd name="adj" fmla="val 5041"/>
            </a:avLst>
          </a:prstGeom>
          <a:solidFill>
            <a:srgbClr val="1E2B47"/>
          </a:solidFill>
          <a:ln w="12700">
            <a:solidFill>
              <a:srgbClr val="F08A4B"/>
            </a:solidFill>
            <a:prstDash val="solid"/>
          </a:ln>
        </p:spPr>
      </p:sp>
      <p:sp>
        <p:nvSpPr>
          <p:cNvPr id="9" name="Text 7"/>
          <p:cNvSpPr/>
          <p:nvPr/>
        </p:nvSpPr>
        <p:spPr>
          <a:xfrm>
            <a:off x="6451600" y="2800173"/>
            <a:ext cx="4802180" cy="23874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Rubik" pitchFamily="34" charset="0"/>
                <a:ea typeface="Rubik" pitchFamily="34" charset="-122"/>
                <a:cs typeface="Rubik" pitchFamily="34" charset="-120"/>
              </a:rPr>
              <a:t>DYNAMIC</a:t>
            </a:r>
            <a:endParaRPr lang="en-US" sz="1200" dirty="0"/>
          </a:p>
        </p:txBody>
      </p:sp>
      <p:sp>
        <p:nvSpPr>
          <p:cNvPr id="10" name="Text 8"/>
          <p:cNvSpPr/>
          <p:nvPr/>
        </p:nvSpPr>
        <p:spPr>
          <a:xfrm>
            <a:off x="6451600" y="3115117"/>
            <a:ext cx="4802180" cy="695942"/>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F"/>
                </a:solidFill>
                <a:latin typeface="Rubik" pitchFamily="34" charset="0"/>
                <a:ea typeface="Rubik" pitchFamily="34" charset="-122"/>
                <a:cs typeface="Rubik" pitchFamily="34" charset="-120"/>
              </a:rPr>
              <a:t>Size decided while the program runs</a:t>
            </a:r>
            <a:endParaRPr lang="en-US" sz="2200" dirty="0"/>
          </a:p>
        </p:txBody>
      </p:sp>
      <p:sp>
        <p:nvSpPr>
          <p:cNvPr id="11" name="Text 9"/>
          <p:cNvSpPr/>
          <p:nvPr/>
        </p:nvSpPr>
        <p:spPr>
          <a:xfrm>
            <a:off x="6451600" y="3887259"/>
            <a:ext cx="4802180"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BF2"/>
                </a:solidFill>
                <a:latin typeface="Rubik" pitchFamily="34" charset="0"/>
                <a:ea typeface="Rubik" pitchFamily="34" charset="-122"/>
                <a:cs typeface="Rubik" pitchFamily="34" charset="-120"/>
              </a:rPr>
              <a:t>Ask the user for n, then get space for n integers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TWO AREAS OF MEMORY</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Stack vs heap</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946717"/>
          <a:ext cx="10555111" cy="2189648"/>
        </p:xfrm>
        <a:graphic>
          <a:graphicData uri="http://schemas.openxmlformats.org/drawingml/2006/table">
            <a:tbl>
              <a:tblPr/>
              <a:tblGrid>
                <a:gridCol w="2955431"/>
                <a:gridCol w="3799840"/>
                <a:gridCol w="3799840"/>
              </a:tblGrid>
              <a:tr h="437930">
                <a:tc>
                  <a:txBody>
                    <a:bodyPr/>
                    <a:lstStyle/>
                    <a:p>
                      <a:pPr indent="0" marL="0">
                        <a:lnSpc>
                          <a:spcPts val="2240"/>
                        </a:lnSpc>
                        <a:buNone/>
                      </a:pP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7F5EF"/>
                          </a:solidFill>
                          <a:latin typeface="Rubik" pitchFamily="34" charset="0"/>
                          <a:ea typeface="Rubik" pitchFamily="34" charset="-122"/>
                          <a:cs typeface="Rubik" pitchFamily="34" charset="-120"/>
                        </a:rPr>
                        <a:t>Stack</a:t>
                      </a:r>
                      <a:endParaRPr lang="en-US" sz="1600" dirty="0">
                        <a:latin typeface="Rubik" charset="0"/>
                        <a:ea typeface="Rubik" charset="0"/>
                        <a:cs typeface="Rubik"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7F5EF"/>
                          </a:solidFill>
                          <a:latin typeface="Rubik" pitchFamily="34" charset="0"/>
                          <a:ea typeface="Rubik" pitchFamily="34" charset="-122"/>
                          <a:cs typeface="Rubik" pitchFamily="34" charset="-120"/>
                        </a:rPr>
                        <a:t>Heap</a:t>
                      </a:r>
                      <a:endParaRPr lang="en-US" sz="1600" dirty="0">
                        <a:latin typeface="Rubik" charset="0"/>
                        <a:ea typeface="Rubik" charset="0"/>
                        <a:cs typeface="Rubik"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What goes there</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Normal variables: int x; int a[50];</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Memory from malloc() / calloc()</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Who manages it</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C, automatically</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You</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When it is freed</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When the function ends</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Only when you call free()</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Size</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Fixed when you write the code</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Decided while the program runs</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AN EVERYDAY ANALOGY</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Think of the heap as a hotel</a:t>
            </a:r>
            <a:endParaRPr lang="en-US" sz="3600" dirty="0"/>
          </a:p>
        </p:txBody>
      </p:sp>
      <p:sp>
        <p:nvSpPr>
          <p:cNvPr id="4" name="Shape 2"/>
          <p:cNvSpPr/>
          <p:nvPr/>
        </p:nvSpPr>
        <p:spPr>
          <a:xfrm>
            <a:off x="815975" y="1938601"/>
            <a:ext cx="2482850" cy="2331420"/>
          </a:xfrm>
          <a:prstGeom prst="roundRect">
            <a:avLst>
              <a:gd name="adj" fmla="val 4222"/>
            </a:avLst>
          </a:prstGeom>
          <a:solidFill>
            <a:srgbClr val="FFFDF8"/>
          </a:solidFill>
          <a:ln w="6350">
            <a:solidFill>
              <a:srgbClr val="E2DED3"/>
            </a:solidFill>
            <a:prstDash val="solid"/>
          </a:ln>
        </p:spPr>
      </p:sp>
      <p:pic>
        <p:nvPicPr>
          <p:cNvPr id="5" name="Image 0" descr="Home">    </p:cNvPr>
          <p:cNvPicPr>
            <a:picLocks noChangeAspect="1"/>
          </p:cNvPicPr>
          <p:nvPr/>
        </p:nvPicPr>
        <p:blipFill>
          <a:blip r:embed="rId1"/>
          <a:srcRect l="0" r="0" t="0" b="0"/>
          <a:stretch/>
        </p:blipFill>
        <p:spPr>
          <a:xfrm>
            <a:off x="1021644" y="2144272"/>
            <a:ext cx="355600" cy="355600"/>
          </a:xfrm>
          <a:prstGeom prst="rect">
            <a:avLst/>
          </a:prstGeom>
        </p:spPr>
      </p:pic>
      <p:sp>
        <p:nvSpPr>
          <p:cNvPr id="6" name="Text 3"/>
          <p:cNvSpPr/>
          <p:nvPr/>
        </p:nvSpPr>
        <p:spPr>
          <a:xfrm>
            <a:off x="1021644" y="2601472"/>
            <a:ext cx="2133656"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280"/>
                </a:solidFill>
                <a:latin typeface="Rubik" pitchFamily="34" charset="0"/>
                <a:ea typeface="Rubik" pitchFamily="34" charset="-122"/>
                <a:cs typeface="Rubik" pitchFamily="34" charset="-120"/>
              </a:rPr>
              <a:t>BOOKING A ROOM</a:t>
            </a:r>
            <a:endParaRPr lang="en-US" sz="1200" dirty="0"/>
          </a:p>
        </p:txBody>
      </p:sp>
      <p:sp>
        <p:nvSpPr>
          <p:cNvPr id="7" name="Text 4"/>
          <p:cNvSpPr/>
          <p:nvPr/>
        </p:nvSpPr>
        <p:spPr>
          <a:xfrm>
            <a:off x="1021644" y="2916414"/>
            <a:ext cx="2133656" cy="57396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malloc()</a:t>
            </a:r>
            <a:endParaRPr lang="en-US" sz="1800" dirty="0"/>
          </a:p>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calloc()</a:t>
            </a:r>
            <a:endParaRPr lang="en-US" sz="1800" dirty="0"/>
          </a:p>
        </p:txBody>
      </p:sp>
      <p:sp>
        <p:nvSpPr>
          <p:cNvPr id="8" name="Text 5"/>
          <p:cNvSpPr/>
          <p:nvPr/>
        </p:nvSpPr>
        <p:spPr>
          <a:xfrm>
            <a:off x="1021644" y="3566582"/>
            <a:ext cx="2133656"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Ask for space; get back its address</a:t>
            </a:r>
            <a:endParaRPr lang="en-US" sz="1400" dirty="0"/>
          </a:p>
        </p:txBody>
      </p:sp>
      <p:sp>
        <p:nvSpPr>
          <p:cNvPr id="9" name="Shape 6"/>
          <p:cNvSpPr/>
          <p:nvPr/>
        </p:nvSpPr>
        <p:spPr>
          <a:xfrm>
            <a:off x="3508375" y="1938601"/>
            <a:ext cx="2482850" cy="2331420"/>
          </a:xfrm>
          <a:prstGeom prst="roundRect">
            <a:avLst>
              <a:gd name="adj" fmla="val 4222"/>
            </a:avLst>
          </a:prstGeom>
          <a:solidFill>
            <a:srgbClr val="FFFDF8"/>
          </a:solidFill>
          <a:ln w="6350">
            <a:solidFill>
              <a:srgbClr val="E2DED3"/>
            </a:solidFill>
            <a:prstDash val="solid"/>
          </a:ln>
        </p:spPr>
      </p:sp>
      <p:pic>
        <p:nvPicPr>
          <p:cNvPr id="10" name="Image 1" descr="Key">    </p:cNvPr>
          <p:cNvPicPr>
            <a:picLocks noChangeAspect="1"/>
          </p:cNvPicPr>
          <p:nvPr/>
        </p:nvPicPr>
        <p:blipFill>
          <a:blip r:embed="rId2"/>
          <a:srcRect l="0" r="0" t="0" b="0"/>
          <a:stretch/>
        </p:blipFill>
        <p:spPr>
          <a:xfrm>
            <a:off x="3714045" y="2144272"/>
            <a:ext cx="355600" cy="355600"/>
          </a:xfrm>
          <a:prstGeom prst="rect">
            <a:avLst/>
          </a:prstGeom>
        </p:spPr>
      </p:pic>
      <p:sp>
        <p:nvSpPr>
          <p:cNvPr id="11" name="Text 7"/>
          <p:cNvSpPr/>
          <p:nvPr/>
        </p:nvSpPr>
        <p:spPr>
          <a:xfrm>
            <a:off x="3714045" y="2601472"/>
            <a:ext cx="2133656"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280"/>
                </a:solidFill>
                <a:latin typeface="Rubik" pitchFamily="34" charset="0"/>
                <a:ea typeface="Rubik" pitchFamily="34" charset="-122"/>
                <a:cs typeface="Rubik" pitchFamily="34" charset="-120"/>
              </a:rPr>
              <a:t>ROOM KEY</a:t>
            </a:r>
            <a:endParaRPr lang="en-US" sz="1200" dirty="0"/>
          </a:p>
        </p:txBody>
      </p:sp>
      <p:sp>
        <p:nvSpPr>
          <p:cNvPr id="12" name="Text 8"/>
          <p:cNvSpPr/>
          <p:nvPr/>
        </p:nvSpPr>
        <p:spPr>
          <a:xfrm>
            <a:off x="3714045" y="2916414"/>
            <a:ext cx="213365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Pointer</a:t>
            </a:r>
            <a:endParaRPr lang="en-US" sz="1800" dirty="0"/>
          </a:p>
        </p:txBody>
      </p:sp>
      <p:sp>
        <p:nvSpPr>
          <p:cNvPr id="13" name="Text 9"/>
          <p:cNvSpPr/>
          <p:nvPr/>
        </p:nvSpPr>
        <p:spPr>
          <a:xfrm>
            <a:off x="3714045" y="3292298"/>
            <a:ext cx="2133656"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Holds the room number (the address)</a:t>
            </a:r>
            <a:endParaRPr lang="en-US" sz="1400" dirty="0"/>
          </a:p>
        </p:txBody>
      </p:sp>
      <p:sp>
        <p:nvSpPr>
          <p:cNvPr id="14" name="Shape 10"/>
          <p:cNvSpPr/>
          <p:nvPr/>
        </p:nvSpPr>
        <p:spPr>
          <a:xfrm>
            <a:off x="6200775" y="1938601"/>
            <a:ext cx="2482850" cy="2331420"/>
          </a:xfrm>
          <a:prstGeom prst="roundRect">
            <a:avLst>
              <a:gd name="adj" fmla="val 4222"/>
            </a:avLst>
          </a:prstGeom>
          <a:solidFill>
            <a:srgbClr val="FFFDF8"/>
          </a:solidFill>
          <a:ln w="6350">
            <a:solidFill>
              <a:srgbClr val="E2DED3"/>
            </a:solidFill>
            <a:prstDash val="solid"/>
          </a:ln>
        </p:spPr>
      </p:sp>
      <p:pic>
        <p:nvPicPr>
          <p:cNvPr id="15" name="Image 2" descr="CheckCircle">    </p:cNvPr>
          <p:cNvPicPr>
            <a:picLocks noChangeAspect="1"/>
          </p:cNvPicPr>
          <p:nvPr/>
        </p:nvPicPr>
        <p:blipFill>
          <a:blip r:embed="rId3"/>
          <a:srcRect l="0" r="0" t="0" b="0"/>
          <a:stretch/>
        </p:blipFill>
        <p:spPr>
          <a:xfrm>
            <a:off x="6406445" y="2144272"/>
            <a:ext cx="355600" cy="355600"/>
          </a:xfrm>
          <a:prstGeom prst="rect">
            <a:avLst/>
          </a:prstGeom>
        </p:spPr>
      </p:pic>
      <p:sp>
        <p:nvSpPr>
          <p:cNvPr id="16" name="Text 11"/>
          <p:cNvSpPr/>
          <p:nvPr/>
        </p:nvSpPr>
        <p:spPr>
          <a:xfrm>
            <a:off x="6406445" y="2601472"/>
            <a:ext cx="2133656"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280"/>
                </a:solidFill>
                <a:latin typeface="Rubik" pitchFamily="34" charset="0"/>
                <a:ea typeface="Rubik" pitchFamily="34" charset="-122"/>
                <a:cs typeface="Rubik" pitchFamily="34" charset="-120"/>
              </a:rPr>
              <a:t>CHECKING OUT</a:t>
            </a:r>
            <a:endParaRPr lang="en-US" sz="1200" dirty="0"/>
          </a:p>
        </p:txBody>
      </p:sp>
      <p:sp>
        <p:nvSpPr>
          <p:cNvPr id="17" name="Text 12"/>
          <p:cNvSpPr/>
          <p:nvPr/>
        </p:nvSpPr>
        <p:spPr>
          <a:xfrm>
            <a:off x="6406445" y="2916414"/>
            <a:ext cx="213365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free()</a:t>
            </a:r>
            <a:endParaRPr lang="en-US" sz="1800" dirty="0"/>
          </a:p>
        </p:txBody>
      </p:sp>
      <p:sp>
        <p:nvSpPr>
          <p:cNvPr id="18" name="Text 13"/>
          <p:cNvSpPr/>
          <p:nvPr/>
        </p:nvSpPr>
        <p:spPr>
          <a:xfrm>
            <a:off x="6406445" y="3292298"/>
            <a:ext cx="2133656"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Give the room back for others to use</a:t>
            </a:r>
            <a:endParaRPr lang="en-US" sz="1400" dirty="0"/>
          </a:p>
        </p:txBody>
      </p:sp>
      <p:sp>
        <p:nvSpPr>
          <p:cNvPr id="19" name="Shape 14"/>
          <p:cNvSpPr/>
          <p:nvPr/>
        </p:nvSpPr>
        <p:spPr>
          <a:xfrm>
            <a:off x="8893175" y="1938601"/>
            <a:ext cx="2482850" cy="2331420"/>
          </a:xfrm>
          <a:prstGeom prst="roundRect">
            <a:avLst>
              <a:gd name="adj" fmla="val 4222"/>
            </a:avLst>
          </a:prstGeom>
          <a:solidFill>
            <a:srgbClr val="FFFDF8"/>
          </a:solidFill>
          <a:ln w="6350">
            <a:solidFill>
              <a:srgbClr val="E2DED3"/>
            </a:solidFill>
            <a:prstDash val="solid"/>
          </a:ln>
        </p:spPr>
      </p:sp>
      <p:pic>
        <p:nvPicPr>
          <p:cNvPr id="20" name="Image 3" descr="Warning">    </p:cNvPr>
          <p:cNvPicPr>
            <a:picLocks noChangeAspect="1"/>
          </p:cNvPicPr>
          <p:nvPr/>
        </p:nvPicPr>
        <p:blipFill>
          <a:blip r:embed="rId4"/>
          <a:srcRect l="0" r="0" t="0" b="0"/>
          <a:stretch/>
        </p:blipFill>
        <p:spPr>
          <a:xfrm>
            <a:off x="9098845" y="2144272"/>
            <a:ext cx="355600" cy="355600"/>
          </a:xfrm>
          <a:prstGeom prst="rect">
            <a:avLst/>
          </a:prstGeom>
        </p:spPr>
      </p:pic>
      <p:sp>
        <p:nvSpPr>
          <p:cNvPr id="21" name="Text 15"/>
          <p:cNvSpPr/>
          <p:nvPr/>
        </p:nvSpPr>
        <p:spPr>
          <a:xfrm>
            <a:off x="9098845" y="2601472"/>
            <a:ext cx="2133656"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280"/>
                </a:solidFill>
                <a:latin typeface="Rubik" pitchFamily="34" charset="0"/>
                <a:ea typeface="Rubik" pitchFamily="34" charset="-122"/>
                <a:cs typeface="Rubik" pitchFamily="34" charset="-120"/>
              </a:rPr>
              <a:t>NEVER CHECKING OUT</a:t>
            </a:r>
            <a:endParaRPr lang="en-US" sz="1200" dirty="0"/>
          </a:p>
        </p:txBody>
      </p:sp>
      <p:sp>
        <p:nvSpPr>
          <p:cNvPr id="22" name="Text 16"/>
          <p:cNvSpPr/>
          <p:nvPr/>
        </p:nvSpPr>
        <p:spPr>
          <a:xfrm>
            <a:off x="9098845" y="2916414"/>
            <a:ext cx="213365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Memory leak</a:t>
            </a:r>
            <a:endParaRPr lang="en-US" sz="1800" dirty="0"/>
          </a:p>
        </p:txBody>
      </p:sp>
      <p:sp>
        <p:nvSpPr>
          <p:cNvPr id="23" name="Text 17"/>
          <p:cNvSpPr/>
          <p:nvPr/>
        </p:nvSpPr>
        <p:spPr>
          <a:xfrm>
            <a:off x="9098845" y="3292298"/>
            <a:ext cx="2133656"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The room stays blocked and is wasted</a:t>
            </a:r>
            <a:endParaRPr lang="en-US" sz="1400" dirty="0"/>
          </a:p>
        </p:txBody>
      </p:sp>
      <p:sp>
        <p:nvSpPr>
          <p:cNvPr id="24" name="Text 18"/>
          <p:cNvSpPr/>
          <p:nvPr/>
        </p:nvSpPr>
        <p:spPr>
          <a:xfrm>
            <a:off x="812800" y="4577997"/>
            <a:ext cx="10883392"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Rubik" pitchFamily="34" charset="0"/>
                <a:ea typeface="Rubik" pitchFamily="34" charset="-122"/>
                <a:cs typeface="Rubik" pitchFamily="34" charset="-120"/>
              </a:rPr>
              <a:t>You always get back an </a:t>
            </a:r>
            <a:r>
              <a:rPr lang="en-US" sz="1600" b="1" dirty="0">
                <a:solidFill>
                  <a:srgbClr val="14213D"/>
                </a:solidFill>
                <a:latin typeface="Rubik" pitchFamily="34" charset="0"/>
                <a:ea typeface="Rubik" pitchFamily="34" charset="-122"/>
                <a:cs typeface="Rubik" pitchFamily="34" charset="-120"/>
              </a:rPr>
              <a:t>address</a:t>
            </a:r>
            <a:r>
              <a:rPr lang="en-US" sz="1600" dirty="0">
                <a:solidFill>
                  <a:srgbClr val="14213D"/>
                </a:solidFill>
                <a:latin typeface="Rubik" pitchFamily="34" charset="0"/>
                <a:ea typeface="Rubik" pitchFamily="34" charset="-122"/>
                <a:cs typeface="Rubik" pitchFamily="34" charset="-120"/>
              </a:rPr>
              <a:t>, so you always store it in a </a:t>
            </a:r>
            <a:r>
              <a:rPr lang="en-US" sz="1600" b="1" dirty="0">
                <a:solidFill>
                  <a:srgbClr val="14213D"/>
                </a:solidFill>
                <a:latin typeface="Rubik" pitchFamily="34" charset="0"/>
                <a:ea typeface="Rubik" pitchFamily="34" charset="-122"/>
                <a:cs typeface="Rubik" pitchFamily="34" charset="-120"/>
              </a:rPr>
              <a:t>pointer</a:t>
            </a:r>
            <a:r>
              <a:rPr lang="en-US" sz="1600" dirty="0">
                <a:solidFill>
                  <a:srgbClr val="14213D"/>
                </a:solidFill>
                <a:latin typeface="Rubik" pitchFamily="34" charset="0"/>
                <a:ea typeface="Rubik" pitchFamily="34" charset="-122"/>
                <a:cs typeface="Rubik" pitchFamily="34" charset="-120"/>
              </a:rPr>
              <a: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MALLOC() · MEMORY ALLOCATION</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malloc(): ask for a block of bytes</a:t>
            </a:r>
            <a:endParaRPr lang="en-US" sz="3600" dirty="0"/>
          </a:p>
        </p:txBody>
      </p:sp>
      <p:sp>
        <p:nvSpPr>
          <p:cNvPr id="4" name="Text 2"/>
          <p:cNvSpPr/>
          <p:nvPr/>
        </p:nvSpPr>
        <p:spPr>
          <a:xfrm>
            <a:off x="812800" y="1935426"/>
            <a:ext cx="5080000" cy="2108200"/>
          </a:xfrm>
          <a:prstGeom prst="roundRect">
            <a:avLst>
              <a:gd name="adj" fmla="val 4819"/>
            </a:avLst>
          </a:prstGeom>
          <a:solidFill>
            <a:srgbClr val="14213D"/>
          </a:solidFill>
          <a:ln/>
        </p:spPr>
        <p:txBody>
          <a:bodyPr wrap="none" lIns="224242" tIns="224242" rIns="87082" bIns="198842" rtlCol="0" anchor="t">
            <a:normAutofit/>
          </a:bodyPr>
          <a:lstStyle/>
          <a:p>
            <a:pPr algn="l" indent="0" marL="0">
              <a:lnSpc>
                <a:spcPts val="2100"/>
              </a:lnSpc>
              <a:buNone/>
            </a:pPr>
            <a:r>
              <a:rPr lang="en-US" sz="1400" dirty="0">
                <a:solidFill>
                  <a:srgbClr val="8FA3BF"/>
                </a:solidFill>
                <a:latin typeface="JetBrains Mono" pitchFamily="49" charset="0"/>
                <a:ea typeface="JetBrains Mono" pitchFamily="49" charset="-122"/>
                <a:cs typeface="JetBrains Mono" pitchFamily="49" charset="-120"/>
              </a:rPr>
              <a:t>// Syntax</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pointer = (type *) </a:t>
            </a:r>
            <a:r>
              <a:rPr lang="en-US" sz="1400" dirty="0">
                <a:solidFill>
                  <a:srgbClr val="F5A66B"/>
                </a:solidFill>
                <a:latin typeface="JetBrains Mono" pitchFamily="49" charset="0"/>
                <a:ea typeface="JetBrains Mono" pitchFamily="49" charset="-122"/>
                <a:cs typeface="JetBrains Mono" pitchFamily="49" charset="-120"/>
              </a:rPr>
              <a:t>malloc</a:t>
            </a:r>
            <a:r>
              <a:rPr lang="en-US" sz="1400" dirty="0">
                <a:solidFill>
                  <a:srgbClr val="E6EBF2"/>
                </a:solidFill>
                <a:latin typeface="JetBrains Mono" pitchFamily="49" charset="0"/>
                <a:ea typeface="JetBrains Mono" pitchFamily="49" charset="-122"/>
                <a:cs typeface="JetBrains Mono" pitchFamily="49" charset="-120"/>
              </a:rPr>
              <a:t>(bytes);</a:t>
            </a:r>
            <a:endParaRPr lang="en-US" sz="1400" dirty="0"/>
          </a:p>
          <a:p>
            <a:pPr algn="l" indent="0" marL="0">
              <a:lnSpc>
                <a:spcPts val="2100"/>
              </a:lnSpc>
              <a:buNone/>
            </a:pPr>
            <a:endParaRPr lang="en-US" sz="1400" dirty="0"/>
          </a:p>
          <a:p>
            <a:pPr algn="l" indent="0" marL="0">
              <a:lnSpc>
                <a:spcPts val="2100"/>
              </a:lnSpc>
              <a:buNone/>
            </a:pPr>
            <a:r>
              <a:rPr lang="en-US" sz="1400" dirty="0">
                <a:solidFill>
                  <a:srgbClr val="8FA3BF"/>
                </a:solidFill>
                <a:latin typeface="JetBrains Mono" pitchFamily="49" charset="0"/>
                <a:ea typeface="JetBrains Mono" pitchFamily="49" charset="-122"/>
                <a:cs typeface="JetBrains Mono" pitchFamily="49" charset="-120"/>
              </a:rPr>
              <a:t>// Example: space for 5 integers</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int *p;</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p = (int *) </a:t>
            </a:r>
            <a:r>
              <a:rPr lang="en-US" sz="1400" dirty="0">
                <a:solidFill>
                  <a:srgbClr val="F5A66B"/>
                </a:solidFill>
                <a:latin typeface="JetBrains Mono" pitchFamily="49" charset="0"/>
                <a:ea typeface="JetBrains Mono" pitchFamily="49" charset="-122"/>
                <a:cs typeface="JetBrains Mono" pitchFamily="49" charset="-120"/>
              </a:rPr>
              <a:t>malloc</a:t>
            </a:r>
            <a:r>
              <a:rPr lang="en-US" sz="1400" dirty="0">
                <a:solidFill>
                  <a:srgbClr val="E6EBF2"/>
                </a:solidFill>
                <a:latin typeface="JetBrains Mono" pitchFamily="49" charset="0"/>
                <a:ea typeface="JetBrains Mono" pitchFamily="49" charset="-122"/>
                <a:cs typeface="JetBrains Mono" pitchFamily="49" charset="-120"/>
              </a:rPr>
              <a:t>(5 * sizeof(int));</a:t>
            </a:r>
            <a:endParaRPr lang="en-US" sz="1400" dirty="0"/>
          </a:p>
        </p:txBody>
      </p:sp>
      <p:sp>
        <p:nvSpPr>
          <p:cNvPr id="5" name="Text 3"/>
          <p:cNvSpPr/>
          <p:nvPr/>
        </p:nvSpPr>
        <p:spPr>
          <a:xfrm>
            <a:off x="6238919" y="1935426"/>
            <a:ext cx="5288109" cy="1358900"/>
          </a:xfrm>
          <a:prstGeom prst="rect">
            <a:avLst/>
          </a:prstGeom>
          <a:noFill/>
          <a:ln/>
        </p:spPr>
        <p:txBody>
          <a:bodyPr wrap="square" lIns="0" tIns="0" rIns="0" bIns="0" rtlCol="0" anchor="t">
            <a:normAutofit/>
          </a:bodyPr>
          <a:lstStyle/>
          <a:p>
            <a:pPr algn="l" marL="212681" indent="-212681">
              <a:lnSpc>
                <a:spcPts val="2100"/>
              </a:lnSpc>
              <a:buSzPct val="100000"/>
              <a:buFontTx/>
              <a:buAutoNum type="arabicPeriod" startAt="1"/>
            </a:pPr>
            <a:r>
              <a:rPr lang="en-US" sz="1500" b="1" dirty="0">
                <a:solidFill>
                  <a:srgbClr val="3D4A5C"/>
                </a:solidFill>
                <a:latin typeface="Rubik" pitchFamily="34" charset="0"/>
                <a:ea typeface="Rubik" pitchFamily="34" charset="-122"/>
                <a:cs typeface="Rubik" pitchFamily="34" charset="-120"/>
              </a:rPr>
              <a:t>sizeof(int)</a:t>
            </a:r>
            <a:r>
              <a:rPr lang="en-US" sz="1500" dirty="0">
                <a:solidFill>
                  <a:srgbClr val="3D4A5C"/>
                </a:solidFill>
                <a:latin typeface="Rubik" pitchFamily="34" charset="0"/>
                <a:ea typeface="Rubik" pitchFamily="34" charset="-122"/>
                <a:cs typeface="Rubik" pitchFamily="34" charset="-120"/>
              </a:rPr>
              <a:t> = size of one int (usually 4 bytes)</a:t>
            </a:r>
            <a:endParaRPr lang="en-US" sz="1500" dirty="0"/>
          </a:p>
          <a:p>
            <a:pPr algn="l" marL="212681" indent="-212681">
              <a:lnSpc>
                <a:spcPts val="2100"/>
              </a:lnSpc>
              <a:buSzPct val="100000"/>
              <a:buFontTx/>
              <a:buAutoNum type="arabicPeriod" startAt="1"/>
            </a:pPr>
            <a:r>
              <a:rPr lang="en-US" sz="1500" b="1" dirty="0">
                <a:solidFill>
                  <a:srgbClr val="3D4A5C"/>
                </a:solidFill>
                <a:latin typeface="Rubik" pitchFamily="34" charset="0"/>
                <a:ea typeface="Rubik" pitchFamily="34" charset="-122"/>
                <a:cs typeface="Rubik" pitchFamily="34" charset="-120"/>
              </a:rPr>
              <a:t>5 * sizeof(int)</a:t>
            </a:r>
            <a:r>
              <a:rPr lang="en-US" sz="1500" dirty="0">
                <a:solidFill>
                  <a:srgbClr val="3D4A5C"/>
                </a:solidFill>
                <a:latin typeface="Rubik" pitchFamily="34" charset="0"/>
                <a:ea typeface="Rubik" pitchFamily="34" charset="-122"/>
                <a:cs typeface="Rubik" pitchFamily="34" charset="-120"/>
              </a:rPr>
              <a:t> = room for 5 ints (20 bytes)</a:t>
            </a:r>
            <a:endParaRPr lang="en-US" sz="1500" dirty="0"/>
          </a:p>
          <a:p>
            <a:pPr algn="l" marL="212681" indent="-212681">
              <a:lnSpc>
                <a:spcPts val="2100"/>
              </a:lnSpc>
              <a:buSzPct val="100000"/>
              <a:buFontTx/>
              <a:buAutoNum type="arabicPeriod" startAt="1"/>
            </a:pPr>
            <a:r>
              <a:rPr lang="en-US" sz="1500" b="1" dirty="0">
                <a:solidFill>
                  <a:srgbClr val="3D4A5C"/>
                </a:solidFill>
                <a:latin typeface="Rubik" pitchFamily="34" charset="0"/>
                <a:ea typeface="Rubik" pitchFamily="34" charset="-122"/>
                <a:cs typeface="Rubik" pitchFamily="34" charset="-120"/>
              </a:rPr>
              <a:t>malloc()</a:t>
            </a:r>
            <a:r>
              <a:rPr lang="en-US" sz="1500" dirty="0">
                <a:solidFill>
                  <a:srgbClr val="3D4A5C"/>
                </a:solidFill>
                <a:latin typeface="Rubik" pitchFamily="34" charset="0"/>
                <a:ea typeface="Rubik" pitchFamily="34" charset="-122"/>
                <a:cs typeface="Rubik" pitchFamily="34" charset="-120"/>
              </a:rPr>
              <a:t> reserves it on the heap and returns the start address</a:t>
            </a:r>
            <a:endParaRPr lang="en-US" sz="1500" dirty="0"/>
          </a:p>
          <a:p>
            <a:pPr algn="l" marL="212681" indent="-212681">
              <a:lnSpc>
                <a:spcPts val="2100"/>
              </a:lnSpc>
              <a:buSzPct val="100000"/>
              <a:buFontTx/>
              <a:buAutoNum type="arabicPeriod" startAt="1"/>
            </a:pPr>
            <a:r>
              <a:rPr lang="en-US" sz="1500" b="1" dirty="0">
                <a:solidFill>
                  <a:srgbClr val="3D4A5C"/>
                </a:solidFill>
                <a:latin typeface="Rubik" pitchFamily="34" charset="0"/>
                <a:ea typeface="Rubik" pitchFamily="34" charset="-122"/>
                <a:cs typeface="Rubik" pitchFamily="34" charset="-120"/>
              </a:rPr>
              <a:t>p</a:t>
            </a:r>
            <a:r>
              <a:rPr lang="en-US" sz="1500" dirty="0">
                <a:solidFill>
                  <a:srgbClr val="3D4A5C"/>
                </a:solidFill>
                <a:latin typeface="Rubik" pitchFamily="34" charset="0"/>
                <a:ea typeface="Rubik" pitchFamily="34" charset="-122"/>
                <a:cs typeface="Rubik" pitchFamily="34" charset="-120"/>
              </a:rPr>
              <a:t> stores that address. Use it like an array: p[0] … p[4]</a:t>
            </a:r>
            <a:endParaRPr lang="en-US" sz="1500" dirty="0"/>
          </a:p>
        </p:txBody>
      </p:sp>
      <p:sp>
        <p:nvSpPr>
          <p:cNvPr id="6" name="Text 4"/>
          <p:cNvSpPr/>
          <p:nvPr/>
        </p:nvSpPr>
        <p:spPr>
          <a:xfrm>
            <a:off x="6197600" y="3421326"/>
            <a:ext cx="5181600" cy="502885"/>
          </a:xfrm>
          <a:prstGeom prst="roundRect">
            <a:avLst>
              <a:gd name="adj" fmla="val 15153"/>
            </a:avLst>
          </a:prstGeom>
          <a:solidFill>
            <a:srgbClr val="F3E3D6"/>
          </a:solidFill>
          <a:ln/>
        </p:spPr>
        <p:txBody>
          <a:bodyPr wrap="square" lIns="130082" tIns="104682" rIns="0" bIns="79282" rtlCol="0" anchor="t">
            <a:normAutofit/>
          </a:bodyPr>
          <a:lstStyle/>
          <a:p>
            <a:pPr algn="l" indent="0" marL="0">
              <a:lnSpc>
                <a:spcPts val="1960"/>
              </a:lnSpc>
              <a:buNone/>
            </a:pPr>
            <a:r>
              <a:rPr lang="en-US" sz="1400" dirty="0">
                <a:solidFill>
                  <a:srgbClr val="14213D"/>
                </a:solidFill>
                <a:latin typeface="Rubik" pitchFamily="34" charset="0"/>
                <a:ea typeface="Rubik" pitchFamily="34" charset="-122"/>
                <a:cs typeface="Rubik" pitchFamily="34" charset="-120"/>
              </a:rPr>
              <a:t>Values inside start as </a:t>
            </a:r>
            <a:r>
              <a:rPr lang="en-US" sz="1400" b="1" dirty="0">
                <a:solidFill>
                  <a:srgbClr val="14213D"/>
                </a:solidFill>
                <a:latin typeface="Rubik" pitchFamily="34" charset="0"/>
                <a:ea typeface="Rubik" pitchFamily="34" charset="-122"/>
                <a:cs typeface="Rubik" pitchFamily="34" charset="-120"/>
              </a:rPr>
              <a:t>garbage</a:t>
            </a:r>
            <a:r>
              <a:rPr lang="en-US" sz="1400" dirty="0">
                <a:solidFill>
                  <a:srgbClr val="14213D"/>
                </a:solidFill>
                <a:latin typeface="Rubik" pitchFamily="34" charset="0"/>
                <a:ea typeface="Rubik" pitchFamily="34" charset="-122"/>
                <a:cs typeface="Rubik" pitchFamily="34" charset="-120"/>
              </a:rPr>
              <a:t>. Add </a:t>
            </a:r>
            <a:r>
              <a:rPr lang="en-US" sz="1400" b="1" dirty="0">
                <a:solidFill>
                  <a:srgbClr val="14213D"/>
                </a:solidFill>
                <a:latin typeface="Rubik" pitchFamily="34" charset="0"/>
                <a:ea typeface="Rubik" pitchFamily="34" charset="-122"/>
                <a:cs typeface="Rubik" pitchFamily="34" charset="-120"/>
              </a:rPr>
              <a:t>#include &lt;stdlib.h&gt;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INSIDE MEMORY</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p is the key; the 5 ints live on the heap</a:t>
            </a:r>
            <a:endParaRPr lang="en-US" sz="3600" dirty="0"/>
          </a:p>
        </p:txBody>
      </p:sp>
      <p:sp>
        <p:nvSpPr>
          <p:cNvPr id="4" name="Shape 2"/>
          <p:cNvSpPr/>
          <p:nvPr/>
        </p:nvSpPr>
        <p:spPr>
          <a:xfrm>
            <a:off x="812800" y="2012863"/>
            <a:ext cx="2159000" cy="1521134"/>
          </a:xfrm>
          <a:prstGeom prst="roundRect">
            <a:avLst>
              <a:gd name="adj" fmla="val 6679"/>
            </a:avLst>
          </a:prstGeom>
          <a:solidFill>
            <a:srgbClr val="E9E5DA"/>
          </a:solidFill>
          <a:ln/>
        </p:spPr>
      </p:sp>
      <p:sp>
        <p:nvSpPr>
          <p:cNvPr id="5" name="Text 3"/>
          <p:cNvSpPr/>
          <p:nvPr/>
        </p:nvSpPr>
        <p:spPr>
          <a:xfrm>
            <a:off x="1016000" y="2216063"/>
            <a:ext cx="1805178" cy="23874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Rubik" pitchFamily="34" charset="0"/>
                <a:ea typeface="Rubik" pitchFamily="34" charset="-122"/>
                <a:cs typeface="Rubik" pitchFamily="34" charset="-120"/>
              </a:rPr>
              <a:t>STACK</a:t>
            </a:r>
            <a:endParaRPr lang="en-US" sz="1200" dirty="0"/>
          </a:p>
        </p:txBody>
      </p:sp>
      <p:sp>
        <p:nvSpPr>
          <p:cNvPr id="6" name="Shape 4"/>
          <p:cNvSpPr/>
          <p:nvPr/>
        </p:nvSpPr>
        <p:spPr>
          <a:xfrm>
            <a:off x="1022350" y="2537355"/>
            <a:ext cx="1739900" cy="787091"/>
          </a:xfrm>
          <a:prstGeom prst="roundRect">
            <a:avLst>
              <a:gd name="adj" fmla="val 8874"/>
            </a:avLst>
          </a:prstGeom>
          <a:solidFill>
            <a:srgbClr val="FFFDF8"/>
          </a:solidFill>
          <a:ln w="12700">
            <a:solidFill>
              <a:srgbClr val="2F6FB3"/>
            </a:solidFill>
            <a:prstDash val="solid"/>
          </a:ln>
        </p:spPr>
      </p:sp>
      <p:sp>
        <p:nvSpPr>
          <p:cNvPr id="7" name="Text 5"/>
          <p:cNvSpPr/>
          <p:nvPr/>
        </p:nvSpPr>
        <p:spPr>
          <a:xfrm>
            <a:off x="1179689" y="2669294"/>
            <a:ext cx="1476022" cy="30987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JetBrains Mono" pitchFamily="49" charset="0"/>
                <a:ea typeface="JetBrains Mono" pitchFamily="49" charset="-122"/>
                <a:cs typeface="JetBrains Mono" pitchFamily="49" charset="-120"/>
              </a:rPr>
              <a:t>int *p</a:t>
            </a:r>
            <a:endParaRPr lang="en-US" sz="1600" dirty="0"/>
          </a:p>
        </p:txBody>
      </p:sp>
      <p:sp>
        <p:nvSpPr>
          <p:cNvPr id="8" name="Text 6"/>
          <p:cNvSpPr/>
          <p:nvPr/>
        </p:nvSpPr>
        <p:spPr>
          <a:xfrm>
            <a:off x="1179689" y="2979164"/>
            <a:ext cx="147602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Rubik" pitchFamily="34" charset="0"/>
                <a:ea typeface="Rubik" pitchFamily="34" charset="-122"/>
                <a:cs typeface="Rubik" pitchFamily="34" charset="-120"/>
              </a:rPr>
              <a:t>holds 1000</a:t>
            </a:r>
            <a:endParaRPr lang="en-US" sz="1200" dirty="0"/>
          </a:p>
        </p:txBody>
      </p:sp>
      <p:pic>
        <p:nvPicPr>
          <p:cNvPr id="9" name="Image 0" descr="arrow-right">    </p:cNvPr>
          <p:cNvPicPr>
            <a:picLocks noChangeAspect="1"/>
          </p:cNvPicPr>
          <p:nvPr/>
        </p:nvPicPr>
        <p:blipFill>
          <a:blip r:embed="rId1"/>
          <a:srcRect l="0" r="0" t="0" b="0"/>
          <a:stretch/>
        </p:blipFill>
        <p:spPr>
          <a:xfrm>
            <a:off x="3175000" y="2621052"/>
            <a:ext cx="609600" cy="304800"/>
          </a:xfrm>
          <a:prstGeom prst="rect">
            <a:avLst/>
          </a:prstGeom>
        </p:spPr>
      </p:pic>
      <p:sp>
        <p:nvSpPr>
          <p:cNvPr id="10" name="Shape 7"/>
          <p:cNvSpPr/>
          <p:nvPr/>
        </p:nvSpPr>
        <p:spPr>
          <a:xfrm>
            <a:off x="3990975" y="1887801"/>
            <a:ext cx="7385050" cy="1771297"/>
          </a:xfrm>
          <a:prstGeom prst="roundRect">
            <a:avLst>
              <a:gd name="adj" fmla="val 5557"/>
            </a:avLst>
          </a:prstGeom>
          <a:noFill/>
          <a:ln w="6350">
            <a:solidFill>
              <a:srgbClr val="C9C3B4"/>
            </a:solidFill>
            <a:prstDash val="solid"/>
          </a:ln>
        </p:spPr>
      </p:sp>
      <p:sp>
        <p:nvSpPr>
          <p:cNvPr id="11" name="Text 8"/>
          <p:cNvSpPr/>
          <p:nvPr/>
        </p:nvSpPr>
        <p:spPr>
          <a:xfrm>
            <a:off x="4196645" y="2093472"/>
            <a:ext cx="7182923" cy="23874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Rubik" pitchFamily="34" charset="0"/>
                <a:ea typeface="Rubik" pitchFamily="34" charset="-122"/>
                <a:cs typeface="Rubik" pitchFamily="34" charset="-120"/>
              </a:rPr>
              <a:t>HEAP · BLOCK FROM MALLOC()</a:t>
            </a:r>
            <a:endParaRPr lang="en-US" sz="1200" dirty="0"/>
          </a:p>
        </p:txBody>
      </p:sp>
      <p:sp>
        <p:nvSpPr>
          <p:cNvPr id="12" name="Text 9"/>
          <p:cNvSpPr/>
          <p:nvPr/>
        </p:nvSpPr>
        <p:spPr>
          <a:xfrm>
            <a:off x="4199820" y="2411589"/>
            <a:ext cx="1327415" cy="492610"/>
          </a:xfrm>
          <a:prstGeom prst="roundRect">
            <a:avLst>
              <a:gd name="adj" fmla="val 9668"/>
            </a:avLst>
          </a:prstGeom>
          <a:solidFill>
            <a:srgbClr val="FFFDF8"/>
          </a:solidFill>
          <a:ln w="6350">
            <a:solidFill>
              <a:srgbClr val="8C96A3"/>
            </a:solidFill>
            <a:prstDash val="solid"/>
          </a:ln>
        </p:spPr>
        <p:txBody>
          <a:bodyPr wrap="square" lIns="64721" tIns="90121" rIns="64721" bIns="64721" rtlCol="0" anchor="t">
            <a:normAutofit/>
          </a:bodyPr>
          <a:lstStyle/>
          <a:p>
            <a:pPr algn="ctr" indent="0" marL="0">
              <a:lnSpc>
                <a:spcPts val="2240"/>
              </a:lnSpc>
              <a:buNone/>
            </a:pPr>
            <a:r>
              <a:rPr lang="en-US" sz="1600" dirty="0">
                <a:solidFill>
                  <a:srgbClr val="6A7280"/>
                </a:solidFill>
                <a:latin typeface="Rubik" pitchFamily="34" charset="0"/>
                <a:ea typeface="Rubik" pitchFamily="34" charset="-122"/>
                <a:cs typeface="Rubik" pitchFamily="34" charset="-120"/>
              </a:rPr>
              <a:t>?</a:t>
            </a:r>
            <a:endParaRPr lang="en-US" sz="1600" dirty="0"/>
          </a:p>
        </p:txBody>
      </p:sp>
      <p:sp>
        <p:nvSpPr>
          <p:cNvPr id="13" name="Text 10"/>
          <p:cNvSpPr/>
          <p:nvPr/>
        </p:nvSpPr>
        <p:spPr>
          <a:xfrm>
            <a:off x="4625772" y="2958173"/>
            <a:ext cx="475509"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p[0]</a:t>
            </a:r>
            <a:endParaRPr lang="en-US" sz="1300" dirty="0"/>
          </a:p>
        </p:txBody>
      </p:sp>
      <p:sp>
        <p:nvSpPr>
          <p:cNvPr id="14" name="Text 11"/>
          <p:cNvSpPr/>
          <p:nvPr/>
        </p:nvSpPr>
        <p:spPr>
          <a:xfrm>
            <a:off x="4650171" y="3240088"/>
            <a:ext cx="426667" cy="23874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Rubik" pitchFamily="34" charset="0"/>
                <a:ea typeface="Rubik" pitchFamily="34" charset="-122"/>
                <a:cs typeface="Rubik" pitchFamily="34" charset="-120"/>
              </a:rPr>
              <a:t>1000</a:t>
            </a:r>
            <a:endParaRPr lang="en-US" sz="1200" dirty="0"/>
          </a:p>
        </p:txBody>
      </p:sp>
      <p:sp>
        <p:nvSpPr>
          <p:cNvPr id="15" name="Text 12"/>
          <p:cNvSpPr/>
          <p:nvPr/>
        </p:nvSpPr>
        <p:spPr>
          <a:xfrm>
            <a:off x="5609784" y="2411589"/>
            <a:ext cx="1327459" cy="492610"/>
          </a:xfrm>
          <a:prstGeom prst="roundRect">
            <a:avLst>
              <a:gd name="adj" fmla="val 9668"/>
            </a:avLst>
          </a:prstGeom>
          <a:solidFill>
            <a:srgbClr val="FFFDF8"/>
          </a:solidFill>
          <a:ln w="6350">
            <a:solidFill>
              <a:srgbClr val="8C96A3"/>
            </a:solidFill>
            <a:prstDash val="solid"/>
          </a:ln>
        </p:spPr>
        <p:txBody>
          <a:bodyPr wrap="square" lIns="64721" tIns="90121" rIns="64721" bIns="64721" rtlCol="0" anchor="t">
            <a:normAutofit/>
          </a:bodyPr>
          <a:lstStyle/>
          <a:p>
            <a:pPr algn="ctr" indent="0" marL="0">
              <a:lnSpc>
                <a:spcPts val="2240"/>
              </a:lnSpc>
              <a:buNone/>
            </a:pPr>
            <a:r>
              <a:rPr lang="en-US" sz="1600" dirty="0">
                <a:solidFill>
                  <a:srgbClr val="6A7280"/>
                </a:solidFill>
                <a:latin typeface="Rubik" pitchFamily="34" charset="0"/>
                <a:ea typeface="Rubik" pitchFamily="34" charset="-122"/>
                <a:cs typeface="Rubik" pitchFamily="34" charset="-120"/>
              </a:rPr>
              <a:t>?</a:t>
            </a:r>
            <a:endParaRPr lang="en-US" sz="1600" dirty="0"/>
          </a:p>
        </p:txBody>
      </p:sp>
      <p:sp>
        <p:nvSpPr>
          <p:cNvPr id="16" name="Text 13"/>
          <p:cNvSpPr/>
          <p:nvPr/>
        </p:nvSpPr>
        <p:spPr>
          <a:xfrm>
            <a:off x="6035737" y="2958173"/>
            <a:ext cx="475509"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p[1]</a:t>
            </a:r>
            <a:endParaRPr lang="en-US" sz="1300" dirty="0"/>
          </a:p>
        </p:txBody>
      </p:sp>
      <p:sp>
        <p:nvSpPr>
          <p:cNvPr id="17" name="Text 14"/>
          <p:cNvSpPr/>
          <p:nvPr/>
        </p:nvSpPr>
        <p:spPr>
          <a:xfrm>
            <a:off x="6061450" y="3240088"/>
            <a:ext cx="424127" cy="23874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Rubik" pitchFamily="34" charset="0"/>
                <a:ea typeface="Rubik" pitchFamily="34" charset="-122"/>
                <a:cs typeface="Rubik" pitchFamily="34" charset="-120"/>
              </a:rPr>
              <a:t>1004</a:t>
            </a:r>
            <a:endParaRPr lang="en-US" sz="1200" dirty="0"/>
          </a:p>
        </p:txBody>
      </p:sp>
      <p:sp>
        <p:nvSpPr>
          <p:cNvPr id="18" name="Text 15"/>
          <p:cNvSpPr/>
          <p:nvPr/>
        </p:nvSpPr>
        <p:spPr>
          <a:xfrm>
            <a:off x="7019792" y="2411589"/>
            <a:ext cx="1327415" cy="492610"/>
          </a:xfrm>
          <a:prstGeom prst="roundRect">
            <a:avLst>
              <a:gd name="adj" fmla="val 9668"/>
            </a:avLst>
          </a:prstGeom>
          <a:solidFill>
            <a:srgbClr val="FFFDF8"/>
          </a:solidFill>
          <a:ln w="6350">
            <a:solidFill>
              <a:srgbClr val="8C96A3"/>
            </a:solidFill>
            <a:prstDash val="solid"/>
          </a:ln>
        </p:spPr>
        <p:txBody>
          <a:bodyPr wrap="square" lIns="64721" tIns="90121" rIns="64721" bIns="64721" rtlCol="0" anchor="t">
            <a:normAutofit/>
          </a:bodyPr>
          <a:lstStyle/>
          <a:p>
            <a:pPr algn="ctr" indent="0" marL="0">
              <a:lnSpc>
                <a:spcPts val="2240"/>
              </a:lnSpc>
              <a:buNone/>
            </a:pPr>
            <a:r>
              <a:rPr lang="en-US" sz="1600" dirty="0">
                <a:solidFill>
                  <a:srgbClr val="6A7280"/>
                </a:solidFill>
                <a:latin typeface="Rubik" pitchFamily="34" charset="0"/>
                <a:ea typeface="Rubik" pitchFamily="34" charset="-122"/>
                <a:cs typeface="Rubik" pitchFamily="34" charset="-120"/>
              </a:rPr>
              <a:t>?</a:t>
            </a:r>
            <a:endParaRPr lang="en-US" sz="1600" dirty="0"/>
          </a:p>
        </p:txBody>
      </p:sp>
      <p:sp>
        <p:nvSpPr>
          <p:cNvPr id="19" name="Text 16"/>
          <p:cNvSpPr/>
          <p:nvPr/>
        </p:nvSpPr>
        <p:spPr>
          <a:xfrm>
            <a:off x="7445745" y="2958173"/>
            <a:ext cx="475509"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p[2]</a:t>
            </a:r>
            <a:endParaRPr lang="en-US" sz="1300" dirty="0"/>
          </a:p>
        </p:txBody>
      </p:sp>
      <p:sp>
        <p:nvSpPr>
          <p:cNvPr id="20" name="Text 17"/>
          <p:cNvSpPr/>
          <p:nvPr/>
        </p:nvSpPr>
        <p:spPr>
          <a:xfrm>
            <a:off x="7470038" y="3240088"/>
            <a:ext cx="426879" cy="23874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Rubik" pitchFamily="34" charset="0"/>
                <a:ea typeface="Rubik" pitchFamily="34" charset="-122"/>
                <a:cs typeface="Rubik" pitchFamily="34" charset="-120"/>
              </a:rPr>
              <a:t>1008</a:t>
            </a:r>
            <a:endParaRPr lang="en-US" sz="1200" dirty="0"/>
          </a:p>
        </p:txBody>
      </p:sp>
      <p:sp>
        <p:nvSpPr>
          <p:cNvPr id="21" name="Text 18"/>
          <p:cNvSpPr/>
          <p:nvPr/>
        </p:nvSpPr>
        <p:spPr>
          <a:xfrm>
            <a:off x="8429758" y="2411589"/>
            <a:ext cx="1327459" cy="492610"/>
          </a:xfrm>
          <a:prstGeom prst="roundRect">
            <a:avLst>
              <a:gd name="adj" fmla="val 9668"/>
            </a:avLst>
          </a:prstGeom>
          <a:solidFill>
            <a:srgbClr val="FFFDF8"/>
          </a:solidFill>
          <a:ln w="6350">
            <a:solidFill>
              <a:srgbClr val="8C96A3"/>
            </a:solidFill>
            <a:prstDash val="solid"/>
          </a:ln>
        </p:spPr>
        <p:txBody>
          <a:bodyPr wrap="square" lIns="64721" tIns="90121" rIns="64721" bIns="64721" rtlCol="0" anchor="t">
            <a:normAutofit/>
          </a:bodyPr>
          <a:lstStyle/>
          <a:p>
            <a:pPr algn="ctr" indent="0" marL="0">
              <a:lnSpc>
                <a:spcPts val="2240"/>
              </a:lnSpc>
              <a:buNone/>
            </a:pPr>
            <a:r>
              <a:rPr lang="en-US" sz="1600" dirty="0">
                <a:solidFill>
                  <a:srgbClr val="6A7280"/>
                </a:solidFill>
                <a:latin typeface="Rubik" pitchFamily="34" charset="0"/>
                <a:ea typeface="Rubik" pitchFamily="34" charset="-122"/>
                <a:cs typeface="Rubik" pitchFamily="34" charset="-120"/>
              </a:rPr>
              <a:t>?</a:t>
            </a:r>
            <a:endParaRPr lang="en-US" sz="1600" dirty="0"/>
          </a:p>
        </p:txBody>
      </p:sp>
      <p:sp>
        <p:nvSpPr>
          <p:cNvPr id="22" name="Text 19"/>
          <p:cNvSpPr/>
          <p:nvPr/>
        </p:nvSpPr>
        <p:spPr>
          <a:xfrm>
            <a:off x="8855710" y="2958173"/>
            <a:ext cx="475509"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p[3]</a:t>
            </a:r>
            <a:endParaRPr lang="en-US" sz="1300" dirty="0"/>
          </a:p>
        </p:txBody>
      </p:sp>
      <p:sp>
        <p:nvSpPr>
          <p:cNvPr id="23" name="Text 20"/>
          <p:cNvSpPr/>
          <p:nvPr/>
        </p:nvSpPr>
        <p:spPr>
          <a:xfrm>
            <a:off x="8903441" y="3240088"/>
            <a:ext cx="380047" cy="23874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Rubik" pitchFamily="34" charset="0"/>
                <a:ea typeface="Rubik" pitchFamily="34" charset="-122"/>
                <a:cs typeface="Rubik" pitchFamily="34" charset="-120"/>
              </a:rPr>
              <a:t>1012</a:t>
            </a:r>
            <a:endParaRPr lang="en-US" sz="1200" dirty="0"/>
          </a:p>
        </p:txBody>
      </p:sp>
      <p:sp>
        <p:nvSpPr>
          <p:cNvPr id="24" name="Text 21"/>
          <p:cNvSpPr/>
          <p:nvPr/>
        </p:nvSpPr>
        <p:spPr>
          <a:xfrm>
            <a:off x="9839766" y="2411589"/>
            <a:ext cx="1327415" cy="492610"/>
          </a:xfrm>
          <a:prstGeom prst="roundRect">
            <a:avLst>
              <a:gd name="adj" fmla="val 9668"/>
            </a:avLst>
          </a:prstGeom>
          <a:solidFill>
            <a:srgbClr val="FFFDF8"/>
          </a:solidFill>
          <a:ln w="6350">
            <a:solidFill>
              <a:srgbClr val="8C96A3"/>
            </a:solidFill>
            <a:prstDash val="solid"/>
          </a:ln>
        </p:spPr>
        <p:txBody>
          <a:bodyPr wrap="square" lIns="64721" tIns="90121" rIns="64721" bIns="64721" rtlCol="0" anchor="t">
            <a:normAutofit/>
          </a:bodyPr>
          <a:lstStyle/>
          <a:p>
            <a:pPr algn="ctr" indent="0" marL="0">
              <a:lnSpc>
                <a:spcPts val="2240"/>
              </a:lnSpc>
              <a:buNone/>
            </a:pPr>
            <a:r>
              <a:rPr lang="en-US" sz="1600" dirty="0">
                <a:solidFill>
                  <a:srgbClr val="6A7280"/>
                </a:solidFill>
                <a:latin typeface="Rubik" pitchFamily="34" charset="0"/>
                <a:ea typeface="Rubik" pitchFamily="34" charset="-122"/>
                <a:cs typeface="Rubik" pitchFamily="34" charset="-120"/>
              </a:rPr>
              <a:t>?</a:t>
            </a:r>
            <a:endParaRPr lang="en-US" sz="1600" dirty="0"/>
          </a:p>
        </p:txBody>
      </p:sp>
      <p:sp>
        <p:nvSpPr>
          <p:cNvPr id="25" name="Text 22"/>
          <p:cNvSpPr/>
          <p:nvPr/>
        </p:nvSpPr>
        <p:spPr>
          <a:xfrm>
            <a:off x="10265719" y="2958173"/>
            <a:ext cx="475509"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p[4]</a:t>
            </a:r>
            <a:endParaRPr lang="en-US" sz="1300" dirty="0"/>
          </a:p>
        </p:txBody>
      </p:sp>
      <p:sp>
        <p:nvSpPr>
          <p:cNvPr id="26" name="Text 23"/>
          <p:cNvSpPr/>
          <p:nvPr/>
        </p:nvSpPr>
        <p:spPr>
          <a:xfrm>
            <a:off x="10311973" y="3240088"/>
            <a:ext cx="382958" cy="23874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Rubik" pitchFamily="34" charset="0"/>
                <a:ea typeface="Rubik" pitchFamily="34" charset="-122"/>
                <a:cs typeface="Rubik" pitchFamily="34" charset="-120"/>
              </a:rPr>
              <a:t>1016</a:t>
            </a:r>
            <a:endParaRPr lang="en-US" sz="1200" dirty="0"/>
          </a:p>
        </p:txBody>
      </p:sp>
      <p:sp>
        <p:nvSpPr>
          <p:cNvPr id="27" name="Text 24"/>
          <p:cNvSpPr/>
          <p:nvPr/>
        </p:nvSpPr>
        <p:spPr>
          <a:xfrm>
            <a:off x="812800" y="3916276"/>
            <a:ext cx="4221515" cy="1313039"/>
          </a:xfrm>
          <a:prstGeom prst="roundRect">
            <a:avLst>
              <a:gd name="adj" fmla="val 7738"/>
            </a:avLst>
          </a:prstGeom>
          <a:solidFill>
            <a:srgbClr val="14213D"/>
          </a:solidFill>
          <a:ln/>
        </p:spPr>
        <p:txBody>
          <a:bodyPr wrap="none" lIns="198842" tIns="148042" rIns="85913" bIns="122642" rtlCol="0" anchor="t">
            <a:normAutofit/>
          </a:bodyPr>
          <a:lstStyle/>
          <a:p>
            <a:pPr algn="l" indent="0" marL="0">
              <a:lnSpc>
                <a:spcPts val="1885"/>
              </a:lnSpc>
              <a:buNone/>
            </a:pPr>
            <a:r>
              <a:rPr lang="en-US" sz="1300" dirty="0">
                <a:solidFill>
                  <a:srgbClr val="E6EBF2"/>
                </a:solidFill>
                <a:latin typeface="JetBrains Mono" pitchFamily="49" charset="0"/>
                <a:ea typeface="JetBrains Mono" pitchFamily="49" charset="-122"/>
                <a:cs typeface="JetBrains Mono" pitchFamily="49" charset="-120"/>
              </a:rPr>
              <a:t>if (p == </a:t>
            </a:r>
            <a:r>
              <a:rPr lang="en-US" sz="1300" dirty="0">
                <a:solidFill>
                  <a:srgbClr val="F5A66B"/>
                </a:solidFill>
                <a:latin typeface="JetBrains Mono" pitchFamily="49" charset="0"/>
                <a:ea typeface="JetBrains Mono" pitchFamily="49" charset="-122"/>
                <a:cs typeface="JetBrains Mono" pitchFamily="49" charset="-120"/>
              </a:rPr>
              <a:t>NULL</a:t>
            </a:r>
            <a:r>
              <a:rPr lang="en-US" sz="1300" dirty="0">
                <a:solidFill>
                  <a:srgbClr val="E6EBF2"/>
                </a:solidFill>
                <a:latin typeface="JetBrains Mono" pitchFamily="49" charset="0"/>
                <a:ea typeface="JetBrains Mono" pitchFamily="49" charset="-122"/>
                <a:cs typeface="JetBrains Mono" pitchFamily="49" charset="-120"/>
              </a:rPr>
              <a:t>) {</a:t>
            </a:r>
            <a:endParaRPr lang="en-US" sz="1300" dirty="0"/>
          </a:p>
          <a:p>
            <a:pPr algn="l" indent="0" marL="0">
              <a:lnSpc>
                <a:spcPts val="1885"/>
              </a:lnSpc>
              <a:buNone/>
            </a:pPr>
            <a:r>
              <a:rPr lang="en-US" sz="1300" dirty="0">
                <a:solidFill>
                  <a:srgbClr val="E6EBF2"/>
                </a:solidFill>
                <a:latin typeface="JetBrains Mono" pitchFamily="49" charset="0"/>
                <a:ea typeface="JetBrains Mono" pitchFamily="49" charset="-122"/>
                <a:cs typeface="JetBrains Mono" pitchFamily="49" charset="-120"/>
              </a:rPr>
              <a:t>    printf("Memory not allocated!\n");</a:t>
            </a:r>
            <a:endParaRPr lang="en-US" sz="1300" dirty="0"/>
          </a:p>
          <a:p>
            <a:pPr algn="l" indent="0" marL="0">
              <a:lnSpc>
                <a:spcPts val="1885"/>
              </a:lnSpc>
              <a:buNone/>
            </a:pPr>
            <a:r>
              <a:rPr lang="en-US" sz="1300" dirty="0">
                <a:solidFill>
                  <a:srgbClr val="E6EBF2"/>
                </a:solidFill>
                <a:latin typeface="JetBrains Mono" pitchFamily="49" charset="0"/>
                <a:ea typeface="JetBrains Mono" pitchFamily="49" charset="-122"/>
                <a:cs typeface="JetBrains Mono" pitchFamily="49" charset="-120"/>
              </a:rPr>
              <a:t>    return 1;</a:t>
            </a:r>
            <a:endParaRPr lang="en-US" sz="1300" dirty="0"/>
          </a:p>
          <a:p>
            <a:pPr algn="l" indent="0" marL="0">
              <a:lnSpc>
                <a:spcPts val="1885"/>
              </a:lnSpc>
              <a:buNone/>
            </a:pPr>
            <a:r>
              <a:rPr lang="en-US" sz="1300" dirty="0">
                <a:solidFill>
                  <a:srgbClr val="E6EBF2"/>
                </a:solidFill>
                <a:latin typeface="JetBrains Mono" pitchFamily="49" charset="0"/>
                <a:ea typeface="JetBrains Mono" pitchFamily="49" charset="-122"/>
                <a:cs typeface="JetBrains Mono" pitchFamily="49" charset="-120"/>
              </a:rPr>
              <a:t>}</a:t>
            </a:r>
            <a:endParaRPr lang="en-US" sz="1300" dirty="0"/>
          </a:p>
        </p:txBody>
      </p:sp>
      <p:sp>
        <p:nvSpPr>
          <p:cNvPr id="28" name="Text 25"/>
          <p:cNvSpPr/>
          <p:nvPr/>
        </p:nvSpPr>
        <p:spPr>
          <a:xfrm>
            <a:off x="5288315" y="4288324"/>
            <a:ext cx="6273611" cy="59434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Rubik" pitchFamily="34" charset="0"/>
                <a:ea typeface="Rubik" pitchFamily="34" charset="-122"/>
                <a:cs typeface="Rubik" pitchFamily="34" charset="-120"/>
              </a:rPr>
              <a:t>Always check for NULL.</a:t>
            </a:r>
            <a:r>
              <a:rPr lang="en-US" sz="1600" dirty="0">
                <a:solidFill>
                  <a:srgbClr val="14213D"/>
                </a:solidFill>
                <a:latin typeface="Rubik" pitchFamily="34" charset="0"/>
                <a:ea typeface="Rubik" pitchFamily="34" charset="-122"/>
                <a:cs typeface="Rubik" pitchFamily="34" charset="-120"/>
              </a:rPr>
              <a:t> If no memory is left, malloc() returns NULL. Using it crashes the program.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CALLOC() · CONTIGUOUS ALLOCATION</a:t>
            </a:r>
            <a:endParaRPr lang="en-US" sz="1200" dirty="0"/>
          </a:p>
        </p:txBody>
      </p:sp>
      <p:sp>
        <p:nvSpPr>
          <p:cNvPr id="3" name="Text 1"/>
          <p:cNvSpPr/>
          <p:nvPr>
            <p:ph type="title"/>
          </p:nvPr>
        </p:nvSpPr>
        <p:spPr>
          <a:xfrm>
            <a:off x="812800" y="11277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calloc(): memory that starts at zero</a:t>
            </a:r>
            <a:endParaRPr lang="en-US" sz="3600" dirty="0"/>
          </a:p>
        </p:txBody>
      </p:sp>
      <p:sp>
        <p:nvSpPr>
          <p:cNvPr id="4" name="Text 2"/>
          <p:cNvSpPr/>
          <p:nvPr/>
        </p:nvSpPr>
        <p:spPr>
          <a:xfrm>
            <a:off x="812800" y="1935426"/>
            <a:ext cx="5207000" cy="2374900"/>
          </a:xfrm>
          <a:prstGeom prst="roundRect">
            <a:avLst>
              <a:gd name="adj" fmla="val 4278"/>
            </a:avLst>
          </a:prstGeom>
          <a:solidFill>
            <a:srgbClr val="14213D"/>
          </a:solidFill>
          <a:ln/>
        </p:spPr>
        <p:txBody>
          <a:bodyPr wrap="none" lIns="224242" tIns="224242" rIns="83272" bIns="198842" rtlCol="0" anchor="t">
            <a:normAutofit/>
          </a:bodyPr>
          <a:lstStyle/>
          <a:p>
            <a:pPr algn="l" indent="0" marL="0">
              <a:lnSpc>
                <a:spcPts val="2100"/>
              </a:lnSpc>
              <a:buNone/>
            </a:pPr>
            <a:r>
              <a:rPr lang="en-US" sz="1400" dirty="0">
                <a:solidFill>
                  <a:srgbClr val="8FA3BF"/>
                </a:solidFill>
                <a:latin typeface="JetBrains Mono" pitchFamily="49" charset="0"/>
                <a:ea typeface="JetBrains Mono" pitchFamily="49" charset="-122"/>
                <a:cs typeface="JetBrains Mono" pitchFamily="49" charset="-120"/>
              </a:rPr>
              <a:t>// Syntax</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pointer = (type *) </a:t>
            </a:r>
            <a:r>
              <a:rPr lang="en-US" sz="1400" dirty="0">
                <a:solidFill>
                  <a:srgbClr val="F5A66B"/>
                </a:solidFill>
                <a:latin typeface="JetBrains Mono" pitchFamily="49" charset="0"/>
                <a:ea typeface="JetBrains Mono" pitchFamily="49" charset="-122"/>
                <a:cs typeface="JetBrains Mono" pitchFamily="49" charset="-120"/>
              </a:rPr>
              <a:t>calloc</a:t>
            </a:r>
            <a:r>
              <a:rPr lang="en-US" sz="1400" dirty="0">
                <a:solidFill>
                  <a:srgbClr val="E6EBF2"/>
                </a:solidFill>
                <a:latin typeface="JetBrains Mono" pitchFamily="49" charset="0"/>
                <a:ea typeface="JetBrains Mono" pitchFamily="49" charset="-122"/>
                <a:cs typeface="JetBrains Mono" pitchFamily="49" charset="-120"/>
              </a:rPr>
              <a:t>(items, size);</a:t>
            </a:r>
            <a:endParaRPr lang="en-US" sz="1400" dirty="0"/>
          </a:p>
          <a:p>
            <a:pPr algn="l" indent="0" marL="0">
              <a:lnSpc>
                <a:spcPts val="2100"/>
              </a:lnSpc>
              <a:buNone/>
            </a:pPr>
            <a:endParaRPr lang="en-US" sz="1400" dirty="0"/>
          </a:p>
          <a:p>
            <a:pPr algn="l" indent="0" marL="0">
              <a:lnSpc>
                <a:spcPts val="2100"/>
              </a:lnSpc>
              <a:buNone/>
            </a:pPr>
            <a:r>
              <a:rPr lang="en-US" sz="1400" dirty="0">
                <a:solidFill>
                  <a:srgbClr val="8FA3BF"/>
                </a:solidFill>
                <a:latin typeface="JetBrains Mono" pitchFamily="49" charset="0"/>
                <a:ea typeface="JetBrains Mono" pitchFamily="49" charset="-122"/>
                <a:cs typeface="JetBrains Mono" pitchFamily="49" charset="-120"/>
              </a:rPr>
              <a:t>// Example: 5 integers, all 0</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int *p;</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p = (int *) </a:t>
            </a:r>
            <a:r>
              <a:rPr lang="en-US" sz="1400" dirty="0">
                <a:solidFill>
                  <a:srgbClr val="F5A66B"/>
                </a:solidFill>
                <a:latin typeface="JetBrains Mono" pitchFamily="49" charset="0"/>
                <a:ea typeface="JetBrains Mono" pitchFamily="49" charset="-122"/>
                <a:cs typeface="JetBrains Mono" pitchFamily="49" charset="-120"/>
              </a:rPr>
              <a:t>calloc</a:t>
            </a:r>
            <a:r>
              <a:rPr lang="en-US" sz="1400" dirty="0">
                <a:solidFill>
                  <a:srgbClr val="E6EBF2"/>
                </a:solidFill>
                <a:latin typeface="JetBrains Mono" pitchFamily="49" charset="0"/>
                <a:ea typeface="JetBrains Mono" pitchFamily="49" charset="-122"/>
                <a:cs typeface="JetBrains Mono" pitchFamily="49" charset="-120"/>
              </a:rPr>
              <a:t>(5, sizeof(int));</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printf("%d", p[2]); </a:t>
            </a:r>
            <a:r>
              <a:rPr lang="en-US" sz="1400" dirty="0">
                <a:solidFill>
                  <a:srgbClr val="8FA3BF"/>
                </a:solidFill>
                <a:latin typeface="JetBrains Mono" pitchFamily="49" charset="0"/>
                <a:ea typeface="JetBrains Mono" pitchFamily="49" charset="-122"/>
                <a:cs typeface="JetBrains Mono" pitchFamily="49" charset="-120"/>
              </a:rPr>
              <a:t>// prints 0</a:t>
            </a:r>
            <a:endParaRPr lang="en-US" sz="1400" dirty="0"/>
          </a:p>
        </p:txBody>
      </p:sp>
      <p:sp>
        <p:nvSpPr>
          <p:cNvPr id="5" name="Shape 3"/>
          <p:cNvSpPr/>
          <p:nvPr/>
        </p:nvSpPr>
        <p:spPr>
          <a:xfrm>
            <a:off x="6327775" y="1938601"/>
            <a:ext cx="5048250" cy="985308"/>
          </a:xfrm>
          <a:prstGeom prst="roundRect">
            <a:avLst>
              <a:gd name="adj" fmla="val 9989"/>
            </a:avLst>
          </a:prstGeom>
          <a:solidFill>
            <a:srgbClr val="FFFDF8"/>
          </a:solidFill>
          <a:ln w="6350">
            <a:solidFill>
              <a:srgbClr val="E2DED3"/>
            </a:solidFill>
            <a:prstDash val="solid"/>
          </a:ln>
        </p:spPr>
      </p:sp>
      <p:sp>
        <p:nvSpPr>
          <p:cNvPr id="6" name="Text 4"/>
          <p:cNvSpPr/>
          <p:nvPr/>
        </p:nvSpPr>
        <p:spPr>
          <a:xfrm>
            <a:off x="6533445" y="2144272"/>
            <a:ext cx="477601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Two arguments</a:t>
            </a:r>
            <a:endParaRPr lang="en-US" sz="1800" dirty="0"/>
          </a:p>
        </p:txBody>
      </p:sp>
      <p:sp>
        <p:nvSpPr>
          <p:cNvPr id="7" name="Text 5"/>
          <p:cNvSpPr/>
          <p:nvPr/>
        </p:nvSpPr>
        <p:spPr>
          <a:xfrm>
            <a:off x="6533445" y="2469356"/>
            <a:ext cx="4776018"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How many items, and the size of one item</a:t>
            </a:r>
            <a:endParaRPr lang="en-US" sz="1400" dirty="0"/>
          </a:p>
        </p:txBody>
      </p:sp>
      <p:sp>
        <p:nvSpPr>
          <p:cNvPr id="8" name="Shape 6"/>
          <p:cNvSpPr/>
          <p:nvPr/>
        </p:nvSpPr>
        <p:spPr>
          <a:xfrm>
            <a:off x="6327775" y="3082661"/>
            <a:ext cx="5048250" cy="985308"/>
          </a:xfrm>
          <a:prstGeom prst="roundRect">
            <a:avLst>
              <a:gd name="adj" fmla="val 9989"/>
            </a:avLst>
          </a:prstGeom>
          <a:solidFill>
            <a:srgbClr val="FFFDF8"/>
          </a:solidFill>
          <a:ln w="6350">
            <a:solidFill>
              <a:srgbClr val="E2DED3"/>
            </a:solidFill>
            <a:prstDash val="solid"/>
          </a:ln>
        </p:spPr>
      </p:sp>
      <p:sp>
        <p:nvSpPr>
          <p:cNvPr id="9" name="Text 7"/>
          <p:cNvSpPr/>
          <p:nvPr/>
        </p:nvSpPr>
        <p:spPr>
          <a:xfrm>
            <a:off x="6533445" y="3288330"/>
            <a:ext cx="477601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Every byte set to 0</a:t>
            </a:r>
            <a:endParaRPr lang="en-US" sz="1800" dirty="0"/>
          </a:p>
        </p:txBody>
      </p:sp>
      <p:sp>
        <p:nvSpPr>
          <p:cNvPr id="10" name="Text 8"/>
          <p:cNvSpPr/>
          <p:nvPr/>
        </p:nvSpPr>
        <p:spPr>
          <a:xfrm>
            <a:off x="6533445" y="3613414"/>
            <a:ext cx="4776018"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Handy for counters, totals and flags</a:t>
            </a:r>
            <a:endParaRPr lang="en-US" sz="1400" dirty="0"/>
          </a:p>
        </p:txBody>
      </p:sp>
      <p:sp>
        <p:nvSpPr>
          <p:cNvPr id="11" name="Text 9"/>
          <p:cNvSpPr/>
          <p:nvPr/>
        </p:nvSpPr>
        <p:spPr>
          <a:xfrm>
            <a:off x="6324600" y="4223544"/>
            <a:ext cx="5054600" cy="520700"/>
          </a:xfrm>
          <a:prstGeom prst="roundRect">
            <a:avLst>
              <a:gd name="adj" fmla="val 14634"/>
            </a:avLst>
          </a:prstGeom>
          <a:solidFill>
            <a:srgbClr val="F3E3D6"/>
          </a:solidFill>
          <a:ln/>
        </p:spPr>
        <p:txBody>
          <a:bodyPr wrap="square" lIns="130082" tIns="104682" rIns="0" bIns="79282"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calloc()</a:t>
            </a:r>
            <a:r>
              <a:rPr lang="en-US" sz="1500" dirty="0">
                <a:solidFill>
                  <a:srgbClr val="14213D"/>
                </a:solidFill>
                <a:latin typeface="Rubik" pitchFamily="34" charset="0"/>
                <a:ea typeface="Rubik" pitchFamily="34" charset="-122"/>
                <a:cs typeface="Rubik" pitchFamily="34" charset="-120"/>
              </a:rPr>
              <a:t> = malloc() + clean the room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SIDE BY SIDE</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malloc() vs calloc()</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946718"/>
          <a:ext cx="10555111" cy="2627577"/>
        </p:xfrm>
        <a:graphic>
          <a:graphicData uri="http://schemas.openxmlformats.org/drawingml/2006/table">
            <a:tbl>
              <a:tblPr/>
              <a:tblGrid>
                <a:gridCol w="2955431"/>
                <a:gridCol w="3799840"/>
                <a:gridCol w="3799840"/>
              </a:tblGrid>
              <a:tr h="437930">
                <a:tc>
                  <a:txBody>
                    <a:bodyPr/>
                    <a:lstStyle/>
                    <a:p>
                      <a:pPr indent="0" marL="0">
                        <a:lnSpc>
                          <a:spcPts val="2240"/>
                        </a:lnSpc>
                        <a:buNone/>
                      </a:pP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7F5EF"/>
                          </a:solidFill>
                          <a:latin typeface="Rubik" pitchFamily="34" charset="0"/>
                          <a:ea typeface="Rubik" pitchFamily="34" charset="-122"/>
                          <a:cs typeface="Rubik" pitchFamily="34" charset="-120"/>
                        </a:rPr>
                        <a:t>malloc()</a:t>
                      </a:r>
                      <a:endParaRPr lang="en-US" sz="1600" dirty="0">
                        <a:latin typeface="Rubik" charset="0"/>
                        <a:ea typeface="Rubik" charset="0"/>
                        <a:cs typeface="Rubik"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7F5EF"/>
                          </a:solidFill>
                          <a:latin typeface="Rubik" pitchFamily="34" charset="0"/>
                          <a:ea typeface="Rubik" pitchFamily="34" charset="-122"/>
                          <a:cs typeface="Rubik" pitchFamily="34" charset="-120"/>
                        </a:rPr>
                        <a:t>calloc()</a:t>
                      </a:r>
                      <a:endParaRPr lang="en-US" sz="1600" dirty="0">
                        <a:latin typeface="Rubik" charset="0"/>
                        <a:ea typeface="Rubik" charset="0"/>
                        <a:cs typeface="Rubik"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Arguments</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1: total bytes</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2: items, size of one</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For 5 ints</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malloc(5 * sizeof(int))</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calloc(5, sizeof(int))</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Starting values</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Garbage (random)</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All zero</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Speed</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Slightly faster</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Slightly slower (clears memory)</a:t>
                      </a:r>
                      <a:endParaRPr lang="en-US" sz="1600" dirty="0">
                        <a:latin typeface="Rubik" charset="0"/>
                        <a:ea typeface="Rubik" charset="0"/>
                        <a:cs typeface="Rubik" charset="0"/>
                      </a:endParaRPr>
                    </a:p>
                  </a:txBody>
                  <a:tcPr marL="71120" marR="71120" marT="71120" marB="71120"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437930">
                <a:tc>
                  <a:txBody>
                    <a:bodyPr/>
                    <a:lstStyle/>
                    <a:p>
                      <a:pPr indent="0" marL="0">
                        <a:lnSpc>
                          <a:spcPts val="2240"/>
                        </a:lnSpc>
                        <a:buNone/>
                      </a:pPr>
                      <a:r>
                        <a:rPr lang="en-US" sz="1600" dirty="0">
                          <a:solidFill>
                            <a:srgbClr val="14213D"/>
                          </a:solidFill>
                          <a:latin typeface="Rubik" pitchFamily="34" charset="0"/>
                          <a:ea typeface="Rubik" pitchFamily="34" charset="-122"/>
                          <a:cs typeface="Rubik" pitchFamily="34" charset="-120"/>
                        </a:rPr>
                        <a:t>No memory left</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Returns NULL</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Returns NULL</a:t>
                      </a:r>
                      <a:endParaRPr lang="en-US" sz="1600" dirty="0">
                        <a:latin typeface="Rubik" charset="0"/>
                        <a:ea typeface="Rubik" charset="0"/>
                        <a:cs typeface="Rubik"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879094"/>
            <a:ext cx="10883392"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Rubik" pitchFamily="34" charset="0"/>
                <a:ea typeface="Rubik" pitchFamily="34" charset="-122"/>
                <a:cs typeface="Rubik" pitchFamily="34" charset="-120"/>
              </a:rPr>
              <a:t>Use </a:t>
            </a:r>
            <a:r>
              <a:rPr lang="en-US" sz="1600" b="1" dirty="0">
                <a:solidFill>
                  <a:srgbClr val="14213D"/>
                </a:solidFill>
                <a:latin typeface="Rubik" pitchFamily="34" charset="0"/>
                <a:ea typeface="Rubik" pitchFamily="34" charset="-122"/>
                <a:cs typeface="Rubik" pitchFamily="34" charset="-120"/>
              </a:rPr>
              <a:t>malloc()</a:t>
            </a:r>
            <a:r>
              <a:rPr lang="en-US" sz="1600" dirty="0">
                <a:solidFill>
                  <a:srgbClr val="14213D"/>
                </a:solidFill>
                <a:latin typeface="Rubik" pitchFamily="34" charset="0"/>
                <a:ea typeface="Rubik" pitchFamily="34" charset="-122"/>
                <a:cs typeface="Rubik" pitchFamily="34" charset="-120"/>
              </a:rPr>
              <a:t> when you fill every value yourself. Use </a:t>
            </a:r>
            <a:r>
              <a:rPr lang="en-US" sz="1600" b="1" dirty="0">
                <a:solidFill>
                  <a:srgbClr val="14213D"/>
                </a:solidFill>
                <a:latin typeface="Rubik" pitchFamily="34" charset="0"/>
                <a:ea typeface="Rubik" pitchFamily="34" charset="-122"/>
                <a:cs typeface="Rubik" pitchFamily="34" charset="-120"/>
              </a:rPr>
              <a:t>calloc()</a:t>
            </a:r>
            <a:r>
              <a:rPr lang="en-US" sz="1600" dirty="0">
                <a:solidFill>
                  <a:srgbClr val="14213D"/>
                </a:solidFill>
                <a:latin typeface="Rubik" pitchFamily="34" charset="0"/>
                <a:ea typeface="Rubik" pitchFamily="34" charset="-122"/>
                <a:cs typeface="Rubik" pitchFamily="34" charset="-120"/>
              </a:rPr>
              <a:t> when values must start at 0.</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FREE() · GIVING MEMORY BACK</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free(): check out of the room</a:t>
            </a:r>
            <a:endParaRPr lang="en-US" sz="3600" dirty="0"/>
          </a:p>
        </p:txBody>
      </p:sp>
      <p:sp>
        <p:nvSpPr>
          <p:cNvPr id="4" name="Text 2"/>
          <p:cNvSpPr/>
          <p:nvPr/>
        </p:nvSpPr>
        <p:spPr>
          <a:xfrm>
            <a:off x="812800" y="1935429"/>
            <a:ext cx="4953000" cy="1574800"/>
          </a:xfrm>
          <a:prstGeom prst="roundRect">
            <a:avLst>
              <a:gd name="adj" fmla="val 6452"/>
            </a:avLst>
          </a:prstGeom>
          <a:solidFill>
            <a:srgbClr val="14213D"/>
          </a:solidFill>
          <a:ln/>
        </p:spPr>
        <p:txBody>
          <a:bodyPr wrap="none" lIns="224242" tIns="224242" rIns="90892" bIns="198842" rtlCol="0" anchor="t">
            <a:normAutofit/>
          </a:bodyPr>
          <a:lstStyle/>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int *p = malloc(5 * sizeof(int));</a:t>
            </a:r>
            <a:endParaRPr lang="en-US" sz="1400" dirty="0"/>
          </a:p>
          <a:p>
            <a:pPr algn="l" indent="0" marL="0">
              <a:lnSpc>
                <a:spcPts val="2100"/>
              </a:lnSpc>
              <a:buNone/>
            </a:pPr>
            <a:r>
              <a:rPr lang="en-US" sz="1400" dirty="0">
                <a:solidFill>
                  <a:srgbClr val="8FA3BF"/>
                </a:solidFill>
                <a:latin typeface="JetBrains Mono" pitchFamily="49" charset="0"/>
                <a:ea typeface="JetBrains Mono" pitchFamily="49" charset="-122"/>
                <a:cs typeface="JetBrains Mono" pitchFamily="49" charset="-120"/>
              </a:rPr>
              <a:t>/* ... use p ... */</a:t>
            </a:r>
            <a:endParaRPr lang="en-US" sz="1400" dirty="0"/>
          </a:p>
          <a:p>
            <a:pPr algn="l" indent="0" marL="0">
              <a:lnSpc>
                <a:spcPts val="2100"/>
              </a:lnSpc>
              <a:buNone/>
            </a:pPr>
            <a:r>
              <a:rPr lang="en-US" sz="1400" dirty="0">
                <a:solidFill>
                  <a:srgbClr val="F5A66B"/>
                </a:solidFill>
                <a:latin typeface="JetBrains Mono" pitchFamily="49" charset="0"/>
                <a:ea typeface="JetBrains Mono" pitchFamily="49" charset="-122"/>
                <a:cs typeface="JetBrains Mono" pitchFamily="49" charset="-120"/>
              </a:rPr>
              <a:t>free</a:t>
            </a:r>
            <a:r>
              <a:rPr lang="en-US" sz="1400" dirty="0">
                <a:solidFill>
                  <a:srgbClr val="E6EBF2"/>
                </a:solidFill>
                <a:latin typeface="JetBrains Mono" pitchFamily="49" charset="0"/>
                <a:ea typeface="JetBrains Mono" pitchFamily="49" charset="-122"/>
                <a:cs typeface="JetBrains Mono" pitchFamily="49" charset="-120"/>
              </a:rPr>
              <a:t>(p); </a:t>
            </a:r>
            <a:r>
              <a:rPr lang="en-US" sz="1400" dirty="0">
                <a:solidFill>
                  <a:srgbClr val="8FA3BF"/>
                </a:solidFill>
                <a:latin typeface="JetBrains Mono" pitchFamily="49" charset="0"/>
                <a:ea typeface="JetBrains Mono" pitchFamily="49" charset="-122"/>
                <a:cs typeface="JetBrains Mono" pitchFamily="49" charset="-120"/>
              </a:rPr>
              <a:t>// give memory back</a:t>
            </a:r>
            <a:endParaRPr lang="en-US" sz="1400" dirty="0"/>
          </a:p>
          <a:p>
            <a:pPr algn="l" indent="0" marL="0">
              <a:lnSpc>
                <a:spcPts val="2100"/>
              </a:lnSpc>
              <a:buNone/>
            </a:pPr>
            <a:r>
              <a:rPr lang="en-US" sz="1400" dirty="0">
                <a:solidFill>
                  <a:srgbClr val="E6EBF2"/>
                </a:solidFill>
                <a:latin typeface="JetBrains Mono" pitchFamily="49" charset="0"/>
                <a:ea typeface="JetBrains Mono" pitchFamily="49" charset="-122"/>
                <a:cs typeface="JetBrains Mono" pitchFamily="49" charset="-120"/>
              </a:rPr>
              <a:t>p = NULL; </a:t>
            </a:r>
            <a:r>
              <a:rPr lang="en-US" sz="1400" dirty="0">
                <a:solidFill>
                  <a:srgbClr val="8FA3BF"/>
                </a:solidFill>
                <a:latin typeface="JetBrains Mono" pitchFamily="49" charset="0"/>
                <a:ea typeface="JetBrains Mono" pitchFamily="49" charset="-122"/>
                <a:cs typeface="JetBrains Mono" pitchFamily="49" charset="-120"/>
              </a:rPr>
              <a:t>// key opens nothing</a:t>
            </a:r>
            <a:endParaRPr lang="en-US" sz="1400" dirty="0"/>
          </a:p>
        </p:txBody>
      </p:sp>
      <p:sp>
        <p:nvSpPr>
          <p:cNvPr id="5" name="Shape 3"/>
          <p:cNvSpPr/>
          <p:nvPr/>
        </p:nvSpPr>
        <p:spPr>
          <a:xfrm>
            <a:off x="6073775" y="1938604"/>
            <a:ext cx="5302250" cy="1234193"/>
          </a:xfrm>
          <a:prstGeom prst="roundRect">
            <a:avLst>
              <a:gd name="adj" fmla="val 7975"/>
            </a:avLst>
          </a:prstGeom>
          <a:solidFill>
            <a:srgbClr val="FFFDF8"/>
          </a:solidFill>
          <a:ln w="6350">
            <a:solidFill>
              <a:srgbClr val="E2DED3"/>
            </a:solidFill>
            <a:prstDash val="solid"/>
          </a:ln>
        </p:spPr>
      </p:sp>
      <p:sp>
        <p:nvSpPr>
          <p:cNvPr id="6" name="Text 4"/>
          <p:cNvSpPr/>
          <p:nvPr/>
        </p:nvSpPr>
        <p:spPr>
          <a:xfrm>
            <a:off x="6279445" y="2144272"/>
            <a:ext cx="503763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01F"/>
                </a:solidFill>
                <a:latin typeface="Rubik" pitchFamily="34" charset="0"/>
                <a:ea typeface="Rubik" pitchFamily="34" charset="-122"/>
                <a:cs typeface="Rubik" pitchFamily="34" charset="-120"/>
              </a:rPr>
              <a:t>Memory leak</a:t>
            </a:r>
            <a:endParaRPr lang="en-US" sz="1800" dirty="0"/>
          </a:p>
        </p:txBody>
      </p:sp>
      <p:sp>
        <p:nvSpPr>
          <p:cNvPr id="7" name="Text 5"/>
          <p:cNvSpPr/>
          <p:nvPr/>
        </p:nvSpPr>
        <p:spPr>
          <a:xfrm>
            <a:off x="6279445" y="2469356"/>
            <a:ext cx="5037638"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Forget free(), or lose the address: memory stays booked but unused</a:t>
            </a:r>
            <a:endParaRPr lang="en-US" sz="1400" dirty="0"/>
          </a:p>
        </p:txBody>
      </p:sp>
      <p:sp>
        <p:nvSpPr>
          <p:cNvPr id="8" name="Shape 6"/>
          <p:cNvSpPr/>
          <p:nvPr/>
        </p:nvSpPr>
        <p:spPr>
          <a:xfrm>
            <a:off x="6073775" y="3331549"/>
            <a:ext cx="5302250" cy="1234193"/>
          </a:xfrm>
          <a:prstGeom prst="roundRect">
            <a:avLst>
              <a:gd name="adj" fmla="val 7975"/>
            </a:avLst>
          </a:prstGeom>
          <a:solidFill>
            <a:srgbClr val="FFFDF8"/>
          </a:solidFill>
          <a:ln w="6350">
            <a:solidFill>
              <a:srgbClr val="E2DED3"/>
            </a:solidFill>
            <a:prstDash val="solid"/>
          </a:ln>
        </p:spPr>
      </p:sp>
      <p:sp>
        <p:nvSpPr>
          <p:cNvPr id="9" name="Text 7"/>
          <p:cNvSpPr/>
          <p:nvPr/>
        </p:nvSpPr>
        <p:spPr>
          <a:xfrm>
            <a:off x="6279445" y="3537217"/>
            <a:ext cx="503763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501F"/>
                </a:solidFill>
                <a:latin typeface="Rubik" pitchFamily="34" charset="0"/>
                <a:ea typeface="Rubik" pitchFamily="34" charset="-122"/>
                <a:cs typeface="Rubik" pitchFamily="34" charset="-120"/>
              </a:rPr>
              <a:t>Dangling pointer</a:t>
            </a:r>
            <a:endParaRPr lang="en-US" sz="1800" dirty="0"/>
          </a:p>
        </p:txBody>
      </p:sp>
      <p:sp>
        <p:nvSpPr>
          <p:cNvPr id="10" name="Text 8"/>
          <p:cNvSpPr/>
          <p:nvPr/>
        </p:nvSpPr>
        <p:spPr>
          <a:xfrm>
            <a:off x="6279445" y="3862301"/>
            <a:ext cx="5037638"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Rubik" pitchFamily="34" charset="0"/>
                <a:ea typeface="Rubik" pitchFamily="34" charset="-122"/>
                <a:cs typeface="Rubik" pitchFamily="34" charset="-120"/>
              </a:rPr>
              <a:t>Using p after free(p) is like entering the room after checking out</a:t>
            </a:r>
            <a:endParaRPr lang="en-US" sz="1400" dirty="0"/>
          </a:p>
        </p:txBody>
      </p:sp>
      <p:sp>
        <p:nvSpPr>
          <p:cNvPr id="11" name="Text 9"/>
          <p:cNvSpPr/>
          <p:nvPr/>
        </p:nvSpPr>
        <p:spPr>
          <a:xfrm>
            <a:off x="812800" y="4873712"/>
            <a:ext cx="10566400" cy="589271"/>
          </a:xfrm>
          <a:prstGeom prst="roundRect">
            <a:avLst>
              <a:gd name="adj" fmla="val 12931"/>
            </a:avLst>
          </a:prstGeom>
          <a:solidFill>
            <a:srgbClr val="14213D"/>
          </a:solidFill>
          <a:ln/>
        </p:spPr>
        <p:txBody>
          <a:bodyPr wrap="square" lIns="180882" tIns="130082" rIns="0" bIns="104682" rtlCol="0" anchor="t">
            <a:normAutofit/>
          </a:bodyPr>
          <a:lstStyle/>
          <a:p>
            <a:pPr algn="l" indent="0" marL="0">
              <a:lnSpc>
                <a:spcPts val="2240"/>
              </a:lnSpc>
              <a:buNone/>
            </a:pPr>
            <a:r>
              <a:rPr lang="en-US" sz="1600" b="1" dirty="0">
                <a:solidFill>
                  <a:srgbClr val="F08A4B"/>
                </a:solidFill>
                <a:latin typeface="Rubik" pitchFamily="34" charset="0"/>
                <a:ea typeface="Rubik" pitchFamily="34" charset="-122"/>
                <a:cs typeface="Rubik" pitchFamily="34" charset="-120"/>
              </a:rPr>
              <a:t>Golden rule:</a:t>
            </a:r>
            <a:r>
              <a:rPr lang="en-US" sz="1600" dirty="0">
                <a:solidFill>
                  <a:srgbClr val="F7F5EF"/>
                </a:solidFill>
                <a:latin typeface="Rubik" pitchFamily="34" charset="0"/>
                <a:ea typeface="Rubik" pitchFamily="34" charset="-122"/>
                <a:cs typeface="Rubik" pitchFamily="34" charset="-120"/>
              </a:rPr>
              <a:t> every malloc() or calloc() needs exactly one free().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PUTTING IT TOGETHER · AVERAGE MARKS</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Every program follows four steps</a:t>
            </a:r>
            <a:endParaRPr lang="en-US" sz="3600" dirty="0"/>
          </a:p>
        </p:txBody>
      </p:sp>
      <p:sp>
        <p:nvSpPr>
          <p:cNvPr id="4" name="Text 2"/>
          <p:cNvSpPr/>
          <p:nvPr/>
        </p:nvSpPr>
        <p:spPr>
          <a:xfrm>
            <a:off x="812800" y="1884629"/>
            <a:ext cx="5588000" cy="3641990"/>
          </a:xfrm>
          <a:prstGeom prst="roundRect">
            <a:avLst>
              <a:gd name="adj" fmla="val 2790"/>
            </a:avLst>
          </a:prstGeom>
          <a:solidFill>
            <a:srgbClr val="14213D"/>
          </a:solidFill>
          <a:ln/>
        </p:spPr>
        <p:txBody>
          <a:bodyPr wrap="none" lIns="224242" tIns="173442" rIns="71842" bIns="148043" rtlCol="0" anchor="t">
            <a:normAutofit/>
          </a:bodyPr>
          <a:lstStyle/>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int n, i, *marks;</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float sum = 0;</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scanf("%d", &amp;n);</a:t>
            </a:r>
            <a:endParaRPr lang="en-US" sz="1300" dirty="0"/>
          </a:p>
          <a:p>
            <a:pPr algn="l" indent="0" marL="0">
              <a:lnSpc>
                <a:spcPts val="1820"/>
              </a:lnSpc>
              <a:buNone/>
            </a:pPr>
            <a:endParaRPr lang="en-US" sz="1300" dirty="0"/>
          </a:p>
          <a:p>
            <a:pPr algn="l" indent="0" marL="0">
              <a:lnSpc>
                <a:spcPts val="1820"/>
              </a:lnSpc>
              <a:buNone/>
            </a:pPr>
            <a:r>
              <a:rPr lang="en-US" sz="1300" dirty="0">
                <a:solidFill>
                  <a:srgbClr val="F5A66B"/>
                </a:solidFill>
                <a:latin typeface="JetBrains Mono" pitchFamily="49" charset="0"/>
                <a:ea typeface="JetBrains Mono" pitchFamily="49" charset="-122"/>
                <a:cs typeface="JetBrains Mono" pitchFamily="49" charset="-120"/>
              </a:rPr>
              <a:t>marks = (int *) malloc(n * sizeof(int));</a:t>
            </a:r>
            <a:endParaRPr lang="en-US" sz="1300" dirty="0"/>
          </a:p>
          <a:p>
            <a:pPr algn="l" indent="0" marL="0">
              <a:lnSpc>
                <a:spcPts val="1820"/>
              </a:lnSpc>
              <a:buNone/>
            </a:pPr>
            <a:r>
              <a:rPr lang="en-US" sz="1300" dirty="0">
                <a:solidFill>
                  <a:srgbClr val="F5A66B"/>
                </a:solidFill>
                <a:latin typeface="JetBrains Mono" pitchFamily="49" charset="0"/>
                <a:ea typeface="JetBrains Mono" pitchFamily="49" charset="-122"/>
                <a:cs typeface="JetBrains Mono" pitchFamily="49" charset="-120"/>
              </a:rPr>
              <a:t>if (marks == NULL) return 1;</a:t>
            </a:r>
            <a:endParaRPr lang="en-US" sz="1300" dirty="0"/>
          </a:p>
          <a:p>
            <a:pPr algn="l" indent="0" marL="0">
              <a:lnSpc>
                <a:spcPts val="1820"/>
              </a:lnSpc>
              <a:buNone/>
            </a:pP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for (i = 0; i &lt; n; i++) {</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a:t>
            </a:r>
            <a:r>
              <a:rPr lang="en-US" sz="1300" dirty="0">
                <a:solidFill>
                  <a:srgbClr val="F5A66B"/>
                </a:solidFill>
                <a:latin typeface="JetBrains Mono" pitchFamily="49" charset="0"/>
                <a:ea typeface="JetBrains Mono" pitchFamily="49" charset="-122"/>
                <a:cs typeface="JetBrains Mono" pitchFamily="49" charset="-120"/>
              </a:rPr>
              <a:t>scanf("%d", &amp;marks[i]);</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    sum = sum + marks[i];</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a:t>
            </a:r>
            <a:endParaRPr lang="en-US" sz="1300" dirty="0"/>
          </a:p>
          <a:p>
            <a:pPr algn="l" indent="0" marL="0">
              <a:lnSpc>
                <a:spcPts val="1820"/>
              </a:lnSpc>
              <a:buNone/>
            </a:pPr>
            <a:r>
              <a:rPr lang="en-US" sz="1300" dirty="0">
                <a:solidFill>
                  <a:srgbClr val="E6EBF2"/>
                </a:solidFill>
                <a:latin typeface="JetBrains Mono" pitchFamily="49" charset="0"/>
                <a:ea typeface="JetBrains Mono" pitchFamily="49" charset="-122"/>
                <a:cs typeface="JetBrains Mono" pitchFamily="49" charset="-120"/>
              </a:rPr>
              <a:t>printf("Average = %.2f\n", sum / n);</a:t>
            </a:r>
            <a:endParaRPr lang="en-US" sz="1300" dirty="0"/>
          </a:p>
          <a:p>
            <a:pPr algn="l" indent="0" marL="0">
              <a:lnSpc>
                <a:spcPts val="1820"/>
              </a:lnSpc>
              <a:buNone/>
            </a:pPr>
            <a:endParaRPr lang="en-US" sz="1300" dirty="0"/>
          </a:p>
          <a:p>
            <a:pPr algn="l" indent="0" marL="0">
              <a:lnSpc>
                <a:spcPts val="1820"/>
              </a:lnSpc>
              <a:buNone/>
            </a:pPr>
            <a:r>
              <a:rPr lang="en-US" sz="1300" dirty="0">
                <a:solidFill>
                  <a:srgbClr val="F5A66B"/>
                </a:solidFill>
                <a:latin typeface="JetBrains Mono" pitchFamily="49" charset="0"/>
                <a:ea typeface="JetBrains Mono" pitchFamily="49" charset="-122"/>
                <a:cs typeface="JetBrains Mono" pitchFamily="49" charset="-120"/>
              </a:rPr>
              <a:t>free(marks);</a:t>
            </a:r>
            <a:endParaRPr lang="en-US" sz="1300" dirty="0"/>
          </a:p>
        </p:txBody>
      </p:sp>
      <p:sp>
        <p:nvSpPr>
          <p:cNvPr id="5" name="Shape 3"/>
          <p:cNvSpPr/>
          <p:nvPr/>
        </p:nvSpPr>
        <p:spPr>
          <a:xfrm>
            <a:off x="6708775" y="1887804"/>
            <a:ext cx="4667250" cy="810066"/>
          </a:xfrm>
          <a:prstGeom prst="roundRect">
            <a:avLst>
              <a:gd name="adj" fmla="val 12150"/>
            </a:avLst>
          </a:prstGeom>
          <a:solidFill>
            <a:srgbClr val="FFFDF8"/>
          </a:solidFill>
          <a:ln w="6350">
            <a:solidFill>
              <a:srgbClr val="E2DED3"/>
            </a:solidFill>
            <a:prstDash val="solid"/>
          </a:ln>
        </p:spPr>
      </p:sp>
      <p:sp>
        <p:nvSpPr>
          <p:cNvPr id="6" name="Text 4"/>
          <p:cNvSpPr/>
          <p:nvPr/>
        </p:nvSpPr>
        <p:spPr>
          <a:xfrm>
            <a:off x="6889045" y="2097267"/>
            <a:ext cx="18966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1</a:t>
            </a:r>
            <a:endParaRPr lang="en-US" sz="2200" dirty="0"/>
          </a:p>
        </p:txBody>
      </p:sp>
      <p:sp>
        <p:nvSpPr>
          <p:cNvPr id="7" name="Text 5"/>
          <p:cNvSpPr/>
          <p:nvPr/>
        </p:nvSpPr>
        <p:spPr>
          <a:xfrm>
            <a:off x="7180307" y="2042672"/>
            <a:ext cx="14611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Allocate</a:t>
            </a:r>
            <a:endParaRPr lang="en-US" sz="1600" dirty="0"/>
          </a:p>
        </p:txBody>
      </p:sp>
      <p:sp>
        <p:nvSpPr>
          <p:cNvPr id="8" name="Text 6"/>
          <p:cNvSpPr/>
          <p:nvPr/>
        </p:nvSpPr>
        <p:spPr>
          <a:xfrm>
            <a:off x="7180307" y="2311884"/>
            <a:ext cx="169243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malloc() or calloc()</a:t>
            </a:r>
            <a:endParaRPr lang="en-US" sz="1300" dirty="0"/>
          </a:p>
        </p:txBody>
      </p:sp>
      <p:sp>
        <p:nvSpPr>
          <p:cNvPr id="9" name="Shape 7"/>
          <p:cNvSpPr/>
          <p:nvPr/>
        </p:nvSpPr>
        <p:spPr>
          <a:xfrm>
            <a:off x="6708775" y="2831219"/>
            <a:ext cx="4667250" cy="810066"/>
          </a:xfrm>
          <a:prstGeom prst="roundRect">
            <a:avLst>
              <a:gd name="adj" fmla="val 12150"/>
            </a:avLst>
          </a:prstGeom>
          <a:solidFill>
            <a:srgbClr val="FFFDF8"/>
          </a:solidFill>
          <a:ln w="6350">
            <a:solidFill>
              <a:srgbClr val="E2DED3"/>
            </a:solidFill>
            <a:prstDash val="solid"/>
          </a:ln>
        </p:spPr>
      </p:sp>
      <p:sp>
        <p:nvSpPr>
          <p:cNvPr id="10" name="Text 8"/>
          <p:cNvSpPr/>
          <p:nvPr/>
        </p:nvSpPr>
        <p:spPr>
          <a:xfrm>
            <a:off x="6889045" y="3040683"/>
            <a:ext cx="232436"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2</a:t>
            </a:r>
            <a:endParaRPr lang="en-US" sz="2200" dirty="0"/>
          </a:p>
        </p:txBody>
      </p:sp>
      <p:sp>
        <p:nvSpPr>
          <p:cNvPr id="11" name="Text 9"/>
          <p:cNvSpPr/>
          <p:nvPr/>
        </p:nvSpPr>
        <p:spPr>
          <a:xfrm>
            <a:off x="7223081" y="2986088"/>
            <a:ext cx="206511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Check</a:t>
            </a:r>
            <a:endParaRPr lang="en-US" sz="1600" dirty="0"/>
          </a:p>
        </p:txBody>
      </p:sp>
      <p:sp>
        <p:nvSpPr>
          <p:cNvPr id="12" name="Text 10"/>
          <p:cNvSpPr/>
          <p:nvPr/>
        </p:nvSpPr>
        <p:spPr>
          <a:xfrm>
            <a:off x="7223081" y="3255299"/>
            <a:ext cx="24059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Stop if the pointer is NULL</a:t>
            </a:r>
            <a:endParaRPr lang="en-US" sz="1300" dirty="0"/>
          </a:p>
        </p:txBody>
      </p:sp>
      <p:sp>
        <p:nvSpPr>
          <p:cNvPr id="13" name="Shape 11"/>
          <p:cNvSpPr/>
          <p:nvPr/>
        </p:nvSpPr>
        <p:spPr>
          <a:xfrm>
            <a:off x="6708775" y="3774635"/>
            <a:ext cx="4667250" cy="810066"/>
          </a:xfrm>
          <a:prstGeom prst="roundRect">
            <a:avLst>
              <a:gd name="adj" fmla="val 12150"/>
            </a:avLst>
          </a:prstGeom>
          <a:solidFill>
            <a:srgbClr val="FFFDF8"/>
          </a:solidFill>
          <a:ln w="6350">
            <a:solidFill>
              <a:srgbClr val="E2DED3"/>
            </a:solidFill>
            <a:prstDash val="solid"/>
          </a:ln>
        </p:spPr>
      </p:sp>
      <p:sp>
        <p:nvSpPr>
          <p:cNvPr id="14" name="Text 12"/>
          <p:cNvSpPr/>
          <p:nvPr/>
        </p:nvSpPr>
        <p:spPr>
          <a:xfrm>
            <a:off x="6889045" y="3984098"/>
            <a:ext cx="234950"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3</a:t>
            </a:r>
            <a:endParaRPr lang="en-US" sz="2200" dirty="0"/>
          </a:p>
        </p:txBody>
      </p:sp>
      <p:sp>
        <p:nvSpPr>
          <p:cNvPr id="15" name="Text 13"/>
          <p:cNvSpPr/>
          <p:nvPr/>
        </p:nvSpPr>
        <p:spPr>
          <a:xfrm>
            <a:off x="7225595" y="3929503"/>
            <a:ext cx="221332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Use</a:t>
            </a:r>
            <a:endParaRPr lang="en-US" sz="1600" dirty="0"/>
          </a:p>
        </p:txBody>
      </p:sp>
      <p:sp>
        <p:nvSpPr>
          <p:cNvPr id="16" name="Text 14"/>
          <p:cNvSpPr/>
          <p:nvPr/>
        </p:nvSpPr>
        <p:spPr>
          <a:xfrm>
            <a:off x="7225595" y="4198720"/>
            <a:ext cx="257862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Like a normal array: marks[i]</a:t>
            </a:r>
            <a:endParaRPr lang="en-US" sz="1300" dirty="0"/>
          </a:p>
        </p:txBody>
      </p:sp>
      <p:sp>
        <p:nvSpPr>
          <p:cNvPr id="17" name="Shape 15"/>
          <p:cNvSpPr/>
          <p:nvPr/>
        </p:nvSpPr>
        <p:spPr>
          <a:xfrm>
            <a:off x="6708775" y="4718050"/>
            <a:ext cx="4667250" cy="810066"/>
          </a:xfrm>
          <a:prstGeom prst="roundRect">
            <a:avLst>
              <a:gd name="adj" fmla="val 12150"/>
            </a:avLst>
          </a:prstGeom>
          <a:solidFill>
            <a:srgbClr val="FFFDF8"/>
          </a:solidFill>
          <a:ln w="6350">
            <a:solidFill>
              <a:srgbClr val="E2DED3"/>
            </a:solidFill>
            <a:prstDash val="solid"/>
          </a:ln>
        </p:spPr>
      </p:sp>
      <p:sp>
        <p:nvSpPr>
          <p:cNvPr id="18" name="Text 16"/>
          <p:cNvSpPr/>
          <p:nvPr/>
        </p:nvSpPr>
        <p:spPr>
          <a:xfrm>
            <a:off x="6889045" y="4927513"/>
            <a:ext cx="241388"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501F"/>
                </a:solidFill>
                <a:latin typeface="Rubik" pitchFamily="34" charset="0"/>
                <a:ea typeface="Rubik" pitchFamily="34" charset="-122"/>
                <a:cs typeface="Rubik" pitchFamily="34" charset="-120"/>
              </a:rPr>
              <a:t>4</a:t>
            </a:r>
            <a:endParaRPr lang="en-US" sz="2200" dirty="0"/>
          </a:p>
        </p:txBody>
      </p:sp>
      <p:sp>
        <p:nvSpPr>
          <p:cNvPr id="19" name="Text 17"/>
          <p:cNvSpPr/>
          <p:nvPr/>
        </p:nvSpPr>
        <p:spPr>
          <a:xfrm>
            <a:off x="7232033" y="4872918"/>
            <a:ext cx="197014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Free</a:t>
            </a:r>
            <a:endParaRPr lang="en-US" sz="1600" dirty="0"/>
          </a:p>
        </p:txBody>
      </p:sp>
      <p:sp>
        <p:nvSpPr>
          <p:cNvPr id="20" name="Text 18"/>
          <p:cNvSpPr/>
          <p:nvPr/>
        </p:nvSpPr>
        <p:spPr>
          <a:xfrm>
            <a:off x="7232033" y="5142136"/>
            <a:ext cx="229531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Rubik" pitchFamily="34" charset="0"/>
                <a:ea typeface="Rubik" pitchFamily="34" charset="-122"/>
                <a:cs typeface="Rubik" pitchFamily="34" charset="-120"/>
              </a:rPr>
              <a:t>free() when you are done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501F"/>
                </a:solidFill>
                <a:latin typeface="Rubik" pitchFamily="34" charset="0"/>
                <a:ea typeface="Rubik" pitchFamily="34" charset="-122"/>
                <a:cs typeface="Rubik" pitchFamily="34" charset="-120"/>
              </a:rPr>
              <a:t>WATCH OUT</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Five common beginner mistakes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946718"/>
          <a:ext cx="10555111" cy="2468033"/>
        </p:xfrm>
        <a:graphic>
          <a:graphicData uri="http://schemas.openxmlformats.org/drawingml/2006/table">
            <a:tbl>
              <a:tblPr/>
              <a:tblGrid>
                <a:gridCol w="2955431"/>
                <a:gridCol w="3799840"/>
                <a:gridCol w="3799840"/>
              </a:tblGrid>
              <a:tr h="411339">
                <a:tc>
                  <a:txBody>
                    <a:bodyPr/>
                    <a:lstStyle/>
                    <a:p>
                      <a:pPr indent="0" marL="0">
                        <a:lnSpc>
                          <a:spcPts val="2100"/>
                        </a:lnSpc>
                        <a:buNone/>
                      </a:pPr>
                      <a:r>
                        <a:rPr lang="en-US" sz="1500" b="1" dirty="0">
                          <a:solidFill>
                            <a:srgbClr val="F7F5EF"/>
                          </a:solidFill>
                          <a:latin typeface="Rubik" pitchFamily="34" charset="0"/>
                          <a:ea typeface="Rubik" pitchFamily="34" charset="-122"/>
                          <a:cs typeface="Rubik" pitchFamily="34" charset="-120"/>
                        </a:rPr>
                        <a:t>Mistake</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7F5EF"/>
                          </a:solidFill>
                          <a:latin typeface="Rubik" pitchFamily="34" charset="0"/>
                          <a:ea typeface="Rubik" pitchFamily="34" charset="-122"/>
                          <a:cs typeface="Rubik" pitchFamily="34" charset="-120"/>
                        </a:rPr>
                        <a:t>Wrong</a:t>
                      </a:r>
                      <a:endParaRPr lang="en-US" sz="1500" dirty="0">
                        <a:latin typeface="Rubik" charset="0"/>
                        <a:ea typeface="Rubik" charset="0"/>
                        <a:cs typeface="Rubik"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7F5EF"/>
                          </a:solidFill>
                          <a:latin typeface="Rubik" pitchFamily="34" charset="0"/>
                          <a:ea typeface="Rubik" pitchFamily="34" charset="-122"/>
                          <a:cs typeface="Rubik" pitchFamily="34" charset="-120"/>
                        </a:rPr>
                        <a:t>Right</a:t>
                      </a:r>
                      <a:endParaRPr lang="en-US" sz="1500" dirty="0">
                        <a:latin typeface="Rubik" charset="0"/>
                        <a:ea typeface="Rubik" charset="0"/>
                        <a:cs typeface="Rubik"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1339">
                <a:tc>
                  <a:txBody>
                    <a:bodyPr/>
                    <a:lstStyle/>
                    <a:p>
                      <a:pPr indent="0" marL="0">
                        <a:lnSpc>
                          <a:spcPts val="2100"/>
                        </a:lnSpc>
                        <a:buNone/>
                      </a:pPr>
                      <a:r>
                        <a:rPr lang="en-US" sz="1500" dirty="0">
                          <a:solidFill>
                            <a:srgbClr val="14213D"/>
                          </a:solidFill>
                          <a:latin typeface="Rubik" pitchFamily="34" charset="0"/>
                          <a:ea typeface="Rubik" pitchFamily="34" charset="-122"/>
                          <a:cs typeface="Rubik" pitchFamily="34" charset="-120"/>
                        </a:rPr>
                        <a:t>Forgetting sizeof</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malloc(5) gives 5 bytes, not 5 ints</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malloc(5 * sizeof(int))</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1339">
                <a:tc>
                  <a:txBody>
                    <a:bodyPr/>
                    <a:lstStyle/>
                    <a:p>
                      <a:pPr indent="0" marL="0">
                        <a:lnSpc>
                          <a:spcPts val="2100"/>
                        </a:lnSpc>
                        <a:buNone/>
                      </a:pPr>
                      <a:r>
                        <a:rPr lang="en-US" sz="1500" dirty="0">
                          <a:solidFill>
                            <a:srgbClr val="14213D"/>
                          </a:solidFill>
                          <a:latin typeface="Rubik" pitchFamily="34" charset="0"/>
                          <a:ea typeface="Rubik" pitchFamily="34" charset="-122"/>
                          <a:cs typeface="Rubik" pitchFamily="34" charset="-120"/>
                        </a:rPr>
                        <a:t>Not checking NULL</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Using p straight away</a:t>
                      </a:r>
                      <a:endParaRPr lang="en-US" sz="1500" dirty="0">
                        <a:latin typeface="Rubik" charset="0"/>
                        <a:ea typeface="Rubik" charset="0"/>
                        <a:cs typeface="Rubik" charset="0"/>
                      </a:endParaRPr>
                    </a:p>
                  </a:txBody>
                  <a:tcPr marL="66675" marR="66675" marT="66675" marB="6667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if (p == NULL) { … }</a:t>
                      </a:r>
                      <a:endParaRPr lang="en-US" sz="1500" dirty="0">
                        <a:latin typeface="Rubik" charset="0"/>
                        <a:ea typeface="Rubik" charset="0"/>
                        <a:cs typeface="Rubik" charset="0"/>
                      </a:endParaRPr>
                    </a:p>
                  </a:txBody>
                  <a:tcPr marL="66675" marR="66675" marT="66675" marB="6667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411339">
                <a:tc>
                  <a:txBody>
                    <a:bodyPr/>
                    <a:lstStyle/>
                    <a:p>
                      <a:pPr indent="0" marL="0">
                        <a:lnSpc>
                          <a:spcPts val="2100"/>
                        </a:lnSpc>
                        <a:buNone/>
                      </a:pPr>
                      <a:r>
                        <a:rPr lang="en-US" sz="1500" dirty="0">
                          <a:solidFill>
                            <a:srgbClr val="14213D"/>
                          </a:solidFill>
                          <a:latin typeface="Rubik" pitchFamily="34" charset="0"/>
                          <a:ea typeface="Rubik" pitchFamily="34" charset="-122"/>
                          <a:cs typeface="Rubik" pitchFamily="34" charset="-120"/>
                        </a:rPr>
                        <a:t>Forgetting free()</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Memory leak</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free(p); when done</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1339">
                <a:tc>
                  <a:txBody>
                    <a:bodyPr/>
                    <a:lstStyle/>
                    <a:p>
                      <a:pPr indent="0" marL="0">
                        <a:lnSpc>
                          <a:spcPts val="2100"/>
                        </a:lnSpc>
                        <a:buNone/>
                      </a:pPr>
                      <a:r>
                        <a:rPr lang="en-US" sz="1500" dirty="0">
                          <a:solidFill>
                            <a:srgbClr val="14213D"/>
                          </a:solidFill>
                          <a:latin typeface="Rubik" pitchFamily="34" charset="0"/>
                          <a:ea typeface="Rubik" pitchFamily="34" charset="-122"/>
                          <a:cs typeface="Rubik" pitchFamily="34" charset="-120"/>
                        </a:rPr>
                        <a:t>Using after free()</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free(p); p[0] = 5;</a:t>
                      </a:r>
                      <a:endParaRPr lang="en-US" sz="1500" dirty="0">
                        <a:latin typeface="Rubik" charset="0"/>
                        <a:ea typeface="Rubik" charset="0"/>
                        <a:cs typeface="Rubik" charset="0"/>
                      </a:endParaRPr>
                    </a:p>
                  </a:txBody>
                  <a:tcPr marL="66675" marR="66675" marT="66675" marB="6667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free(p); p = NULL;</a:t>
                      </a:r>
                      <a:endParaRPr lang="en-US" sz="1500" dirty="0">
                        <a:latin typeface="Rubik" charset="0"/>
                        <a:ea typeface="Rubik" charset="0"/>
                        <a:cs typeface="Rubik" charset="0"/>
                      </a:endParaRPr>
                    </a:p>
                  </a:txBody>
                  <a:tcPr marL="66675" marR="66675" marT="66675" marB="66675" anchor="t">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r>
              <a:tr h="411339">
                <a:tc>
                  <a:txBody>
                    <a:bodyPr/>
                    <a:lstStyle/>
                    <a:p>
                      <a:pPr indent="0" marL="0">
                        <a:lnSpc>
                          <a:spcPts val="2100"/>
                        </a:lnSpc>
                        <a:buNone/>
                      </a:pPr>
                      <a:r>
                        <a:rPr lang="en-US" sz="1500" dirty="0">
                          <a:solidFill>
                            <a:srgbClr val="14213D"/>
                          </a:solidFill>
                          <a:latin typeface="Rubik" pitchFamily="34" charset="0"/>
                          <a:ea typeface="Rubik" pitchFamily="34" charset="-122"/>
                          <a:cs typeface="Rubik" pitchFamily="34" charset="-120"/>
                        </a:rPr>
                        <a:t>Going past the end</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p[5] when you asked for 5 items</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3D4A5C"/>
                          </a:solidFill>
                          <a:latin typeface="Rubik" pitchFamily="34" charset="0"/>
                          <a:ea typeface="Rubik" pitchFamily="34" charset="-122"/>
                          <a:cs typeface="Rubik" pitchFamily="34" charset="-120"/>
                        </a:rPr>
                        <a:t>Use p[0] to p[4] only</a:t>
                      </a:r>
                      <a:endParaRPr lang="en-US" sz="1500" dirty="0">
                        <a:latin typeface="Rubik" charset="0"/>
                        <a:ea typeface="Rubik" charset="0"/>
                        <a:cs typeface="Rubik"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8A4B"/>
                </a:solidFill>
                <a:latin typeface="Rubik" pitchFamily="34" charset="0"/>
                <a:ea typeface="Rubik" pitchFamily="34" charset="-122"/>
                <a:cs typeface="Rubik" pitchFamily="34" charset="-120"/>
              </a:rPr>
              <a:t>PRACTICE</a:t>
            </a:r>
            <a:endParaRPr lang="en-US" sz="1200" dirty="0"/>
          </a:p>
        </p:txBody>
      </p:sp>
      <p:sp>
        <p:nvSpPr>
          <p:cNvPr id="3" name="Text 1"/>
          <p:cNvSpPr/>
          <p:nvPr>
            <p:ph type="title"/>
          </p:nvPr>
        </p:nvSpPr>
        <p:spPr>
          <a:xfrm>
            <a:off x="812800" y="11277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Rubik" pitchFamily="34" charset="0"/>
                <a:ea typeface="Rubik" pitchFamily="34" charset="-122"/>
                <a:cs typeface="Rubik" pitchFamily="34" charset="-120"/>
              </a:rPr>
              <a:t>Quick check</a:t>
            </a:r>
            <a:endParaRPr lang="en-US" sz="3600" dirty="0"/>
          </a:p>
        </p:txBody>
      </p:sp>
      <p:sp>
        <p:nvSpPr>
          <p:cNvPr id="4" name="Text 2"/>
          <p:cNvSpPr/>
          <p:nvPr/>
        </p:nvSpPr>
        <p:spPr>
          <a:xfrm>
            <a:off x="839964" y="1935429"/>
            <a:ext cx="5956314" cy="1793081"/>
          </a:xfrm>
          <a:prstGeom prst="rect">
            <a:avLst/>
          </a:prstGeom>
          <a:noFill/>
          <a:ln/>
        </p:spPr>
        <p:txBody>
          <a:bodyPr wrap="square" lIns="0" tIns="0" rIns="0" bIns="0" rtlCol="0" anchor="t">
            <a:normAutofit/>
          </a:bodyPr>
          <a:lstStyle/>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Which header file declares malloc(), calloc() and free()?</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What does malloc() return when no memory is left?</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What values does malloc() memory start with? And calloc()?</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Is malloc(10) enough for 10 integers? Why?</a:t>
            </a:r>
            <a:endParaRPr lang="en-US" sz="1600" dirty="0"/>
          </a:p>
          <a:p>
            <a:pPr algn="l" marL="226836" indent="-226836">
              <a:lnSpc>
                <a:spcPts val="2320"/>
              </a:lnSpc>
              <a:buSzPct val="100000"/>
              <a:buFontTx/>
              <a:buAutoNum type="arabicPeriod" startAt="1"/>
            </a:pPr>
            <a:r>
              <a:rPr lang="en-US" sz="1600" dirty="0">
                <a:solidFill>
                  <a:srgbClr val="E6EBF2"/>
                </a:solidFill>
                <a:latin typeface="Rubik" pitchFamily="34" charset="0"/>
                <a:ea typeface="Rubik" pitchFamily="34" charset="-122"/>
                <a:cs typeface="Rubik" pitchFamily="34" charset="-120"/>
              </a:rPr>
              <a:t>What is a memory leak?</a:t>
            </a:r>
            <a:endParaRPr lang="en-US" sz="1600" dirty="0"/>
          </a:p>
        </p:txBody>
      </p:sp>
      <p:sp>
        <p:nvSpPr>
          <p:cNvPr id="5" name="Shape 3"/>
          <p:cNvSpPr/>
          <p:nvPr/>
        </p:nvSpPr>
        <p:spPr>
          <a:xfrm>
            <a:off x="6940550" y="1941779"/>
            <a:ext cx="4432300" cy="2011363"/>
          </a:xfrm>
          <a:prstGeom prst="roundRect">
            <a:avLst>
              <a:gd name="adj" fmla="val 4736"/>
            </a:avLst>
          </a:prstGeom>
          <a:solidFill>
            <a:srgbClr val="1E2B47"/>
          </a:solidFill>
          <a:ln w="12700">
            <a:solidFill>
              <a:srgbClr val="F08A4B"/>
            </a:solidFill>
            <a:prstDash val="solid"/>
          </a:ln>
        </p:spPr>
      </p:sp>
      <p:sp>
        <p:nvSpPr>
          <p:cNvPr id="6" name="Text 4"/>
          <p:cNvSpPr/>
          <p:nvPr/>
        </p:nvSpPr>
        <p:spPr>
          <a:xfrm>
            <a:off x="7174089" y="2175315"/>
            <a:ext cx="4084179"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EF"/>
                </a:solidFill>
                <a:latin typeface="Rubik" pitchFamily="34" charset="0"/>
                <a:ea typeface="Rubik" pitchFamily="34" charset="-122"/>
                <a:cs typeface="Rubik" pitchFamily="34" charset="-120"/>
              </a:rPr>
              <a:t>Find the two bugs</a:t>
            </a:r>
            <a:endParaRPr lang="en-US" sz="1800" dirty="0"/>
          </a:p>
        </p:txBody>
      </p:sp>
      <p:sp>
        <p:nvSpPr>
          <p:cNvPr id="7" name="Text 5"/>
          <p:cNvSpPr/>
          <p:nvPr/>
        </p:nvSpPr>
        <p:spPr>
          <a:xfrm>
            <a:off x="7174089" y="2576599"/>
            <a:ext cx="4084179" cy="11684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int *p = malloc(3 * sizeof(int));</a:t>
            </a:r>
            <a:endParaRPr lang="en-US" sz="1200" dirty="0"/>
          </a:p>
          <a:p>
            <a:pPr algn="l" indent="0" marL="0">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p[0] = 1; p[1] = 2;</a:t>
            </a:r>
            <a:endParaRPr lang="en-US" sz="1200" dirty="0"/>
          </a:p>
          <a:p>
            <a:pPr algn="l" indent="0" marL="0">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p[2] = 3; p[3] = 4;</a:t>
            </a:r>
            <a:endParaRPr lang="en-US" sz="1200" dirty="0"/>
          </a:p>
          <a:p>
            <a:pPr algn="l" indent="0" marL="0">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free(p);</a:t>
            </a:r>
            <a:endParaRPr lang="en-US" sz="1200" dirty="0"/>
          </a:p>
          <a:p>
            <a:pPr algn="l" indent="0" marL="0">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printf("%d", p[0]);</a:t>
            </a:r>
            <a:endParaRPr lang="en-US" sz="1200" dirty="0"/>
          </a:p>
        </p:txBody>
      </p:sp>
    </p:spTree>
  </p:cSld>
  <p:clrMapOvr>
    <a:masterClrMapping/>
  </p:clrMapOvr>
</p:sld>
</file>

<file path=ppt/theme/theme1.xml><?xml version="1.0" encoding="utf-8"?>
<a:theme xmlns:a="http://schemas.openxmlformats.org/drawingml/2006/main" name="Dynamic Memory Allocation in C">
  <a:themeElements>
    <a:clrScheme name="Dynamic Memory Allocation in C">
      <a:dk1>
        <a:srgbClr val="14213D"/>
      </a:dk1>
      <a:lt1>
        <a:srgbClr val="F7F5EF"/>
      </a:lt1>
      <a:dk2>
        <a:srgbClr val="4D566A"/>
      </a:dk2>
      <a:lt2>
        <a:srgbClr val="E0E0DD"/>
      </a:lt2>
      <a:accent1>
        <a:srgbClr val="B8501F"/>
      </a:accent1>
      <a:accent2>
        <a:srgbClr val="F08A4B"/>
      </a:accent2>
      <a:accent3>
        <a:srgbClr val="BFD0E6"/>
      </a:accent3>
      <a:accent4>
        <a:srgbClr val="2F6FB3"/>
      </a:accent4>
      <a:accent5>
        <a:srgbClr val="8FA3BF"/>
      </a:accent5>
      <a:accent6>
        <a:srgbClr val="3D4A5C"/>
      </a:accent6>
      <a:hlink>
        <a:srgbClr val="0563C1"/>
      </a:hlink>
      <a:folHlink>
        <a:srgbClr val="954F72"/>
      </a:folHlink>
    </a:clrScheme>
    <a:fontScheme name="Dynamic Memory Allocation in C">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Memory Allocation in C</dc:title>
  <dc:subject/>
  <dc:creator/>
  <cp:lastModifiedBy/>
  <cp:revision>1</cp:revision>
  <dcterms:created xsi:type="dcterms:W3CDTF">2026-10-17T14:35:31Z</dcterms:created>
  <dcterms:modified xsi:type="dcterms:W3CDTF">2026-10-17T14:35:31Z</dcterms:modified>
</cp:coreProperties>
</file>