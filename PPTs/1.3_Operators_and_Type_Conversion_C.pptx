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5528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91540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987552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835640" y="11887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95528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91540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87552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835640" y="2743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95528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91540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987552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0835640" y="4297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0A896">
                    <a:alpha val="22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02920" y="233172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F3E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33172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SCRATCH · CS FOUNDATIONS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2834640"/>
            <a:ext cx="8778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 &amp; Type Conversion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 •  Relational  •  Logical  •  Bitwise  •  Type Conversion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first-principles walkthrough of how programs compute, compare, decide, and convert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building blocks every program relies 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21305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478024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values: +, -, *, /, %, **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280160" y="2916936"/>
            <a:ext cx="9966960" cy="0"/>
          </a:xfrm>
          <a:prstGeom prst="line">
            <a:avLst/>
          </a:prstGeom>
          <a:noFill/>
          <a:ln w="12700">
            <a:solidFill>
              <a:srgbClr val="E2EE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0358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33192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values: ==, !=, &gt;, &lt;, &gt;=, &lt;=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1280160" y="3758184"/>
            <a:ext cx="9966960" cy="0"/>
          </a:xfrm>
          <a:prstGeom prst="line">
            <a:avLst/>
          </a:prstGeom>
          <a:noFill/>
          <a:ln w="12700">
            <a:solidFill>
              <a:srgbClr val="E2EE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87705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770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38130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28016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conditions: AND, OR, NOT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280160" y="4599432"/>
            <a:ext cx="9966960" cy="0"/>
          </a:xfrm>
          <a:prstGeom prst="line">
            <a:avLst/>
          </a:prstGeom>
          <a:noFill/>
          <a:ln w="12700">
            <a:solidFill>
              <a:srgbClr val="E2EE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4718304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718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6542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Operators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80160" y="5001768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Manipulating raw bits: &amp;, |, ^, ~, &lt;&lt;, &gt;&gt;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280160" y="5440680"/>
            <a:ext cx="9966960" cy="0"/>
          </a:xfrm>
          <a:prstGeom prst="line">
            <a:avLst/>
          </a:prstGeom>
          <a:noFill/>
          <a:ln w="12700">
            <a:solidFill>
              <a:srgbClr val="E2EE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555955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5559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80160" y="549554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280160" y="5843016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coercion vs. explicit casting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Operators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mathematical computation on numeric operands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arithmetic operator acts on two numeric operands (constants, variables, or expressions) and produces a single numeric result. C provides five basic operators plus a unary minus/plus; there is no built-in power operator (use pow() from math.h).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8940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894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417320" y="31546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+ 2  →  5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80760" y="2697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28940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2894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995160" y="280720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Subtraction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995160" y="315468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3 - 2  →  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40553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0553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39684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Multiplication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* 2  →  6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080760" y="3858768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4055364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6245352" y="40553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95160" y="396849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Division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995160" y="4315968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 →  3  (int)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02920" y="502005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" y="521665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52166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417320" y="51297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Modulus (remainder)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1417320" y="547725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  →  1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080760" y="5020056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5352" y="5216652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6245352" y="52166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−x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995160" y="5129784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Unary minus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6995160" y="5477256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-x negates x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computing totals, running numeric formulas, indexing/pagination logic, or building any calculation.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Arithmetic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 students trip over most: integer division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9514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9514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21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arithmetic.c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2587752"/>
            <a:ext cx="524865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7, b = 2;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x = 7.0, y = 2.0;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/ b);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3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x / y);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3.5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% b);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1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precedence: * / % bind before + -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2 + 3 * 4);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14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258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Integer division truncates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operands are int, “/” discards the fractional part (7/2 gives 3, not 3.5). Use float operands to get a fractional result.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0215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works only on integers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modulus operator is undefined for float operands in C — it returns the remainder after integer division, useful for parity checks and cycling through a range.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85546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965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for arithmetic operators for totals, averages, counters, array indexing, and any numeric formula in your program.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values of two operands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operator compares two operands and expresses a relationship between them. The expression evaluates to 1 if the relationship holds (true) and 0 if it does not (false) — C has no separate Boolean type.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1943100" y="2843784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1943100" y="2843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Equal 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38313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== 5  →  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5737860" y="2843784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5737860" y="2843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!=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89120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equal to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38313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!= 3  →  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9532620" y="2843784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9532620" y="284378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83880" y="356616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than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83880" y="3831336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 3   →  1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4178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43100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1943100" y="4325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5047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than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5312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&lt; 3   →  0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97680" y="4178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5737860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5737860" y="4325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389120" y="5047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Greater or equal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389120" y="5312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&gt;= 5  →  1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092440" y="4178808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34" name="Shape 32"/>
          <p:cNvSpPr/>
          <p:nvPr/>
        </p:nvSpPr>
        <p:spPr>
          <a:xfrm>
            <a:off x="9532620" y="4325112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5" name="Text 33"/>
          <p:cNvSpPr/>
          <p:nvPr/>
        </p:nvSpPr>
        <p:spPr>
          <a:xfrm>
            <a:off x="9532620" y="43251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&lt;=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83880" y="50474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or equal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183880" y="531266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A8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&lt;= 5  →  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forming the test condition of if, while, for, and do-while statements — anywhere the program must decide which branch to take.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Operators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beginner bug: = versus ==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9514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9514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21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relational.c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2587752"/>
            <a:ext cx="524865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"eligible to vote"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assignment vs. comparison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5;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ASSIGNS 5 to x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(x == 5)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TESTS x against 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258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true Boolean type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has no bool keyword (pre-C99) — a relational expression simply evaluates to the int 1 or 0, which can be stored, printed, or tested directly.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0215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“=” is not “==”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= assigns a value inside an if and always evaluates true (non-zero) — a classic C bug the compiler will not catch for you.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85546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965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time a decision depends on comparing two values — age checks, loop bounds, search/sort comparisons, validating input ranges.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two or more relational/conditional expressions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operator combines the results of two relational expressions (or inverts one) into a single true/false outcome. C treats any non-zero value as true and 0 as false, so operands need not be comparisons at all.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2549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32278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5935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sides 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9768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82549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32278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||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5935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side true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92440" y="2697480"/>
            <a:ext cx="3520440" cy="1280160"/>
          </a:xfrm>
          <a:prstGeom prst="roundRect">
            <a:avLst>
              <a:gd name="adj" fmla="val 5714"/>
            </a:avLst>
          </a:prstGeom>
          <a:solidFill>
            <a:srgbClr val="F2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282549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75320" y="3227832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3593592"/>
            <a:ext cx="3154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Inverts the value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Truth table — A &amp;&amp; B, A || B, !A</a:t>
            </a:r>
            <a:endParaRPr lang="en-US" sz="13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443984"/>
          <a:ext cx="6949440" cy="1691640"/>
        </p:xfrm>
        <a:graphic>
          <a:graphicData uri="http://schemas.openxmlformats.org/drawingml/2006/table">
            <a:tbl>
              <a:tblPr/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&amp;&amp;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||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(true)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(true)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(true)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(false)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(false)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 (true)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(false)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 (false)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7818120" y="4443984"/>
            <a:ext cx="38862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guarding multiple conditions at once — range checks (x &gt;= 0 &amp;&amp; x &lt;= 100), permission checks, validating input before it is used.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Operators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Short-circuit evaluation saves work — and prevents crashes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9514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9514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21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logical.c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2587752"/>
            <a:ext cx="524865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25, has_ticket = 1;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(age &gt;= 18 &amp;&amp; has_ticket)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"can enter"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short-circuit avoids the second check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*p = NULL;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(p != NULL &amp;&amp; *p &gt; 0)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"positive"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258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Short-circuit evaluation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stops as soon as one operand is false; || stops as soon as one operand is true — the second operand is then never evaluated.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0215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Placing a safe guard first (p != NULL) prevents the second condition (*p &gt; 0) from dereferencing a null pointer.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85546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965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decision needs more than one condition at once — combining a range check with a status flag, or guarding a risky operation with a safety check first.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directly on the individual bits of an integer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bitwise operator manipulates the individual bits of an integer operand. C provides six: &amp;, |, ^, ~, and the two shift operators &lt;&lt; and &gt;&gt;. They work on int/char types, not on float or double.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2894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2894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2788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3118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set only if both bits are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80760" y="2697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2894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2894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95160" y="2788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995160" y="3118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set if either bit is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40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19" name="Shape 17"/>
          <p:cNvSpPr/>
          <p:nvPr/>
        </p:nvSpPr>
        <p:spPr>
          <a:xfrm>
            <a:off x="667512" y="4037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4037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931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4261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set if bits differ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80760" y="3840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4" name="Shape 22"/>
          <p:cNvSpPr/>
          <p:nvPr/>
        </p:nvSpPr>
        <p:spPr>
          <a:xfrm>
            <a:off x="6245352" y="4037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25" name="Text 23"/>
          <p:cNvSpPr/>
          <p:nvPr/>
        </p:nvSpPr>
        <p:spPr>
          <a:xfrm>
            <a:off x="6245352" y="4037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95160" y="3931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4261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every bit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983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29" name="Shape 27"/>
          <p:cNvSpPr/>
          <p:nvPr/>
        </p:nvSpPr>
        <p:spPr>
          <a:xfrm>
            <a:off x="667512" y="5180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5180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&lt;&lt;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5074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shift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417320" y="5404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bits left, fills with 0 (× 2 per shift)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80760" y="4983480"/>
            <a:ext cx="5257800" cy="960120"/>
          </a:xfrm>
          <a:prstGeom prst="roundRect">
            <a:avLst>
              <a:gd name="adj" fmla="val 7619"/>
            </a:avLst>
          </a:prstGeom>
          <a:solidFill>
            <a:srgbClr val="F2F8F8"/>
          </a:solidFill>
          <a:ln/>
        </p:spPr>
      </p:sp>
      <p:sp>
        <p:nvSpPr>
          <p:cNvPr id="34" name="Shape 32"/>
          <p:cNvSpPr/>
          <p:nvPr/>
        </p:nvSpPr>
        <p:spPr>
          <a:xfrm>
            <a:off x="6245352" y="5180076"/>
            <a:ext cx="566928" cy="566928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35" name="Text 33"/>
          <p:cNvSpPr/>
          <p:nvPr/>
        </p:nvSpPr>
        <p:spPr>
          <a:xfrm>
            <a:off x="6245352" y="51800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995160" y="5074920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 shift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995160" y="5404104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bits right (÷ 2 per shift)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" y="635508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setting/clearing flags, permission masks, low-level performance tricks, and hardware/network protocols.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4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Bitwise Operators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the bits makes the operator obvious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9514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9514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21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bitwise.c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2587752"/>
            <a:ext cx="524865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1010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6;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0110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&amp; b);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2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| b);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14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^ b);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12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&lt;&lt; 1);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20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a &gt;&gt; 1);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5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258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from logical operators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and | act bit-by-bit on the binary form of an int; &amp;&amp; and || act on whole true/false values — a frequent source of bugs when a single &amp; is typed instead of &amp;&amp;.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0215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Flags in one integer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READ=1, WRITE=2, EXEC=4 can be combined with | and tested with &amp; — a common pattern for storing several on/off settings in one variable.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85546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965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6E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or testing individual flags/permission bits, packing several small values into one word, or using shifts as a fast multiply (&lt;&lt;) or divide (&gt;&gt;) by powers of two.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a value of one data type into another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 is the process of changing an entity of one data type into another. In C this happens either implicitly, performed automatically by the compiler, or explicitly, performed deliberately by the programmer using a cast.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974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2F8F8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Conversion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264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(a.k.a. “coercion”)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4846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compiler converts types for you, following C's usual arithmetic conversion rules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Happens in the “safe” direction — the lower type is promoted to the higher type (int → float → double)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Convenient, but can silently lose precision or overflow if you aren't watching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3 + 4.0 → the int 3 is converted to 3.0 before adding, giving 7.0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2697480"/>
            <a:ext cx="5394960" cy="3063240"/>
          </a:xfrm>
          <a:prstGeom prst="roundRect">
            <a:avLst>
              <a:gd name="adj" fmla="val 2388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926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Explicit Conversion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326440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(a.k.a. “casting”)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37960" y="3657600"/>
            <a:ext cx="484632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programmer deliberately forces the conversion using the cast operator: (type) expression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Common casts: (int), (float), (double), (char)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Can lose information — (int) 7.9 truncates to 7, not 8
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Example: (float) a / b forces true division even when a and b are int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when: forcing true (float) division on int operands, avoiding overflow before an operation, or matching a function's expected argument type.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 Conversion in Practice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source of “why is this not working?” bugs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148840"/>
            <a:ext cx="5760720" cy="4023360"/>
          </a:xfrm>
          <a:prstGeom prst="roundRect">
            <a:avLst>
              <a:gd name="adj" fmla="val 1818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229514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229514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9" name="Shape 7"/>
          <p:cNvSpPr/>
          <p:nvPr/>
        </p:nvSpPr>
        <p:spPr>
          <a:xfrm>
            <a:off x="1069848" y="229514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22219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conversion.c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58952" y="2587752"/>
            <a:ext cx="524865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marks = 7, total = 10;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wrong: int / int truncates first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pct = marks / total * 100;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pct);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0.000000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fixed: explicit cast before dividing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pct = (float) marks / total * 100;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pct);</a:t>
            </a:r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70.000000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92240" y="2148840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2585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to float doesn't help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720840" y="2569464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/ total is computed in int arithmetic and truncated to 0 before it is ever assigned to the float variable pct.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3502152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61188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cast must be on an operand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720840" y="3922776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(float) marks converts marks to a float first, so the division that follows is true (floating-point) division.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855464"/>
            <a:ext cx="5166360" cy="1170432"/>
          </a:xfrm>
          <a:prstGeom prst="roundRect">
            <a:avLst>
              <a:gd name="adj" fmla="val 6250"/>
            </a:avLst>
          </a:prstGeom>
          <a:solidFill>
            <a:srgbClr val="F2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4965192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when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20840" y="5276088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percentages or averages from int data, passing an argument to a function that expects a different type, or preventing overflow before a multiplication.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5 OF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Implicit vs. Explicit: Syntax &amp; Examples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happens automatically; the other you write yourself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874520"/>
            <a:ext cx="11201400" cy="566928"/>
          </a:xfrm>
          <a:prstGeom prst="roundRect">
            <a:avLst>
              <a:gd name="adj" fmla="val 9677"/>
            </a:avLst>
          </a:prstGeom>
          <a:solidFill>
            <a:srgbClr val="F2F8F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74520"/>
            <a:ext cx="10652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(explicit)  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(type_name) expression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— the expression's value is converted to type_name before use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65176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279806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279806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1" name="Shape 9"/>
          <p:cNvSpPr/>
          <p:nvPr/>
        </p:nvSpPr>
        <p:spPr>
          <a:xfrm>
            <a:off x="1069848" y="279806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724912"/>
            <a:ext cx="4389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implicit.c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58952" y="3090672"/>
            <a:ext cx="488289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b = 2.5;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no cast written — the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compiler converts a to float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 = a + b;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result);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7.500000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02920" y="59893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— no cast in the code; C promotes int a to float automatically before the addition.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2651760"/>
            <a:ext cx="5440680" cy="3246120"/>
          </a:xfrm>
          <a:prstGeom prst="roundRect">
            <a:avLst>
              <a:gd name="adj" fmla="val 2254"/>
            </a:avLst>
          </a:prstGeom>
          <a:solidFill>
            <a:srgbClr val="13262B"/>
          </a:solidFill>
          <a:ln/>
          <a:effectLst>
            <a:outerShdw sx="100000" sy="100000" kx="0" ky="0" algn="bl" rotWithShape="0" blurRad="76200" dist="38100" dir="5400000">
              <a:srgbClr val="0A1A1D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2798064"/>
            <a:ext cx="91440" cy="9144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9400" y="2798064"/>
            <a:ext cx="91440" cy="91440"/>
          </a:xfrm>
          <a:prstGeom prst="ellipse">
            <a:avLst/>
          </a:prstGeom>
          <a:solidFill>
            <a:srgbClr val="E5C07B"/>
          </a:solidFill>
          <a:ln/>
        </p:spPr>
      </p:sp>
      <p:sp>
        <p:nvSpPr>
          <p:cNvPr id="18" name="Shape 16"/>
          <p:cNvSpPr/>
          <p:nvPr/>
        </p:nvSpPr>
        <p:spPr>
          <a:xfrm>
            <a:off x="6830568" y="2798064"/>
            <a:ext cx="91440" cy="91440"/>
          </a:xfrm>
          <a:prstGeom prst="ellipse">
            <a:avLst/>
          </a:prstGeom>
          <a:solidFill>
            <a:srgbClr val="98C379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724912"/>
            <a:ext cx="4434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7A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explicit.c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19672" y="3090672"/>
            <a:ext cx="492861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pi = 3.14159;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explicit cast requested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5C9E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by the programmer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whole = (int) pi;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8F6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whole);</a:t>
            </a:r>
            <a:endParaRPr lang="en-US" sz="13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E0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  (fraction discarded)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63640" y="5989320"/>
            <a:ext cx="5440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— (int) forces the conversion; the fractional part .14159 is discarded, not rounded.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2F8F8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896112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 Cheat Sheet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463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to keep on hand while coding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148840"/>
          <a:ext cx="11201400" cy="3566160"/>
        </p:xfrm>
        <a:graphic>
          <a:graphicData uri="http://schemas.openxmlformats.org/drawingml/2006/table">
            <a:tbl>
              <a:tblPr/>
              <a:tblGrid>
                <a:gridCol w="2377440"/>
                <a:gridCol w="3977640"/>
                <a:gridCol w="1554480"/>
                <a:gridCol w="329184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+  -  *  /  %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/ float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Computation &amp; formulas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==  !=  &gt;  &lt;  &gt;=  &lt;=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(1 or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Comparisons &amp;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&amp;&amp;   ||   !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 (1 or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Combining conditions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Bitwise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&amp;  |  ^  ~  &lt;&lt;  &gt;&gt;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Flags, masks, low-level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Conversion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(int) (float) (double) (char)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Safely changing a value's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98932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when in doubt about precedence, add parentheses — clarity beats cleverness.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E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468880"/>
            <a:ext cx="2286000" cy="384048"/>
          </a:xfrm>
          <a:prstGeom prst="roundRect">
            <a:avLst>
              <a:gd name="adj" fmla="val 50000"/>
            </a:avLst>
          </a:prstGeom>
          <a:solidFill>
            <a:srgbClr val="0F3E44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4688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PRACTICE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502920" y="29718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Write Some Code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388620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work through short exercises for each operator category, then combine them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BFE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small program (e.g., a grade calculator or a permissions checker).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2026-07-27T11:31:31Z</dcterms:created>
  <dcterms:modified xsi:type="dcterms:W3CDTF">2026-07-27T11:31:31Z</dcterms:modified>
</cp:coreProperties>
</file>