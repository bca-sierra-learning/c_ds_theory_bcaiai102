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rting" id="{8ae12eec-636f-a968-cdf6-bed18b0a2cba}">
          <p14:sldIdLst>
            <p14:sldId id="256"/>
            <p14:sldId id="257"/>
            <p14:sldId id="258"/>
            <p14:sldId id="259"/>
            <p14:sldId id="260"/>
          </p14:sldIdLst>
        </p14:section>
        <p14:section name="Bubble sort" id="{54fa6571-f812-009f-e314-9421ff619d13}">
          <p14:sldIdLst>
            <p14:sldId id="261"/>
            <p14:sldId id="262"/>
            <p14:sldId id="263"/>
            <p14:sldId id="264"/>
            <p14:sldId id="265"/>
            <p14:sldId id="266"/>
            <p14:sldId id="267"/>
          </p14:sldIdLst>
        </p14:section>
        <p14:section name="Real-world uses" id="{d4f636a4-99f7-973b-0197-b876fdfd5195}">
          <p14:sldIdLst>
            <p14:sldId id="268"/>
            <p14:sldId id="269"/>
            <p14:sldId id="270"/>
          </p14:sldIdLst>
        </p14:section>
        <p14:section name="Implementation" id="{3043db1e-ad84-42fc-6a44-59c562b044bd}">
          <p14:sldIdLst>
            <p14:sldId id="271"/>
            <p14:sldId id="272"/>
            <p14:sldId id="273"/>
            <p14:sldId id="274"/>
          </p14:sldIdLst>
        </p14:section>
        <p14:section name="Practice" id="{2cc81959-a346-5724-9cbd-54f8d8462c84}">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how students would arrange a shuffled pile of answer sheets by roll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same five numbers on the board and ask students to arrange them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for one more everyday example of sorted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search only works on sorted data. That alone makes sorting worth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are clear on 'pass' and 'stable'. Both come up again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five students of different heights to act out one pass in front of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the board, one comparison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pass 3 made no swaps. That leads into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if the input is already sorted? One pass, zero swaps,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n(n − 1)/2 back to the 10 comparisons in the dry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but slow: that trade-off is the key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students: bubble sort is mainly a learning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height activity works well as a live demo before showing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two loops slowly. Ask why the inner loop stops at n − 1 −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program in class and compare its output with the dry run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swap-without-temp bug on the board with two values; students remember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orally; reveal answers after students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1 and 2 suit a short lab; 3 to 5 make a good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under two minutes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949440" cy="14630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611880"/>
            <a:ext cx="6949440" cy="1097280"/>
          </a:xfrm>
          <a:prstGeom prst="rect">
            <a:avLst/>
          </a:prstGeom>
          <a:noFill/>
          <a:ln/>
        </p:spPr>
        <p:txBody>
          <a:bodyPr wrap="square" rtlCol="0"/>
          <a:lstStyle>
            <a:lvl1pPr algn="l" indent="0" marL="0">
              <a:buNone/>
              <a:defRPr lang="en-US" sz="220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rtlCol="0"/>
          <a:lstStyle>
            <a:lvl1pPr algn="l" indent="0" marL="0">
              <a:buNone/>
              <a:defRPr lang="en-US" sz="6000" b="1" dirty="0">
                <a:solidFill>
                  <a:schemeClr val="accent2"/>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title" hasCustomPrompt="1"/>
          </p:nvPr>
        </p:nvSpPr>
        <p:spPr>
          <a:xfrm>
            <a:off x="548640" y="2926080"/>
            <a:ext cx="100584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4023360"/>
            <a:ext cx="10058400" cy="731520"/>
          </a:xfrm>
          <a:prstGeom prst="rect">
            <a:avLst/>
          </a:prstGeom>
          <a:noFill/>
          <a:ln/>
        </p:spPr>
        <p:txBody>
          <a:bodyPr wrap="square" rtlCol="0"/>
          <a:lstStyle>
            <a:lvl1pPr algn="l" indent="0" marL="0">
              <a:buNone/>
              <a:defRPr lang="en-US" sz="2000" dirty="0">
                <a:solidFill>
                  <a:srgbClr val="CADCE0"/>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mmary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0972800" cy="9144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949440" cy="146304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Bubble Sort in C</a:t>
            </a:r>
            <a:endParaRPr lang="en-US" sz="5400" dirty="0"/>
          </a:p>
        </p:txBody>
      </p:sp>
      <p:sp>
        <p:nvSpPr>
          <p:cNvPr id="3" name="Text 0"/>
          <p:cNvSpPr/>
          <p:nvPr>
            <p:ph idx="101" type="body" hasCustomPrompt="1"/>
          </p:nvPr>
        </p:nvSpPr>
        <p:spPr>
          <a:xfrm>
            <a:off x="548640" y="3611880"/>
            <a:ext cx="6949440" cy="1097280"/>
          </a:xfrm>
          <a:prstGeom prst="rect">
            <a:avLst/>
          </a:prstGeom>
          <a:noFill/>
          <a:ln/>
        </p:spPr>
        <p:txBody>
          <a:bodyPr wrap="square" lIns="0" tIns="0" rIns="0" bIns="0" rtlCol="0" anchor="t"/>
          <a:lstStyle/>
          <a:p>
            <a:pPr algn="l" indent="0" marL="0">
              <a:buNone/>
            </a:pPr>
            <a:r>
              <a:rPr lang="en-US" sz="2200" dirty="0">
                <a:solidFill>
                  <a:schemeClr val="accent2"/>
                </a:solidFill>
                <a:latin typeface="Calibri" pitchFamily="34" charset="0"/>
                <a:ea typeface="Calibri" pitchFamily="34" charset="-122"/>
                <a:cs typeface="Calibri" pitchFamily="34" charset="-120"/>
              </a:rPr>
              <a:t>Sorting fundamentals: compare neighbours, swap, repeat</a:t>
            </a:r>
            <a:endParaRPr lang="en-US" sz="2200" dirty="0"/>
          </a:p>
        </p:txBody>
      </p:sp>
      <p:sp>
        <p:nvSpPr>
          <p:cNvPr id="4" name="Shape 2"/>
          <p:cNvSpPr/>
          <p:nvPr/>
        </p:nvSpPr>
        <p:spPr>
          <a:xfrm>
            <a:off x="8138160" y="3886200"/>
            <a:ext cx="548640" cy="320040"/>
          </a:xfrm>
          <a:prstGeom prst="roundRect">
            <a:avLst>
              <a:gd name="adj" fmla="val 17143"/>
            </a:avLst>
          </a:prstGeom>
          <a:solidFill>
            <a:schemeClr val="accent1"/>
          </a:solidFill>
          <a:ln w="12700">
            <a:solidFill>
              <a:schemeClr val="accent1"/>
            </a:solidFill>
            <a:prstDash val="solid"/>
          </a:ln>
        </p:spPr>
      </p:sp>
      <p:sp>
        <p:nvSpPr>
          <p:cNvPr id="5" name="Text 3"/>
          <p:cNvSpPr txBox="1"/>
          <p:nvPr/>
        </p:nvSpPr>
        <p:spPr>
          <a:xfrm>
            <a:off x="8138160" y="4297680"/>
            <a:ext cx="548640" cy="320040"/>
          </a:xfrm>
          <a:prstGeom prst="rect">
            <a:avLst/>
          </a:prstGeom>
          <a:noFill/>
          <a:ln/>
        </p:spPr>
        <p:txBody>
          <a:bodyPr wrap="square" lIns="0" tIns="0" rIns="0" bIns="0" rtlCol="0" anchor="t"/>
          <a:lstStyle/>
          <a:p>
            <a:pPr algn="ctr" indent="0" marL="0">
              <a:buNone/>
            </a:pPr>
            <a:r>
              <a:rPr lang="en-US" sz="1400" b="1" dirty="0">
                <a:solidFill>
                  <a:srgbClr val="CADCE0"/>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8823960" y="3566160"/>
            <a:ext cx="548640" cy="640080"/>
          </a:xfrm>
          <a:prstGeom prst="roundRect">
            <a:avLst>
              <a:gd name="adj" fmla="val 10000"/>
            </a:avLst>
          </a:prstGeom>
          <a:solidFill>
            <a:schemeClr val="accent1"/>
          </a:solidFill>
          <a:ln w="12700">
            <a:solidFill>
              <a:schemeClr val="accent1"/>
            </a:solidFill>
            <a:prstDash val="solid"/>
          </a:ln>
        </p:spPr>
      </p:sp>
      <p:sp>
        <p:nvSpPr>
          <p:cNvPr id="7" name="Text 5"/>
          <p:cNvSpPr txBox="1"/>
          <p:nvPr/>
        </p:nvSpPr>
        <p:spPr>
          <a:xfrm>
            <a:off x="8823960" y="4297680"/>
            <a:ext cx="548640" cy="320040"/>
          </a:xfrm>
          <a:prstGeom prst="rect">
            <a:avLst/>
          </a:prstGeom>
          <a:noFill/>
          <a:ln/>
        </p:spPr>
        <p:txBody>
          <a:bodyPr wrap="square" lIns="0" tIns="0" rIns="0" bIns="0" rtlCol="0" anchor="t"/>
          <a:lstStyle/>
          <a:p>
            <a:pPr algn="ctr" indent="0" marL="0">
              <a:buNone/>
            </a:pPr>
            <a:r>
              <a:rPr lang="en-US" sz="1400" b="1" dirty="0">
                <a:solidFill>
                  <a:srgbClr val="CADCE0"/>
                </a:solidFill>
                <a:latin typeface="Calibri" pitchFamily="34" charset="0"/>
                <a:ea typeface="Calibri" pitchFamily="34" charset="-122"/>
                <a:cs typeface="Calibri" pitchFamily="34" charset="-120"/>
              </a:rPr>
              <a:t>2</a:t>
            </a:r>
            <a:endParaRPr lang="en-US" sz="1400" dirty="0"/>
          </a:p>
        </p:txBody>
      </p:sp>
      <p:sp>
        <p:nvSpPr>
          <p:cNvPr id="8" name="Shape 6"/>
          <p:cNvSpPr/>
          <p:nvPr/>
        </p:nvSpPr>
        <p:spPr>
          <a:xfrm>
            <a:off x="9509760" y="2926080"/>
            <a:ext cx="548640" cy="1280160"/>
          </a:xfrm>
          <a:prstGeom prst="roundRect">
            <a:avLst>
              <a:gd name="adj" fmla="val 10000"/>
            </a:avLst>
          </a:prstGeom>
          <a:solidFill>
            <a:schemeClr val="accent1"/>
          </a:solidFill>
          <a:ln w="12700">
            <a:solidFill>
              <a:schemeClr val="accent1"/>
            </a:solidFill>
            <a:prstDash val="solid"/>
          </a:ln>
        </p:spPr>
      </p:sp>
      <p:sp>
        <p:nvSpPr>
          <p:cNvPr id="9" name="Text 7"/>
          <p:cNvSpPr txBox="1"/>
          <p:nvPr/>
        </p:nvSpPr>
        <p:spPr>
          <a:xfrm>
            <a:off x="9509760" y="4297680"/>
            <a:ext cx="548640" cy="320040"/>
          </a:xfrm>
          <a:prstGeom prst="rect">
            <a:avLst/>
          </a:prstGeom>
          <a:noFill/>
          <a:ln/>
        </p:spPr>
        <p:txBody>
          <a:bodyPr wrap="square" lIns="0" tIns="0" rIns="0" bIns="0" rtlCol="0" anchor="t"/>
          <a:lstStyle/>
          <a:p>
            <a:pPr algn="ctr" indent="0" marL="0">
              <a:buNone/>
            </a:pPr>
            <a:r>
              <a:rPr lang="en-US" sz="1400" b="1" dirty="0">
                <a:solidFill>
                  <a:srgbClr val="CADCE0"/>
                </a:solidFill>
                <a:latin typeface="Calibri" pitchFamily="34" charset="0"/>
                <a:ea typeface="Calibri" pitchFamily="34" charset="-122"/>
                <a:cs typeface="Calibri" pitchFamily="34" charset="-120"/>
              </a:rPr>
              <a:t>4</a:t>
            </a:r>
            <a:endParaRPr lang="en-US" sz="1400" dirty="0"/>
          </a:p>
        </p:txBody>
      </p:sp>
      <p:sp>
        <p:nvSpPr>
          <p:cNvPr id="10" name="Shape 8"/>
          <p:cNvSpPr/>
          <p:nvPr/>
        </p:nvSpPr>
        <p:spPr>
          <a:xfrm>
            <a:off x="10195560" y="2606040"/>
            <a:ext cx="548640" cy="1600200"/>
          </a:xfrm>
          <a:prstGeom prst="roundRect">
            <a:avLst>
              <a:gd name="adj" fmla="val 10000"/>
            </a:avLst>
          </a:prstGeom>
          <a:solidFill>
            <a:schemeClr val="accent1"/>
          </a:solidFill>
          <a:ln w="12700">
            <a:solidFill>
              <a:schemeClr val="accent1"/>
            </a:solidFill>
            <a:prstDash val="solid"/>
          </a:ln>
        </p:spPr>
      </p:sp>
      <p:sp>
        <p:nvSpPr>
          <p:cNvPr id="11" name="Text 9"/>
          <p:cNvSpPr txBox="1"/>
          <p:nvPr/>
        </p:nvSpPr>
        <p:spPr>
          <a:xfrm>
            <a:off x="10195560" y="4297680"/>
            <a:ext cx="548640" cy="320040"/>
          </a:xfrm>
          <a:prstGeom prst="rect">
            <a:avLst/>
          </a:prstGeom>
          <a:noFill/>
          <a:ln/>
        </p:spPr>
        <p:txBody>
          <a:bodyPr wrap="square" lIns="0" tIns="0" rIns="0" bIns="0" rtlCol="0" anchor="t"/>
          <a:lstStyle/>
          <a:p>
            <a:pPr algn="ctr" indent="0" marL="0">
              <a:buNone/>
            </a:pPr>
            <a:r>
              <a:rPr lang="en-US" sz="1400" b="1" dirty="0">
                <a:solidFill>
                  <a:srgbClr val="CADCE0"/>
                </a:solidFill>
                <a:latin typeface="Calibri" pitchFamily="34" charset="0"/>
                <a:ea typeface="Calibri" pitchFamily="34" charset="-122"/>
                <a:cs typeface="Calibri" pitchFamily="34" charset="-120"/>
              </a:rPr>
              <a:t>5</a:t>
            </a:r>
            <a:endParaRPr lang="en-US" sz="1400" dirty="0"/>
          </a:p>
        </p:txBody>
      </p:sp>
      <p:sp>
        <p:nvSpPr>
          <p:cNvPr id="12" name="Shape 10"/>
          <p:cNvSpPr/>
          <p:nvPr/>
        </p:nvSpPr>
        <p:spPr>
          <a:xfrm>
            <a:off x="10881360" y="1645920"/>
            <a:ext cx="548640" cy="2560320"/>
          </a:xfrm>
          <a:prstGeom prst="roundRect">
            <a:avLst>
              <a:gd name="adj" fmla="val 10000"/>
            </a:avLst>
          </a:prstGeom>
          <a:solidFill>
            <a:schemeClr val="accent2"/>
          </a:solidFill>
          <a:ln w="12700">
            <a:solidFill>
              <a:schemeClr val="accent2"/>
            </a:solidFill>
            <a:prstDash val="solid"/>
          </a:ln>
        </p:spPr>
      </p:sp>
      <p:sp>
        <p:nvSpPr>
          <p:cNvPr id="13" name="Text 11"/>
          <p:cNvSpPr txBox="1"/>
          <p:nvPr/>
        </p:nvSpPr>
        <p:spPr>
          <a:xfrm>
            <a:off x="10881360" y="4297680"/>
            <a:ext cx="548640" cy="320040"/>
          </a:xfrm>
          <a:prstGeom prst="rect">
            <a:avLst/>
          </a:prstGeom>
          <a:noFill/>
          <a:ln/>
        </p:spPr>
        <p:txBody>
          <a:bodyPr wrap="square" lIns="0" tIns="0" rIns="0" bIns="0" rtlCol="0" anchor="t"/>
          <a:lstStyle/>
          <a:p>
            <a:pPr algn="ctr" indent="0" marL="0">
              <a:buNone/>
            </a:pPr>
            <a:r>
              <a:rPr lang="en-US" sz="1400" b="1" dirty="0">
                <a:solidFill>
                  <a:srgbClr val="CADCE0"/>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Sorting arranges data in order</a:t>
            </a:r>
            <a:endParaRPr lang="en-US" sz="3600" dirty="0"/>
          </a:p>
        </p:txBody>
      </p:sp>
      <p:sp>
        <p:nvSpPr>
          <p:cNvPr id="3" name="Text 1"/>
          <p:cNvSpPr txBox="1"/>
          <p:nvPr/>
        </p:nvSpPr>
        <p:spPr>
          <a:xfrm>
            <a:off x="548640" y="1371600"/>
            <a:ext cx="10972800" cy="8229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Sorting is the process of arranging data in a particular order, usually </a:t>
            </a:r>
            <a:pPr indent="0" marL="0">
              <a:buNone/>
            </a:pPr>
            <a:r>
              <a:rPr lang="en-US" sz="2000" b="1" dirty="0">
                <a:solidFill>
                  <a:schemeClr val="accent1"/>
                </a:solidFill>
                <a:latin typeface="Calibri" pitchFamily="34" charset="0"/>
                <a:ea typeface="Calibri" pitchFamily="34" charset="-122"/>
                <a:cs typeface="Calibri" pitchFamily="34" charset="-120"/>
              </a:rPr>
              <a:t>ascending</a:t>
            </a:r>
            <a:pPr indent="0" marL="0">
              <a:buNone/>
            </a:pPr>
            <a:r>
              <a:rPr lang="en-US" sz="2000" dirty="0">
                <a:solidFill>
                  <a:schemeClr val="tx1"/>
                </a:solidFill>
                <a:latin typeface="Calibri" pitchFamily="34" charset="0"/>
                <a:ea typeface="Calibri" pitchFamily="34" charset="-122"/>
                <a:cs typeface="Calibri" pitchFamily="34" charset="-120"/>
              </a:rPr>
              <a:t> (smallest to largest) or </a:t>
            </a:r>
            <a:pPr indent="0" marL="0">
              <a:buNone/>
            </a:pPr>
            <a:r>
              <a:rPr lang="en-US" sz="2000" b="1" dirty="0">
                <a:solidFill>
                  <a:schemeClr val="accent3"/>
                </a:solidFill>
                <a:latin typeface="Calibri" pitchFamily="34" charset="0"/>
                <a:ea typeface="Calibri" pitchFamily="34" charset="-122"/>
                <a:cs typeface="Calibri" pitchFamily="34" charset="-120"/>
              </a:rPr>
              <a:t>descending</a:t>
            </a:r>
            <a:pPr indent="0" marL="0">
              <a:buNone/>
            </a:pPr>
            <a:r>
              <a:rPr lang="en-US" sz="2000" dirty="0">
                <a:solidFill>
                  <a:schemeClr val="tx1"/>
                </a:solidFill>
                <a:latin typeface="Calibri" pitchFamily="34" charset="0"/>
                <a:ea typeface="Calibri" pitchFamily="34" charset="-122"/>
                <a:cs typeface="Calibri" pitchFamily="34" charset="-120"/>
              </a:rPr>
              <a:t> (largest to smallest).</a:t>
            </a:r>
            <a:endParaRPr lang="en-US" sz="2000" dirty="0"/>
          </a:p>
        </p:txBody>
      </p:sp>
      <p:sp>
        <p:nvSpPr>
          <p:cNvPr id="4" name="Text 2"/>
          <p:cNvSpPr txBox="1"/>
          <p:nvPr/>
        </p:nvSpPr>
        <p:spPr>
          <a:xfrm>
            <a:off x="548640" y="2514600"/>
            <a:ext cx="237744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Before sorting</a:t>
            </a:r>
            <a:endParaRPr lang="en-US" sz="1800" dirty="0"/>
          </a:p>
        </p:txBody>
      </p:sp>
      <p:sp>
        <p:nvSpPr>
          <p:cNvPr id="5" name="Shape 3"/>
          <p:cNvSpPr/>
          <p:nvPr/>
        </p:nvSpPr>
        <p:spPr>
          <a:xfrm>
            <a:off x="3017520" y="2514600"/>
            <a:ext cx="731520" cy="685800"/>
          </a:xfrm>
          <a:prstGeom prst="roundRect">
            <a:avLst>
              <a:gd name="adj" fmla="val 10667"/>
            </a:avLst>
          </a:prstGeom>
          <a:solidFill>
            <a:schemeClr val="accent1"/>
          </a:solidFill>
          <a:ln w="12700">
            <a:solidFill>
              <a:schemeClr val="accent1"/>
            </a:solidFill>
            <a:prstDash val="solid"/>
          </a:ln>
        </p:spPr>
      </p:sp>
      <p:sp>
        <p:nvSpPr>
          <p:cNvPr id="6" name="Text 4"/>
          <p:cNvSpPr txBox="1"/>
          <p:nvPr/>
        </p:nvSpPr>
        <p:spPr>
          <a:xfrm>
            <a:off x="3017520" y="251460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7" name="Shape 5"/>
          <p:cNvSpPr/>
          <p:nvPr/>
        </p:nvSpPr>
        <p:spPr>
          <a:xfrm>
            <a:off x="3840480" y="2514600"/>
            <a:ext cx="731520" cy="685800"/>
          </a:xfrm>
          <a:prstGeom prst="roundRect">
            <a:avLst>
              <a:gd name="adj" fmla="val 10667"/>
            </a:avLst>
          </a:prstGeom>
          <a:solidFill>
            <a:schemeClr val="accent1"/>
          </a:solidFill>
          <a:ln w="12700">
            <a:solidFill>
              <a:schemeClr val="accent1"/>
            </a:solidFill>
            <a:prstDash val="solid"/>
          </a:ln>
        </p:spPr>
      </p:sp>
      <p:sp>
        <p:nvSpPr>
          <p:cNvPr id="8" name="Text 6"/>
          <p:cNvSpPr txBox="1"/>
          <p:nvPr/>
        </p:nvSpPr>
        <p:spPr>
          <a:xfrm>
            <a:off x="3840480" y="251460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9" name="Shape 7"/>
          <p:cNvSpPr/>
          <p:nvPr/>
        </p:nvSpPr>
        <p:spPr>
          <a:xfrm>
            <a:off x="4663440" y="2514600"/>
            <a:ext cx="731520" cy="685800"/>
          </a:xfrm>
          <a:prstGeom prst="roundRect">
            <a:avLst>
              <a:gd name="adj" fmla="val 10667"/>
            </a:avLst>
          </a:prstGeom>
          <a:solidFill>
            <a:schemeClr val="accent1"/>
          </a:solidFill>
          <a:ln w="12700">
            <a:solidFill>
              <a:schemeClr val="accent1"/>
            </a:solidFill>
            <a:prstDash val="solid"/>
          </a:ln>
        </p:spPr>
      </p:sp>
      <p:sp>
        <p:nvSpPr>
          <p:cNvPr id="10" name="Text 8"/>
          <p:cNvSpPr txBox="1"/>
          <p:nvPr/>
        </p:nvSpPr>
        <p:spPr>
          <a:xfrm>
            <a:off x="4663440" y="251460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11" name="Shape 9"/>
          <p:cNvSpPr/>
          <p:nvPr/>
        </p:nvSpPr>
        <p:spPr>
          <a:xfrm>
            <a:off x="5486400" y="2514600"/>
            <a:ext cx="731520" cy="685800"/>
          </a:xfrm>
          <a:prstGeom prst="roundRect">
            <a:avLst>
              <a:gd name="adj" fmla="val 10667"/>
            </a:avLst>
          </a:prstGeom>
          <a:solidFill>
            <a:schemeClr val="accent1"/>
          </a:solidFill>
          <a:ln w="12700">
            <a:solidFill>
              <a:schemeClr val="accent1"/>
            </a:solidFill>
            <a:prstDash val="solid"/>
          </a:ln>
        </p:spPr>
      </p:sp>
      <p:sp>
        <p:nvSpPr>
          <p:cNvPr id="12" name="Text 10"/>
          <p:cNvSpPr txBox="1"/>
          <p:nvPr/>
        </p:nvSpPr>
        <p:spPr>
          <a:xfrm>
            <a:off x="5486400" y="251460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3" name="Shape 11"/>
          <p:cNvSpPr/>
          <p:nvPr/>
        </p:nvSpPr>
        <p:spPr>
          <a:xfrm>
            <a:off x="6309360" y="2514600"/>
            <a:ext cx="731520" cy="685800"/>
          </a:xfrm>
          <a:prstGeom prst="roundRect">
            <a:avLst>
              <a:gd name="adj" fmla="val 10667"/>
            </a:avLst>
          </a:prstGeom>
          <a:solidFill>
            <a:schemeClr val="accent1"/>
          </a:solidFill>
          <a:ln w="12700">
            <a:solidFill>
              <a:schemeClr val="accent1"/>
            </a:solidFill>
            <a:prstDash val="solid"/>
          </a:ln>
        </p:spPr>
      </p:sp>
      <p:sp>
        <p:nvSpPr>
          <p:cNvPr id="14" name="Text 12"/>
          <p:cNvSpPr txBox="1"/>
          <p:nvPr/>
        </p:nvSpPr>
        <p:spPr>
          <a:xfrm>
            <a:off x="6309360" y="251460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15" name="Text 13"/>
          <p:cNvSpPr txBox="1"/>
          <p:nvPr/>
        </p:nvSpPr>
        <p:spPr>
          <a:xfrm>
            <a:off x="548640" y="3383280"/>
            <a:ext cx="237744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Ascending</a:t>
            </a:r>
            <a:endParaRPr lang="en-US" sz="1800" dirty="0"/>
          </a:p>
        </p:txBody>
      </p:sp>
      <p:sp>
        <p:nvSpPr>
          <p:cNvPr id="16" name="Shape 14"/>
          <p:cNvSpPr/>
          <p:nvPr/>
        </p:nvSpPr>
        <p:spPr>
          <a:xfrm>
            <a:off x="3017520" y="3383280"/>
            <a:ext cx="731520" cy="685800"/>
          </a:xfrm>
          <a:prstGeom prst="roundRect">
            <a:avLst>
              <a:gd name="adj" fmla="val 10667"/>
            </a:avLst>
          </a:prstGeom>
          <a:solidFill>
            <a:schemeClr val="accent1"/>
          </a:solidFill>
          <a:ln w="12700">
            <a:solidFill>
              <a:schemeClr val="accent1"/>
            </a:solidFill>
            <a:prstDash val="solid"/>
          </a:ln>
        </p:spPr>
      </p:sp>
      <p:sp>
        <p:nvSpPr>
          <p:cNvPr id="17" name="Text 15"/>
          <p:cNvSpPr txBox="1"/>
          <p:nvPr/>
        </p:nvSpPr>
        <p:spPr>
          <a:xfrm>
            <a:off x="3017520" y="338328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18" name="Shape 16"/>
          <p:cNvSpPr/>
          <p:nvPr/>
        </p:nvSpPr>
        <p:spPr>
          <a:xfrm>
            <a:off x="3840480" y="3383280"/>
            <a:ext cx="731520" cy="685800"/>
          </a:xfrm>
          <a:prstGeom prst="roundRect">
            <a:avLst>
              <a:gd name="adj" fmla="val 10667"/>
            </a:avLst>
          </a:prstGeom>
          <a:solidFill>
            <a:schemeClr val="accent1"/>
          </a:solidFill>
          <a:ln w="12700">
            <a:solidFill>
              <a:schemeClr val="accent1"/>
            </a:solidFill>
            <a:prstDash val="solid"/>
          </a:ln>
        </p:spPr>
      </p:sp>
      <p:sp>
        <p:nvSpPr>
          <p:cNvPr id="19" name="Text 17"/>
          <p:cNvSpPr txBox="1"/>
          <p:nvPr/>
        </p:nvSpPr>
        <p:spPr>
          <a:xfrm>
            <a:off x="3840480" y="338328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20" name="Shape 18"/>
          <p:cNvSpPr/>
          <p:nvPr/>
        </p:nvSpPr>
        <p:spPr>
          <a:xfrm>
            <a:off x="4663440" y="3383280"/>
            <a:ext cx="731520" cy="685800"/>
          </a:xfrm>
          <a:prstGeom prst="roundRect">
            <a:avLst>
              <a:gd name="adj" fmla="val 10667"/>
            </a:avLst>
          </a:prstGeom>
          <a:solidFill>
            <a:schemeClr val="accent1"/>
          </a:solidFill>
          <a:ln w="12700">
            <a:solidFill>
              <a:schemeClr val="accent1"/>
            </a:solidFill>
            <a:prstDash val="solid"/>
          </a:ln>
        </p:spPr>
      </p:sp>
      <p:sp>
        <p:nvSpPr>
          <p:cNvPr id="21" name="Text 19"/>
          <p:cNvSpPr txBox="1"/>
          <p:nvPr/>
        </p:nvSpPr>
        <p:spPr>
          <a:xfrm>
            <a:off x="4663440" y="338328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2" name="Shape 20"/>
          <p:cNvSpPr/>
          <p:nvPr/>
        </p:nvSpPr>
        <p:spPr>
          <a:xfrm>
            <a:off x="5486400" y="3383280"/>
            <a:ext cx="731520" cy="685800"/>
          </a:xfrm>
          <a:prstGeom prst="roundRect">
            <a:avLst>
              <a:gd name="adj" fmla="val 10667"/>
            </a:avLst>
          </a:prstGeom>
          <a:solidFill>
            <a:schemeClr val="accent1"/>
          </a:solidFill>
          <a:ln w="12700">
            <a:solidFill>
              <a:schemeClr val="accent1"/>
            </a:solidFill>
            <a:prstDash val="solid"/>
          </a:ln>
        </p:spPr>
      </p:sp>
      <p:sp>
        <p:nvSpPr>
          <p:cNvPr id="23" name="Text 21"/>
          <p:cNvSpPr txBox="1"/>
          <p:nvPr/>
        </p:nvSpPr>
        <p:spPr>
          <a:xfrm>
            <a:off x="5486400" y="338328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24" name="Shape 22"/>
          <p:cNvSpPr/>
          <p:nvPr/>
        </p:nvSpPr>
        <p:spPr>
          <a:xfrm>
            <a:off x="6309360" y="3383280"/>
            <a:ext cx="731520" cy="685800"/>
          </a:xfrm>
          <a:prstGeom prst="roundRect">
            <a:avLst>
              <a:gd name="adj" fmla="val 10667"/>
            </a:avLst>
          </a:prstGeom>
          <a:solidFill>
            <a:schemeClr val="accent1"/>
          </a:solidFill>
          <a:ln w="12700">
            <a:solidFill>
              <a:schemeClr val="accent1"/>
            </a:solidFill>
            <a:prstDash val="solid"/>
          </a:ln>
        </p:spPr>
      </p:sp>
      <p:sp>
        <p:nvSpPr>
          <p:cNvPr id="25" name="Text 23"/>
          <p:cNvSpPr txBox="1"/>
          <p:nvPr/>
        </p:nvSpPr>
        <p:spPr>
          <a:xfrm>
            <a:off x="6309360" y="338328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26" name="Text 24"/>
          <p:cNvSpPr txBox="1"/>
          <p:nvPr/>
        </p:nvSpPr>
        <p:spPr>
          <a:xfrm>
            <a:off x="548640" y="4251960"/>
            <a:ext cx="237744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Descending</a:t>
            </a:r>
            <a:endParaRPr lang="en-US" sz="1800" dirty="0"/>
          </a:p>
        </p:txBody>
      </p:sp>
      <p:sp>
        <p:nvSpPr>
          <p:cNvPr id="27" name="Shape 25"/>
          <p:cNvSpPr/>
          <p:nvPr/>
        </p:nvSpPr>
        <p:spPr>
          <a:xfrm>
            <a:off x="3017520" y="4251960"/>
            <a:ext cx="731520" cy="685800"/>
          </a:xfrm>
          <a:prstGeom prst="roundRect">
            <a:avLst>
              <a:gd name="adj" fmla="val 10667"/>
            </a:avLst>
          </a:prstGeom>
          <a:solidFill>
            <a:schemeClr val="accent1"/>
          </a:solidFill>
          <a:ln w="12700">
            <a:solidFill>
              <a:schemeClr val="accent1"/>
            </a:solidFill>
            <a:prstDash val="solid"/>
          </a:ln>
        </p:spPr>
      </p:sp>
      <p:sp>
        <p:nvSpPr>
          <p:cNvPr id="28" name="Text 26"/>
          <p:cNvSpPr txBox="1"/>
          <p:nvPr/>
        </p:nvSpPr>
        <p:spPr>
          <a:xfrm>
            <a:off x="3017520" y="425196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29" name="Shape 27"/>
          <p:cNvSpPr/>
          <p:nvPr/>
        </p:nvSpPr>
        <p:spPr>
          <a:xfrm>
            <a:off x="3840480" y="4251960"/>
            <a:ext cx="731520" cy="685800"/>
          </a:xfrm>
          <a:prstGeom prst="roundRect">
            <a:avLst>
              <a:gd name="adj" fmla="val 10667"/>
            </a:avLst>
          </a:prstGeom>
          <a:solidFill>
            <a:schemeClr val="accent1"/>
          </a:solidFill>
          <a:ln w="12700">
            <a:solidFill>
              <a:schemeClr val="accent1"/>
            </a:solidFill>
            <a:prstDash val="solid"/>
          </a:ln>
        </p:spPr>
      </p:sp>
      <p:sp>
        <p:nvSpPr>
          <p:cNvPr id="30" name="Text 28"/>
          <p:cNvSpPr txBox="1"/>
          <p:nvPr/>
        </p:nvSpPr>
        <p:spPr>
          <a:xfrm>
            <a:off x="3840480" y="425196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31" name="Shape 29"/>
          <p:cNvSpPr/>
          <p:nvPr/>
        </p:nvSpPr>
        <p:spPr>
          <a:xfrm>
            <a:off x="4663440" y="4251960"/>
            <a:ext cx="731520" cy="685800"/>
          </a:xfrm>
          <a:prstGeom prst="roundRect">
            <a:avLst>
              <a:gd name="adj" fmla="val 10667"/>
            </a:avLst>
          </a:prstGeom>
          <a:solidFill>
            <a:schemeClr val="accent1"/>
          </a:solidFill>
          <a:ln w="12700">
            <a:solidFill>
              <a:schemeClr val="accent1"/>
            </a:solidFill>
            <a:prstDash val="solid"/>
          </a:ln>
        </p:spPr>
      </p:sp>
      <p:sp>
        <p:nvSpPr>
          <p:cNvPr id="32" name="Text 30"/>
          <p:cNvSpPr txBox="1"/>
          <p:nvPr/>
        </p:nvSpPr>
        <p:spPr>
          <a:xfrm>
            <a:off x="4663440" y="425196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33" name="Shape 31"/>
          <p:cNvSpPr/>
          <p:nvPr/>
        </p:nvSpPr>
        <p:spPr>
          <a:xfrm>
            <a:off x="5486400" y="4251960"/>
            <a:ext cx="731520" cy="685800"/>
          </a:xfrm>
          <a:prstGeom prst="roundRect">
            <a:avLst>
              <a:gd name="adj" fmla="val 10667"/>
            </a:avLst>
          </a:prstGeom>
          <a:solidFill>
            <a:schemeClr val="accent1"/>
          </a:solidFill>
          <a:ln w="12700">
            <a:solidFill>
              <a:schemeClr val="accent1"/>
            </a:solidFill>
            <a:prstDash val="solid"/>
          </a:ln>
        </p:spPr>
      </p:sp>
      <p:sp>
        <p:nvSpPr>
          <p:cNvPr id="34" name="Text 32"/>
          <p:cNvSpPr txBox="1"/>
          <p:nvPr/>
        </p:nvSpPr>
        <p:spPr>
          <a:xfrm>
            <a:off x="5486400" y="425196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35" name="Shape 33"/>
          <p:cNvSpPr/>
          <p:nvPr/>
        </p:nvSpPr>
        <p:spPr>
          <a:xfrm>
            <a:off x="6309360" y="4251960"/>
            <a:ext cx="731520" cy="685800"/>
          </a:xfrm>
          <a:prstGeom prst="roundRect">
            <a:avLst>
              <a:gd name="adj" fmla="val 10667"/>
            </a:avLst>
          </a:prstGeom>
          <a:solidFill>
            <a:schemeClr val="accent1"/>
          </a:solidFill>
          <a:ln w="12700">
            <a:solidFill>
              <a:schemeClr val="accent1"/>
            </a:solidFill>
            <a:prstDash val="solid"/>
          </a:ln>
        </p:spPr>
      </p:sp>
      <p:sp>
        <p:nvSpPr>
          <p:cNvPr id="36" name="Text 34"/>
          <p:cNvSpPr txBox="1"/>
          <p:nvPr/>
        </p:nvSpPr>
        <p:spPr>
          <a:xfrm>
            <a:off x="6309360" y="4251960"/>
            <a:ext cx="73152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37" name="names example"/>
          <p:cNvSpPr/>
          <p:nvPr/>
        </p:nvSpPr>
        <p:spPr>
          <a:xfrm>
            <a:off x="7315200" y="2514600"/>
            <a:ext cx="4325112" cy="2423160"/>
          </a:xfrm>
          <a:prstGeom prst="roundRect">
            <a:avLst>
              <a:gd name="adj" fmla="val 4528"/>
            </a:avLst>
          </a:prstGeom>
          <a:solidFill>
            <a:schemeClr val="bg2"/>
          </a:solidFill>
          <a:ln w="12700">
            <a:solidFill>
              <a:schemeClr val="bg2"/>
            </a:solidFill>
            <a:prstDash val="solid"/>
          </a:ln>
        </p:spPr>
      </p:sp>
      <p:sp>
        <p:nvSpPr>
          <p:cNvPr id="38" name="Text 36"/>
          <p:cNvSpPr txBox="1"/>
          <p:nvPr/>
        </p:nvSpPr>
        <p:spPr>
          <a:xfrm>
            <a:off x="7589520" y="2697480"/>
            <a:ext cx="384048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Works for names too</a:t>
            </a:r>
            <a:endParaRPr lang="en-US" sz="1700" dirty="0"/>
          </a:p>
        </p:txBody>
      </p:sp>
      <p:sp>
        <p:nvSpPr>
          <p:cNvPr id="39" name="Text 37"/>
          <p:cNvSpPr txBox="1"/>
          <p:nvPr/>
        </p:nvSpPr>
        <p:spPr>
          <a:xfrm>
            <a:off x="7589520" y="3154680"/>
            <a:ext cx="3840480" cy="1188720"/>
          </a:xfrm>
          <a:prstGeom prst="rect">
            <a:avLst/>
          </a:prstGeom>
          <a:noFill/>
          <a:ln/>
        </p:spPr>
        <p:txBody>
          <a:bodyPr wrap="square" lIns="0" tIns="0" rIns="0" bIns="0" rtlCol="0" anchor="t"/>
          <a:lstStyle/>
          <a:p>
            <a:pPr indent="0" marL="0">
              <a:spcAft>
                <a:spcPts val="600"/>
              </a:spcAft>
              <a:buNone/>
            </a:pPr>
            <a:r>
              <a:rPr lang="en-US" sz="1600" dirty="0">
                <a:solidFill>
                  <a:schemeClr val="tx1"/>
                </a:solidFill>
                <a:latin typeface="Calibri" pitchFamily="34" charset="0"/>
                <a:ea typeface="Calibri" pitchFamily="34" charset="-122"/>
                <a:cs typeface="Calibri" pitchFamily="34" charset="-120"/>
              </a:rPr>
              <a:t>Ravi, Asha, Meera</a:t>
            </a:r>
            <a:endParaRPr lang="en-US" sz="1600" dirty="0"/>
          </a:p>
          <a:p>
            <a:pPr indent="0" marL="0">
              <a:spcAft>
                <a:spcPts val="600"/>
              </a:spcAft>
              <a:buNone/>
            </a:pPr>
            <a:r>
              <a:rPr lang="en-US" sz="1600" dirty="0">
                <a:solidFill>
                  <a:schemeClr val="accent1"/>
                </a:solidFill>
                <a:latin typeface="Calibri" pitchFamily="34" charset="0"/>
                <a:ea typeface="Calibri" pitchFamily="34" charset="-122"/>
                <a:cs typeface="Calibri" pitchFamily="34" charset="-120"/>
              </a:rPr>
              <a:t>Ascending: Asha, Meera, Ravi</a:t>
            </a:r>
            <a:endParaRPr lang="en-US" sz="1600" dirty="0"/>
          </a:p>
          <a:p>
            <a:pPr indent="0" marL="0">
              <a:spcAft>
                <a:spcPts val="600"/>
              </a:spcAft>
              <a:buNone/>
            </a:pPr>
            <a:r>
              <a:rPr lang="en-US" sz="1600" dirty="0">
                <a:solidFill>
                  <a:schemeClr val="accent3"/>
                </a:solidFill>
                <a:latin typeface="Calibri" pitchFamily="34" charset="0"/>
                <a:ea typeface="Calibri" pitchFamily="34" charset="-122"/>
                <a:cs typeface="Calibri" pitchFamily="34" charset="-120"/>
              </a:rPr>
              <a:t>Descending: Ravi, Meera, Asha</a:t>
            </a:r>
            <a:endParaRPr lang="en-US" sz="1600" dirty="0"/>
          </a:p>
        </p:txBody>
      </p:sp>
      <p:sp>
        <p:nvSpPr>
          <p:cNvPr id="40" name="Text 38"/>
          <p:cNvSpPr txBox="1"/>
          <p:nvPr/>
        </p:nvSpPr>
        <p:spPr>
          <a:xfrm>
            <a:off x="548640" y="5349240"/>
            <a:ext cx="10972800" cy="640080"/>
          </a:xfrm>
          <a:prstGeom prst="rect">
            <a:avLst/>
          </a:prstGeom>
          <a:noFill/>
          <a:ln/>
        </p:spPr>
        <p:txBody>
          <a:bodyPr wrap="square" lIns="0" tIns="0" rIns="0" bIns="0" rtlCol="0" anchor="t"/>
          <a:lstStyle/>
          <a:p>
            <a:pPr indent="0" marL="0">
              <a:buNone/>
            </a:pPr>
            <a:r>
              <a:rPr lang="en-US" sz="1700" dirty="0">
                <a:solidFill>
                  <a:srgbClr val="6B7F8A"/>
                </a:solidFill>
                <a:latin typeface="Calibri" pitchFamily="34" charset="0"/>
                <a:ea typeface="Calibri" pitchFamily="34" charset="-122"/>
                <a:cs typeface="Calibri" pitchFamily="34" charset="-120"/>
              </a:rPr>
              <a:t>We sort numbers by value, names alphabetically, dates by time, and records by any field (marks, price, roll number).</a:t>
            </a:r>
            <a:endParaRPr lang="en-US" sz="17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Sorting in daily life</a:t>
            </a:r>
            <a:endParaRPr lang="en-US" sz="3600" dirty="0"/>
          </a:p>
        </p:txBody>
      </p:sp>
      <p:sp>
        <p:nvSpPr>
          <p:cNvPr id="3" name="Attendance"/>
          <p:cNvSpPr/>
          <p:nvPr/>
        </p:nvSpPr>
        <p:spPr>
          <a:xfrm>
            <a:off x="548640" y="1463040"/>
            <a:ext cx="5303520" cy="2011680"/>
          </a:xfrm>
          <a:prstGeom prst="roundRect">
            <a:avLst>
              <a:gd name="adj" fmla="val 5455"/>
            </a:avLst>
          </a:prstGeom>
          <a:solidFill>
            <a:schemeClr val="bg2"/>
          </a:solidFill>
          <a:ln w="12700">
            <a:solidFill>
              <a:schemeClr val="bg2"/>
            </a:solidFill>
            <a:prstDash val="solid"/>
          </a:ln>
        </p:spPr>
      </p:sp>
      <p:sp>
        <p:nvSpPr>
          <p:cNvPr id="4" name="Shape 2"/>
          <p:cNvSpPr/>
          <p:nvPr/>
        </p:nvSpPr>
        <p:spPr>
          <a:xfrm>
            <a:off x="868680" y="1828800"/>
            <a:ext cx="685800" cy="685800"/>
          </a:xfrm>
          <a:prstGeom prst="ellipse">
            <a:avLst/>
          </a:prstGeom>
          <a:solidFill>
            <a:schemeClr val="accent2"/>
          </a:solidFill>
          <a:ln w="12700">
            <a:solidFill>
              <a:schemeClr val="accent2"/>
            </a:solidFill>
            <a:prstDash val="solid"/>
          </a:ln>
        </p:spPr>
      </p:sp>
      <p:sp>
        <p:nvSpPr>
          <p:cNvPr id="5" name="Text 3"/>
          <p:cNvSpPr txBox="1"/>
          <p:nvPr/>
        </p:nvSpPr>
        <p:spPr>
          <a:xfrm>
            <a:off x="868680" y="18288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783080" y="1828800"/>
            <a:ext cx="384048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Attendance</a:t>
            </a:r>
            <a:endParaRPr lang="en-US" sz="2200" dirty="0"/>
          </a:p>
        </p:txBody>
      </p:sp>
      <p:sp>
        <p:nvSpPr>
          <p:cNvPr id="7" name="Text 5"/>
          <p:cNvSpPr txBox="1"/>
          <p:nvPr/>
        </p:nvSpPr>
        <p:spPr>
          <a:xfrm>
            <a:off x="1783080" y="2606040"/>
            <a:ext cx="3840480" cy="73152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Arranging students by roll number</a:t>
            </a:r>
            <a:endParaRPr lang="en-US" sz="1700" dirty="0"/>
          </a:p>
        </p:txBody>
      </p:sp>
      <p:sp>
        <p:nvSpPr>
          <p:cNvPr id="8" name="Dictionary"/>
          <p:cNvSpPr/>
          <p:nvPr/>
        </p:nvSpPr>
        <p:spPr>
          <a:xfrm>
            <a:off x="6217920" y="1463040"/>
            <a:ext cx="5303520" cy="2011680"/>
          </a:xfrm>
          <a:prstGeom prst="roundRect">
            <a:avLst>
              <a:gd name="adj" fmla="val 5455"/>
            </a:avLst>
          </a:prstGeom>
          <a:solidFill>
            <a:schemeClr val="bg2"/>
          </a:solidFill>
          <a:ln w="12700">
            <a:solidFill>
              <a:schemeClr val="bg2"/>
            </a:solidFill>
            <a:prstDash val="solid"/>
          </a:ln>
        </p:spPr>
      </p:sp>
      <p:sp>
        <p:nvSpPr>
          <p:cNvPr id="9" name="Shape 7"/>
          <p:cNvSpPr/>
          <p:nvPr/>
        </p:nvSpPr>
        <p:spPr>
          <a:xfrm>
            <a:off x="6537960" y="1828800"/>
            <a:ext cx="685800" cy="685800"/>
          </a:xfrm>
          <a:prstGeom prst="ellipse">
            <a:avLst/>
          </a:prstGeom>
          <a:solidFill>
            <a:schemeClr val="accent2"/>
          </a:solidFill>
          <a:ln w="12700">
            <a:solidFill>
              <a:schemeClr val="accent2"/>
            </a:solidFill>
            <a:prstDash val="solid"/>
          </a:ln>
        </p:spPr>
      </p:sp>
      <p:sp>
        <p:nvSpPr>
          <p:cNvPr id="10" name="Text 8"/>
          <p:cNvSpPr txBox="1"/>
          <p:nvPr/>
        </p:nvSpPr>
        <p:spPr>
          <a:xfrm>
            <a:off x="6537960" y="18288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7452360" y="1828800"/>
            <a:ext cx="384048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Dictionary</a:t>
            </a:r>
            <a:endParaRPr lang="en-US" sz="2200" dirty="0"/>
          </a:p>
        </p:txBody>
      </p:sp>
      <p:sp>
        <p:nvSpPr>
          <p:cNvPr id="12" name="Text 10"/>
          <p:cNvSpPr txBox="1"/>
          <p:nvPr/>
        </p:nvSpPr>
        <p:spPr>
          <a:xfrm>
            <a:off x="7452360" y="2606040"/>
            <a:ext cx="3840480" cy="73152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Words are kept in alphabetical order</a:t>
            </a:r>
            <a:endParaRPr lang="en-US" sz="1700" dirty="0"/>
          </a:p>
        </p:txBody>
      </p:sp>
      <p:sp>
        <p:nvSpPr>
          <p:cNvPr id="13" name="Rank list"/>
          <p:cNvSpPr/>
          <p:nvPr/>
        </p:nvSpPr>
        <p:spPr>
          <a:xfrm>
            <a:off x="548640" y="3749040"/>
            <a:ext cx="5303520" cy="2011680"/>
          </a:xfrm>
          <a:prstGeom prst="roundRect">
            <a:avLst>
              <a:gd name="adj" fmla="val 5455"/>
            </a:avLst>
          </a:prstGeom>
          <a:solidFill>
            <a:schemeClr val="bg2"/>
          </a:solidFill>
          <a:ln w="12700">
            <a:solidFill>
              <a:schemeClr val="bg2"/>
            </a:solidFill>
            <a:prstDash val="solid"/>
          </a:ln>
        </p:spPr>
      </p:sp>
      <p:sp>
        <p:nvSpPr>
          <p:cNvPr id="14" name="Shape 12"/>
          <p:cNvSpPr/>
          <p:nvPr/>
        </p:nvSpPr>
        <p:spPr>
          <a:xfrm>
            <a:off x="868680" y="4114800"/>
            <a:ext cx="685800" cy="685800"/>
          </a:xfrm>
          <a:prstGeom prst="ellipse">
            <a:avLst/>
          </a:prstGeom>
          <a:solidFill>
            <a:schemeClr val="accent2"/>
          </a:solidFill>
          <a:ln w="12700">
            <a:solidFill>
              <a:schemeClr val="accent2"/>
            </a:solidFill>
            <a:prstDash val="solid"/>
          </a:ln>
        </p:spPr>
      </p:sp>
      <p:sp>
        <p:nvSpPr>
          <p:cNvPr id="15" name="Text 13"/>
          <p:cNvSpPr txBox="1"/>
          <p:nvPr/>
        </p:nvSpPr>
        <p:spPr>
          <a:xfrm>
            <a:off x="868680" y="41148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1783080" y="4114800"/>
            <a:ext cx="384048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Rank list</a:t>
            </a:r>
            <a:endParaRPr lang="en-US" sz="2200" dirty="0"/>
          </a:p>
        </p:txBody>
      </p:sp>
      <p:sp>
        <p:nvSpPr>
          <p:cNvPr id="17" name="Text 15"/>
          <p:cNvSpPr txBox="1"/>
          <p:nvPr/>
        </p:nvSpPr>
        <p:spPr>
          <a:xfrm>
            <a:off x="1783080" y="4892040"/>
            <a:ext cx="3840480" cy="73152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Students from highest to lowest marks</a:t>
            </a:r>
            <a:endParaRPr lang="en-US" sz="1700" dirty="0"/>
          </a:p>
        </p:txBody>
      </p:sp>
      <p:sp>
        <p:nvSpPr>
          <p:cNvPr id="18" name="Online store"/>
          <p:cNvSpPr/>
          <p:nvPr/>
        </p:nvSpPr>
        <p:spPr>
          <a:xfrm>
            <a:off x="6217920" y="3749040"/>
            <a:ext cx="5303520" cy="2011680"/>
          </a:xfrm>
          <a:prstGeom prst="roundRect">
            <a:avLst>
              <a:gd name="adj" fmla="val 5455"/>
            </a:avLst>
          </a:prstGeom>
          <a:solidFill>
            <a:schemeClr val="bg2"/>
          </a:solidFill>
          <a:ln w="12700">
            <a:solidFill>
              <a:schemeClr val="bg2"/>
            </a:solidFill>
            <a:prstDash val="solid"/>
          </a:ln>
        </p:spPr>
      </p:sp>
      <p:sp>
        <p:nvSpPr>
          <p:cNvPr id="19" name="Shape 17"/>
          <p:cNvSpPr/>
          <p:nvPr/>
        </p:nvSpPr>
        <p:spPr>
          <a:xfrm>
            <a:off x="6537960" y="4114800"/>
            <a:ext cx="685800" cy="685800"/>
          </a:xfrm>
          <a:prstGeom prst="ellipse">
            <a:avLst/>
          </a:prstGeom>
          <a:solidFill>
            <a:schemeClr val="accent2"/>
          </a:solidFill>
          <a:ln w="12700">
            <a:solidFill>
              <a:schemeClr val="accent2"/>
            </a:solidFill>
            <a:prstDash val="solid"/>
          </a:ln>
        </p:spPr>
      </p:sp>
      <p:sp>
        <p:nvSpPr>
          <p:cNvPr id="20" name="Text 18"/>
          <p:cNvSpPr txBox="1"/>
          <p:nvPr/>
        </p:nvSpPr>
        <p:spPr>
          <a:xfrm>
            <a:off x="6537960" y="4114800"/>
            <a:ext cx="685800" cy="68580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7452360" y="4114800"/>
            <a:ext cx="384048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Online store</a:t>
            </a:r>
            <a:endParaRPr lang="en-US" sz="2200" dirty="0"/>
          </a:p>
        </p:txBody>
      </p:sp>
      <p:sp>
        <p:nvSpPr>
          <p:cNvPr id="22" name="Text 20"/>
          <p:cNvSpPr txBox="1"/>
          <p:nvPr/>
        </p:nvSpPr>
        <p:spPr>
          <a:xfrm>
            <a:off x="7452360" y="4892040"/>
            <a:ext cx="3840480" cy="73152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Products listed by price: low to high</a:t>
            </a:r>
            <a:endParaRPr lang="en-US" sz="17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Why sorting matters</a:t>
            </a:r>
            <a:endParaRPr lang="en-US" sz="3600" dirty="0"/>
          </a:p>
        </p:txBody>
      </p:sp>
      <p:sp>
        <p:nvSpPr>
          <p:cNvPr id="3" name="reason 1"/>
          <p:cNvSpPr/>
          <p:nvPr/>
        </p:nvSpPr>
        <p:spPr>
          <a:xfrm>
            <a:off x="548640" y="1463040"/>
            <a:ext cx="5303520" cy="1280160"/>
          </a:xfrm>
          <a:prstGeom prst="roundRect">
            <a:avLst>
              <a:gd name="adj" fmla="val 8571"/>
            </a:avLst>
          </a:prstGeom>
          <a:solidFill>
            <a:schemeClr val="bg2"/>
          </a:solidFill>
          <a:ln w="12700">
            <a:solidFill>
              <a:schemeClr val="bg2"/>
            </a:solidFill>
            <a:prstDash val="solid"/>
          </a:ln>
        </p:spPr>
      </p:sp>
      <p:sp>
        <p:nvSpPr>
          <p:cNvPr id="4" name="Shape 2"/>
          <p:cNvSpPr/>
          <p:nvPr/>
        </p:nvSpPr>
        <p:spPr>
          <a:xfrm>
            <a:off x="822960" y="178308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822960"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691640" y="1645920"/>
            <a:ext cx="397764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Faster searching</a:t>
            </a:r>
            <a:endParaRPr lang="en-US" sz="1800" dirty="0"/>
          </a:p>
        </p:txBody>
      </p:sp>
      <p:sp>
        <p:nvSpPr>
          <p:cNvPr id="7" name="Text 5"/>
          <p:cNvSpPr txBox="1"/>
          <p:nvPr/>
        </p:nvSpPr>
        <p:spPr>
          <a:xfrm>
            <a:off x="1691640" y="2029968"/>
            <a:ext cx="3977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Sorted data allows Binary Search, much faster than checking every element.</a:t>
            </a:r>
            <a:endParaRPr lang="en-US" sz="1400" dirty="0"/>
          </a:p>
        </p:txBody>
      </p:sp>
      <p:sp>
        <p:nvSpPr>
          <p:cNvPr id="8" name="reason 2"/>
          <p:cNvSpPr/>
          <p:nvPr/>
        </p:nvSpPr>
        <p:spPr>
          <a:xfrm>
            <a:off x="548640" y="2926080"/>
            <a:ext cx="5303520" cy="1280160"/>
          </a:xfrm>
          <a:prstGeom prst="roundRect">
            <a:avLst>
              <a:gd name="adj" fmla="val 8571"/>
            </a:avLst>
          </a:prstGeom>
          <a:solidFill>
            <a:schemeClr val="bg2"/>
          </a:solidFill>
          <a:ln w="12700">
            <a:solidFill>
              <a:schemeClr val="bg2"/>
            </a:solidFill>
            <a:prstDash val="solid"/>
          </a:ln>
        </p:spPr>
      </p:sp>
      <p:sp>
        <p:nvSpPr>
          <p:cNvPr id="9" name="Shape 7"/>
          <p:cNvSpPr/>
          <p:nvPr/>
        </p:nvSpPr>
        <p:spPr>
          <a:xfrm>
            <a:off x="822960" y="324612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822960" y="32461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1691640" y="3108960"/>
            <a:ext cx="397764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Easier to read</a:t>
            </a:r>
            <a:endParaRPr lang="en-US" sz="1800" dirty="0"/>
          </a:p>
        </p:txBody>
      </p:sp>
      <p:sp>
        <p:nvSpPr>
          <p:cNvPr id="12" name="Text 10"/>
          <p:cNvSpPr txBox="1"/>
          <p:nvPr/>
        </p:nvSpPr>
        <p:spPr>
          <a:xfrm>
            <a:off x="1691640" y="3493008"/>
            <a:ext cx="3977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People find what they need quickly in an ordered list.</a:t>
            </a:r>
            <a:endParaRPr lang="en-US" sz="1400" dirty="0"/>
          </a:p>
        </p:txBody>
      </p:sp>
      <p:sp>
        <p:nvSpPr>
          <p:cNvPr id="13" name="reason 3"/>
          <p:cNvSpPr/>
          <p:nvPr/>
        </p:nvSpPr>
        <p:spPr>
          <a:xfrm>
            <a:off x="548640" y="4389120"/>
            <a:ext cx="5303520" cy="1280160"/>
          </a:xfrm>
          <a:prstGeom prst="roundRect">
            <a:avLst>
              <a:gd name="adj" fmla="val 8571"/>
            </a:avLst>
          </a:prstGeom>
          <a:solidFill>
            <a:schemeClr val="bg2"/>
          </a:solidFill>
          <a:ln w="12700">
            <a:solidFill>
              <a:schemeClr val="bg2"/>
            </a:solidFill>
            <a:prstDash val="solid"/>
          </a:ln>
        </p:spPr>
      </p:sp>
      <p:sp>
        <p:nvSpPr>
          <p:cNvPr id="14" name="Shape 12"/>
          <p:cNvSpPr/>
          <p:nvPr/>
        </p:nvSpPr>
        <p:spPr>
          <a:xfrm>
            <a:off x="822960" y="4709160"/>
            <a:ext cx="640080" cy="640080"/>
          </a:xfrm>
          <a:prstGeom prst="ellipse">
            <a:avLst/>
          </a:prstGeom>
          <a:solidFill>
            <a:schemeClr val="accent1"/>
          </a:solidFill>
          <a:ln w="12700">
            <a:solidFill>
              <a:schemeClr val="accent1"/>
            </a:solidFill>
            <a:prstDash val="solid"/>
          </a:ln>
        </p:spPr>
      </p:sp>
      <p:sp>
        <p:nvSpPr>
          <p:cNvPr id="15" name="Text 13"/>
          <p:cNvSpPr txBox="1"/>
          <p:nvPr/>
        </p:nvSpPr>
        <p:spPr>
          <a:xfrm>
            <a:off x="822960" y="4709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1691640" y="4572000"/>
            <a:ext cx="397764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Finding min, max, median</a:t>
            </a:r>
            <a:endParaRPr lang="en-US" sz="1800" dirty="0"/>
          </a:p>
        </p:txBody>
      </p:sp>
      <p:sp>
        <p:nvSpPr>
          <p:cNvPr id="17" name="Text 15"/>
          <p:cNvSpPr txBox="1"/>
          <p:nvPr/>
        </p:nvSpPr>
        <p:spPr>
          <a:xfrm>
            <a:off x="1691640" y="4956048"/>
            <a:ext cx="3977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 sorted data these sit at known positions.</a:t>
            </a:r>
            <a:endParaRPr lang="en-US" sz="1400" dirty="0"/>
          </a:p>
        </p:txBody>
      </p:sp>
      <p:sp>
        <p:nvSpPr>
          <p:cNvPr id="18" name="reason 4"/>
          <p:cNvSpPr/>
          <p:nvPr/>
        </p:nvSpPr>
        <p:spPr>
          <a:xfrm>
            <a:off x="6217920" y="1463040"/>
            <a:ext cx="5303520" cy="1280160"/>
          </a:xfrm>
          <a:prstGeom prst="roundRect">
            <a:avLst>
              <a:gd name="adj" fmla="val 8571"/>
            </a:avLst>
          </a:prstGeom>
          <a:solidFill>
            <a:schemeClr val="bg2"/>
          </a:solidFill>
          <a:ln w="12700">
            <a:solidFill>
              <a:schemeClr val="bg2"/>
            </a:solidFill>
            <a:prstDash val="solid"/>
          </a:ln>
        </p:spPr>
      </p:sp>
      <p:sp>
        <p:nvSpPr>
          <p:cNvPr id="19" name="Shape 17"/>
          <p:cNvSpPr/>
          <p:nvPr/>
        </p:nvSpPr>
        <p:spPr>
          <a:xfrm>
            <a:off x="6492240" y="1783080"/>
            <a:ext cx="640080" cy="640080"/>
          </a:xfrm>
          <a:prstGeom prst="ellipse">
            <a:avLst/>
          </a:prstGeom>
          <a:solidFill>
            <a:schemeClr val="accent1"/>
          </a:solidFill>
          <a:ln w="12700">
            <a:solidFill>
              <a:schemeClr val="accent1"/>
            </a:solidFill>
            <a:prstDash val="solid"/>
          </a:ln>
        </p:spPr>
      </p:sp>
      <p:sp>
        <p:nvSpPr>
          <p:cNvPr id="20" name="Text 18"/>
          <p:cNvSpPr txBox="1"/>
          <p:nvPr/>
        </p:nvSpPr>
        <p:spPr>
          <a:xfrm>
            <a:off x="6492240"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7360920" y="1645920"/>
            <a:ext cx="397764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Finding duplicates</a:t>
            </a:r>
            <a:endParaRPr lang="en-US" sz="1800" dirty="0"/>
          </a:p>
        </p:txBody>
      </p:sp>
      <p:sp>
        <p:nvSpPr>
          <p:cNvPr id="22" name="Text 20"/>
          <p:cNvSpPr txBox="1"/>
          <p:nvPr/>
        </p:nvSpPr>
        <p:spPr>
          <a:xfrm>
            <a:off x="7360920" y="2029968"/>
            <a:ext cx="3977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Equal values end up next to each other.</a:t>
            </a:r>
            <a:endParaRPr lang="en-US" sz="1400" dirty="0"/>
          </a:p>
        </p:txBody>
      </p:sp>
      <p:sp>
        <p:nvSpPr>
          <p:cNvPr id="23" name="reason 5"/>
          <p:cNvSpPr/>
          <p:nvPr/>
        </p:nvSpPr>
        <p:spPr>
          <a:xfrm>
            <a:off x="6217920" y="2926080"/>
            <a:ext cx="5303520" cy="1280160"/>
          </a:xfrm>
          <a:prstGeom prst="roundRect">
            <a:avLst>
              <a:gd name="adj" fmla="val 8571"/>
            </a:avLst>
          </a:prstGeom>
          <a:solidFill>
            <a:schemeClr val="bg2"/>
          </a:solidFill>
          <a:ln w="12700">
            <a:solidFill>
              <a:schemeClr val="bg2"/>
            </a:solidFill>
            <a:prstDash val="solid"/>
          </a:ln>
        </p:spPr>
      </p:sp>
      <p:sp>
        <p:nvSpPr>
          <p:cNvPr id="24" name="Shape 22"/>
          <p:cNvSpPr/>
          <p:nvPr/>
        </p:nvSpPr>
        <p:spPr>
          <a:xfrm>
            <a:off x="6492240" y="3246120"/>
            <a:ext cx="640080" cy="640080"/>
          </a:xfrm>
          <a:prstGeom prst="ellipse">
            <a:avLst/>
          </a:prstGeom>
          <a:solidFill>
            <a:schemeClr val="accent1"/>
          </a:solidFill>
          <a:ln w="12700">
            <a:solidFill>
              <a:schemeClr val="accent1"/>
            </a:solidFill>
            <a:prstDash val="solid"/>
          </a:ln>
        </p:spPr>
      </p:sp>
      <p:sp>
        <p:nvSpPr>
          <p:cNvPr id="25" name="Text 23"/>
          <p:cNvSpPr txBox="1"/>
          <p:nvPr/>
        </p:nvSpPr>
        <p:spPr>
          <a:xfrm>
            <a:off x="6492240" y="32461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26" name="Text 24"/>
          <p:cNvSpPr txBox="1"/>
          <p:nvPr/>
        </p:nvSpPr>
        <p:spPr>
          <a:xfrm>
            <a:off x="7360920" y="3108960"/>
            <a:ext cx="397764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A building block</a:t>
            </a:r>
            <a:endParaRPr lang="en-US" sz="1800" dirty="0"/>
          </a:p>
        </p:txBody>
      </p:sp>
      <p:sp>
        <p:nvSpPr>
          <p:cNvPr id="27" name="Text 25"/>
          <p:cNvSpPr txBox="1"/>
          <p:nvPr/>
        </p:nvSpPr>
        <p:spPr>
          <a:xfrm>
            <a:off x="7360920" y="3493008"/>
            <a:ext cx="39776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Many algorithms need sorted input first.</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Terms students should know</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103120"/>
                <a:gridCol w="4846320"/>
              </a:tblGrid>
              <a:tr h="59436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Term</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r>
              <a:tr h="59436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Comparison</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Checking which of two elements is larger</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59436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Swap</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Exchanging the positions of two elements</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59436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One full trip through the (unsorted part of the) array</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59436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In-place sort</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Sorts inside the same array, needing no extra array</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59436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Stable sort</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Equal elements keep their original relative order</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bl>
          </a:graphicData>
        </a:graphic>
      </p:graphicFrame>
      <p:sp>
        <p:nvSpPr>
          <p:cNvPr id="4" name="algorithms"/>
          <p:cNvSpPr/>
          <p:nvPr/>
        </p:nvSpPr>
        <p:spPr>
          <a:xfrm>
            <a:off x="7955280" y="1417320"/>
            <a:ext cx="3685032" cy="3566160"/>
          </a:xfrm>
          <a:prstGeom prst="roundRect">
            <a:avLst>
              <a:gd name="adj" fmla="val 3077"/>
            </a:avLst>
          </a:prstGeom>
          <a:solidFill>
            <a:schemeClr val="tx2"/>
          </a:solidFill>
          <a:ln w="12700">
            <a:solidFill>
              <a:schemeClr val="tx2"/>
            </a:solidFill>
            <a:prstDash val="solid"/>
          </a:ln>
        </p:spPr>
      </p:sp>
      <p:sp>
        <p:nvSpPr>
          <p:cNvPr id="5" name="Text 2"/>
          <p:cNvSpPr txBox="1"/>
          <p:nvPr/>
        </p:nvSpPr>
        <p:spPr>
          <a:xfrm>
            <a:off x="8229600" y="1645920"/>
            <a:ext cx="3200400" cy="45720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Common sorting algorithms</a:t>
            </a:r>
            <a:endParaRPr lang="en-US" sz="1800" dirty="0"/>
          </a:p>
        </p:txBody>
      </p:sp>
      <p:sp>
        <p:nvSpPr>
          <p:cNvPr id="6" name="Text 3"/>
          <p:cNvSpPr txBox="1"/>
          <p:nvPr/>
        </p:nvSpPr>
        <p:spPr>
          <a:xfrm>
            <a:off x="8229600" y="2194560"/>
            <a:ext cx="320040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Bubble sort</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Selection sort</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Insertion sort</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Merge sort</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Quick sort</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Heap sort</a:t>
            </a:r>
            <a:endParaRPr lang="en-US" sz="1600" dirty="0"/>
          </a:p>
        </p:txBody>
      </p:sp>
      <p:sp>
        <p:nvSpPr>
          <p:cNvPr id="7" name="Text 4"/>
          <p:cNvSpPr txBox="1"/>
          <p:nvPr/>
        </p:nvSpPr>
        <p:spPr>
          <a:xfrm>
            <a:off x="548640" y="5394960"/>
            <a:ext cx="10972800" cy="45720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Bubble sort is the simplest, so we learn it first.</a:t>
            </a:r>
            <a:endParaRPr lang="en-US" sz="18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lstStyle/>
          <a:p>
            <a:pPr algn="l" indent="0" marL="0">
              <a:buNone/>
            </a:pPr>
            <a:r>
              <a:rPr lang="en-US" sz="6000" b="1" dirty="0">
                <a:solidFill>
                  <a:schemeClr val="accent2"/>
                </a:solidFill>
                <a:latin typeface="Cambria" pitchFamily="34" charset="0"/>
                <a:ea typeface="Cambria" pitchFamily="34" charset="-122"/>
                <a:cs typeface="Cambria" pitchFamily="34" charset="-120"/>
              </a:rPr>
              <a:t>02</a:t>
            </a:r>
            <a:endParaRPr lang="en-US" sz="6000" dirty="0"/>
          </a:p>
        </p:txBody>
      </p:sp>
      <p:sp>
        <p:nvSpPr>
          <p:cNvPr id="3" name="Text 0"/>
          <p:cNvSpPr/>
          <p:nvPr>
            <p:ph idx="101" type="title" hasCustomPrompt="1"/>
          </p:nvPr>
        </p:nvSpPr>
        <p:spPr>
          <a:xfrm>
            <a:off x="548640" y="2926080"/>
            <a:ext cx="10058400" cy="1097280"/>
          </a:xfrm>
          <a:prstGeom prst="rect">
            <a:avLst/>
          </a:prstGeom>
          <a:noFill/>
          <a:ln/>
        </p:spPr>
        <p:txBody>
          <a:bodyPr wrap="square" lIns="0" tIns="0" rIns="0" bIns="0" rtlCol="0"/>
          <a:lstStyle/>
          <a:p>
            <a:pPr algn="l" indent="0" marL="0">
              <a:buNone/>
            </a:pPr>
            <a:r>
              <a:rPr lang="en-US" sz="4400" b="1" dirty="0">
                <a:solidFill>
                  <a:schemeClr val="bg1"/>
                </a:solidFill>
                <a:latin typeface="Cambria" pitchFamily="34" charset="0"/>
                <a:ea typeface="Cambria" pitchFamily="34" charset="-122"/>
                <a:cs typeface="Cambria" pitchFamily="34" charset="-120"/>
              </a:rPr>
              <a:t>Bubble Sort and How It Works</a:t>
            </a:r>
            <a:endParaRPr lang="en-US" sz="4400" dirty="0"/>
          </a:p>
        </p:txBody>
      </p:sp>
      <p:sp>
        <p:nvSpPr>
          <p:cNvPr id="4" name="Text 0"/>
          <p:cNvSpPr/>
          <p:nvPr>
            <p:ph idx="102" type="body" hasCustomPrompt="1"/>
          </p:nvPr>
        </p:nvSpPr>
        <p:spPr>
          <a:xfrm>
            <a:off x="548640" y="4023360"/>
            <a:ext cx="10058400" cy="731520"/>
          </a:xfrm>
          <a:prstGeom prst="rect">
            <a:avLst/>
          </a:prstGeom>
          <a:noFill/>
          <a:ln/>
        </p:spPr>
        <p:txBody>
          <a:bodyPr wrap="square" lIns="0" tIns="0" rIns="0" bIns="0" rtlCol="0"/>
          <a:lstStyle/>
          <a:p>
            <a:pPr algn="l" indent="0" marL="0">
              <a:buNone/>
            </a:pPr>
            <a:r>
              <a:rPr lang="en-US" sz="2000" dirty="0">
                <a:solidFill>
                  <a:srgbClr val="CADCE0"/>
                </a:solidFill>
                <a:latin typeface="Calibri" pitchFamily="34" charset="0"/>
                <a:ea typeface="Calibri" pitchFamily="34" charset="-122"/>
                <a:cs typeface="Calibri" pitchFamily="34" charset="-120"/>
              </a:rPr>
              <a:t>The largest element bubbles up to the end on every pass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Compare neighbours, swap if out of order</a:t>
            </a:r>
            <a:endParaRPr lang="en-US" sz="3600" dirty="0"/>
          </a:p>
        </p:txBody>
      </p:sp>
      <p:sp>
        <p:nvSpPr>
          <p:cNvPr id="3" name="Text 1"/>
          <p:cNvSpPr txBox="1"/>
          <p:nvPr/>
        </p:nvSpPr>
        <p:spPr>
          <a:xfrm>
            <a:off x="548640" y="1325880"/>
            <a:ext cx="11064240" cy="91440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Bubble sort repeatedly compares two neighbouring elements and swaps them if they are in the wrong order. After each pass, the largest remaining element bubbles up to the end, like an air bubble rising in water.</a:t>
            </a:r>
            <a:endParaRPr lang="en-US" sz="1800" dirty="0"/>
          </a:p>
        </p:txBody>
      </p:sp>
      <p:sp>
        <p:nvSpPr>
          <p:cNvPr id="4" name="Compare"/>
          <p:cNvSpPr/>
          <p:nvPr/>
        </p:nvSpPr>
        <p:spPr>
          <a:xfrm>
            <a:off x="548640" y="2514600"/>
            <a:ext cx="3520440" cy="1737360"/>
          </a:xfrm>
          <a:prstGeom prst="roundRect">
            <a:avLst>
              <a:gd name="adj" fmla="val 6316"/>
            </a:avLst>
          </a:prstGeom>
          <a:solidFill>
            <a:schemeClr val="bg2"/>
          </a:solidFill>
          <a:ln w="12700">
            <a:solidFill>
              <a:schemeClr val="bg2"/>
            </a:solidFill>
            <a:prstDash val="solid"/>
          </a:ln>
        </p:spPr>
      </p:sp>
      <p:sp>
        <p:nvSpPr>
          <p:cNvPr id="5" name="Shape 3"/>
          <p:cNvSpPr/>
          <p:nvPr/>
        </p:nvSpPr>
        <p:spPr>
          <a:xfrm>
            <a:off x="822960" y="2697480"/>
            <a:ext cx="594360" cy="594360"/>
          </a:xfrm>
          <a:prstGeom prst="ellipse">
            <a:avLst/>
          </a:prstGeom>
          <a:solidFill>
            <a:schemeClr val="accent1"/>
          </a:solidFill>
          <a:ln w="12700">
            <a:solidFill>
              <a:schemeClr val="accent1"/>
            </a:solidFill>
            <a:prstDash val="solid"/>
          </a:ln>
        </p:spPr>
      </p:sp>
      <p:sp>
        <p:nvSpPr>
          <p:cNvPr id="6" name="Text 4"/>
          <p:cNvSpPr txBox="1"/>
          <p:nvPr/>
        </p:nvSpPr>
        <p:spPr>
          <a:xfrm>
            <a:off x="822960" y="26974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54480" y="269748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Compare</a:t>
            </a:r>
            <a:endParaRPr lang="en-US" sz="2000" dirty="0"/>
          </a:p>
        </p:txBody>
      </p:sp>
      <p:sp>
        <p:nvSpPr>
          <p:cNvPr id="8" name="Text 6"/>
          <p:cNvSpPr txBox="1"/>
          <p:nvPr/>
        </p:nvSpPr>
        <p:spPr>
          <a:xfrm>
            <a:off x="822960" y="3429000"/>
            <a:ext cx="3017520" cy="73152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arr[j] with arr[j+1]</a:t>
            </a:r>
            <a:endParaRPr lang="en-US" sz="1500" dirty="0"/>
          </a:p>
        </p:txBody>
      </p:sp>
      <p:sp>
        <p:nvSpPr>
          <p:cNvPr id="9" name="Shape 7"/>
          <p:cNvSpPr/>
          <p:nvPr/>
        </p:nvSpPr>
        <p:spPr>
          <a:xfrm>
            <a:off x="4096512" y="3383280"/>
            <a:ext cx="219456" cy="0"/>
          </a:xfrm>
          <a:prstGeom prst="line">
            <a:avLst/>
          </a:prstGeom>
          <a:noFill/>
          <a:ln w="25400">
            <a:solidFill>
              <a:schemeClr val="accent5"/>
            </a:solidFill>
            <a:prstDash val="solid"/>
            <a:tailEnd type="triangle"/>
          </a:ln>
        </p:spPr>
      </p:sp>
      <p:sp>
        <p:nvSpPr>
          <p:cNvPr id="10" name="Swap"/>
          <p:cNvSpPr/>
          <p:nvPr/>
        </p:nvSpPr>
        <p:spPr>
          <a:xfrm>
            <a:off x="4343400" y="2514600"/>
            <a:ext cx="3520440" cy="1737360"/>
          </a:xfrm>
          <a:prstGeom prst="roundRect">
            <a:avLst>
              <a:gd name="adj" fmla="val 6316"/>
            </a:avLst>
          </a:prstGeom>
          <a:solidFill>
            <a:schemeClr val="bg2"/>
          </a:solidFill>
          <a:ln w="12700">
            <a:solidFill>
              <a:schemeClr val="bg2"/>
            </a:solidFill>
            <a:prstDash val="solid"/>
          </a:ln>
        </p:spPr>
      </p:sp>
      <p:sp>
        <p:nvSpPr>
          <p:cNvPr id="11" name="Shape 9"/>
          <p:cNvSpPr/>
          <p:nvPr/>
        </p:nvSpPr>
        <p:spPr>
          <a:xfrm>
            <a:off x="4617720" y="2697480"/>
            <a:ext cx="594360" cy="594360"/>
          </a:xfrm>
          <a:prstGeom prst="ellipse">
            <a:avLst/>
          </a:prstGeom>
          <a:solidFill>
            <a:schemeClr val="accent1"/>
          </a:solidFill>
          <a:ln w="12700">
            <a:solidFill>
              <a:schemeClr val="accent1"/>
            </a:solidFill>
            <a:prstDash val="solid"/>
          </a:ln>
        </p:spPr>
      </p:sp>
      <p:sp>
        <p:nvSpPr>
          <p:cNvPr id="12" name="Text 10"/>
          <p:cNvSpPr txBox="1"/>
          <p:nvPr/>
        </p:nvSpPr>
        <p:spPr>
          <a:xfrm>
            <a:off x="4617720" y="26974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5349240" y="269748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Swap</a:t>
            </a:r>
            <a:endParaRPr lang="en-US" sz="2000" dirty="0"/>
          </a:p>
        </p:txBody>
      </p:sp>
      <p:sp>
        <p:nvSpPr>
          <p:cNvPr id="14" name="Text 12"/>
          <p:cNvSpPr txBox="1"/>
          <p:nvPr/>
        </p:nvSpPr>
        <p:spPr>
          <a:xfrm>
            <a:off x="4617720" y="3429000"/>
            <a:ext cx="3017520" cy="73152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if arr[j] &gt; arr[j+1]</a:t>
            </a:r>
            <a:endParaRPr lang="en-US" sz="1500" dirty="0"/>
          </a:p>
        </p:txBody>
      </p:sp>
      <p:sp>
        <p:nvSpPr>
          <p:cNvPr id="15" name="Shape 13"/>
          <p:cNvSpPr/>
          <p:nvPr/>
        </p:nvSpPr>
        <p:spPr>
          <a:xfrm>
            <a:off x="7891272" y="3383280"/>
            <a:ext cx="219456" cy="0"/>
          </a:xfrm>
          <a:prstGeom prst="line">
            <a:avLst/>
          </a:prstGeom>
          <a:noFill/>
          <a:ln w="25400">
            <a:solidFill>
              <a:schemeClr val="accent5"/>
            </a:solidFill>
            <a:prstDash val="solid"/>
            <a:tailEnd type="triangle"/>
          </a:ln>
        </p:spPr>
      </p:sp>
      <p:sp>
        <p:nvSpPr>
          <p:cNvPr id="16" name="Move right"/>
          <p:cNvSpPr/>
          <p:nvPr/>
        </p:nvSpPr>
        <p:spPr>
          <a:xfrm>
            <a:off x="8138160" y="2514600"/>
            <a:ext cx="3520440" cy="1737360"/>
          </a:xfrm>
          <a:prstGeom prst="roundRect">
            <a:avLst>
              <a:gd name="adj" fmla="val 6316"/>
            </a:avLst>
          </a:prstGeom>
          <a:solidFill>
            <a:schemeClr val="bg2"/>
          </a:solidFill>
          <a:ln w="12700">
            <a:solidFill>
              <a:schemeClr val="bg2"/>
            </a:solidFill>
            <a:prstDash val="solid"/>
          </a:ln>
        </p:spPr>
      </p:sp>
      <p:sp>
        <p:nvSpPr>
          <p:cNvPr id="17" name="Shape 15"/>
          <p:cNvSpPr/>
          <p:nvPr/>
        </p:nvSpPr>
        <p:spPr>
          <a:xfrm>
            <a:off x="8412480" y="2697480"/>
            <a:ext cx="594360" cy="594360"/>
          </a:xfrm>
          <a:prstGeom prst="ellipse">
            <a:avLst/>
          </a:prstGeom>
          <a:solidFill>
            <a:schemeClr val="accent1"/>
          </a:solidFill>
          <a:ln w="12700">
            <a:solidFill>
              <a:schemeClr val="accent1"/>
            </a:solidFill>
            <a:prstDash val="solid"/>
          </a:ln>
        </p:spPr>
      </p:sp>
      <p:sp>
        <p:nvSpPr>
          <p:cNvPr id="18" name="Text 16"/>
          <p:cNvSpPr txBox="1"/>
          <p:nvPr/>
        </p:nvSpPr>
        <p:spPr>
          <a:xfrm>
            <a:off x="8412480" y="26974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9144000" y="269748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Move right</a:t>
            </a:r>
            <a:endParaRPr lang="en-US" sz="2000" dirty="0"/>
          </a:p>
        </p:txBody>
      </p:sp>
      <p:sp>
        <p:nvSpPr>
          <p:cNvPr id="20" name="Text 18"/>
          <p:cNvSpPr txBox="1"/>
          <p:nvPr/>
        </p:nvSpPr>
        <p:spPr>
          <a:xfrm>
            <a:off x="8412480" y="3429000"/>
            <a:ext cx="301752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repeat to the end of the unsorted part: one pass</a:t>
            </a:r>
            <a:endParaRPr lang="en-US" sz="1500" dirty="0"/>
          </a:p>
        </p:txBody>
      </p:sp>
      <p:sp>
        <p:nvSpPr>
          <p:cNvPr id="21" name="passes rule"/>
          <p:cNvSpPr/>
          <p:nvPr/>
        </p:nvSpPr>
        <p:spPr>
          <a:xfrm>
            <a:off x="548640" y="4572000"/>
            <a:ext cx="11091672" cy="1371600"/>
          </a:xfrm>
          <a:prstGeom prst="roundRect">
            <a:avLst>
              <a:gd name="adj" fmla="val 8000"/>
            </a:avLst>
          </a:prstGeom>
          <a:solidFill>
            <a:schemeClr val="tx2"/>
          </a:solidFill>
          <a:ln w="12700">
            <a:solidFill>
              <a:schemeClr val="tx2"/>
            </a:solidFill>
            <a:prstDash val="solid"/>
          </a:ln>
        </p:spPr>
      </p:sp>
      <p:sp>
        <p:nvSpPr>
          <p:cNvPr id="22" name="Text 20"/>
          <p:cNvSpPr txBox="1"/>
          <p:nvPr/>
        </p:nvSpPr>
        <p:spPr>
          <a:xfrm>
            <a:off x="914400" y="4572000"/>
            <a:ext cx="1033272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After pass 1 the largest element is last; after pass 2 the second largest is second-last, and so on.</a:t>
            </a:r>
            <a:endParaRPr lang="en-US" sz="1800" dirty="0"/>
          </a:p>
          <a:p>
            <a:pPr indent="0" marL="0">
              <a:buNone/>
            </a:pPr>
            <a:r>
              <a:rPr lang="en-US" sz="1800" b="1" dirty="0">
                <a:solidFill>
                  <a:schemeClr val="accent2"/>
                </a:solidFill>
                <a:latin typeface="Calibri" pitchFamily="34" charset="0"/>
                <a:ea typeface="Calibri" pitchFamily="34" charset="-122"/>
                <a:cs typeface="Calibri" pitchFamily="34" charset="-120"/>
              </a:rPr>
              <a:t>An array of n elements needs at most n − 1 passes.</a:t>
            </a:r>
            <a:endParaRPr lang="en-US" sz="18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Dry run, pass 1: 8 reaches the end</a:t>
            </a:r>
            <a:endParaRPr lang="en-US" sz="3600" dirty="0"/>
          </a:p>
        </p:txBody>
      </p:sp>
      <p:sp>
        <p:nvSpPr>
          <p:cNvPr id="3" name="Text 1"/>
          <p:cNvSpPr txBox="1"/>
          <p:nvPr/>
        </p:nvSpPr>
        <p:spPr>
          <a:xfrm>
            <a:off x="548640" y="1280160"/>
            <a:ext cx="10972800" cy="365760"/>
          </a:xfrm>
          <a:prstGeom prst="rect">
            <a:avLst/>
          </a:prstGeom>
          <a:noFill/>
          <a:ln/>
        </p:spPr>
        <p:txBody>
          <a:bodyPr wrap="square" lIns="0" tIns="0" rIns="0" bIns="0" rtlCol="0" anchor="t"/>
          <a:lstStyle/>
          <a:p>
            <a:pPr indent="0" marL="0">
              <a:buNone/>
            </a:pPr>
            <a:r>
              <a:rPr lang="en-US" sz="1700" dirty="0">
                <a:solidFill>
                  <a:srgbClr val="6B7F8A"/>
                </a:solidFill>
                <a:latin typeface="Calibri" pitchFamily="34" charset="0"/>
                <a:ea typeface="Calibri" pitchFamily="34" charset="-122"/>
                <a:cs typeface="Calibri" pitchFamily="34" charset="-120"/>
              </a:rPr>
              <a:t>Sort 5, 1, 4, 2, 8 in ascending order. Orange = the pair being compared.</a:t>
            </a:r>
            <a:endParaRPr lang="en-US" sz="1700" dirty="0"/>
          </a:p>
        </p:txBody>
      </p:sp>
      <p:sp>
        <p:nvSpPr>
          <p:cNvPr id="4" name="Text 2"/>
          <p:cNvSpPr txBox="1"/>
          <p:nvPr/>
        </p:nvSpPr>
        <p:spPr>
          <a:xfrm>
            <a:off x="5943600" y="1783080"/>
            <a:ext cx="1463040" cy="320040"/>
          </a:xfrm>
          <a:prstGeom prst="rect">
            <a:avLst/>
          </a:prstGeom>
          <a:noFill/>
          <a:ln/>
        </p:spPr>
        <p:txBody>
          <a:bodyPr wrap="square" lIns="0" tIns="0" rIns="0" bIns="0" rtlCol="0" anchor="t"/>
          <a:lstStyle/>
          <a:p>
            <a:pPr indent="0" marL="0">
              <a:buNone/>
            </a:pPr>
            <a:r>
              <a:rPr lang="en-US" sz="1400" b="1" dirty="0">
                <a:solidFill>
                  <a:srgbClr val="6B7F8A"/>
                </a:solidFill>
                <a:latin typeface="Calibri" pitchFamily="34" charset="0"/>
                <a:ea typeface="Calibri" pitchFamily="34" charset="-122"/>
                <a:cs typeface="Calibri" pitchFamily="34" charset="-120"/>
              </a:rPr>
              <a:t>Compare</a:t>
            </a:r>
            <a:endParaRPr lang="en-US" sz="1400" dirty="0"/>
          </a:p>
        </p:txBody>
      </p:sp>
      <p:sp>
        <p:nvSpPr>
          <p:cNvPr id="5" name="Text 3"/>
          <p:cNvSpPr txBox="1"/>
          <p:nvPr/>
        </p:nvSpPr>
        <p:spPr>
          <a:xfrm>
            <a:off x="7498080" y="1783080"/>
            <a:ext cx="914400" cy="320040"/>
          </a:xfrm>
          <a:prstGeom prst="rect">
            <a:avLst/>
          </a:prstGeom>
          <a:noFill/>
          <a:ln/>
        </p:spPr>
        <p:txBody>
          <a:bodyPr wrap="square" lIns="0" tIns="0" rIns="0" bIns="0" rtlCol="0" anchor="t"/>
          <a:lstStyle/>
          <a:p>
            <a:pPr indent="0" marL="0">
              <a:buNone/>
            </a:pPr>
            <a:r>
              <a:rPr lang="en-US" sz="1400" b="1" dirty="0">
                <a:solidFill>
                  <a:srgbClr val="6B7F8A"/>
                </a:solidFill>
                <a:latin typeface="Calibri" pitchFamily="34" charset="0"/>
                <a:ea typeface="Calibri" pitchFamily="34" charset="-122"/>
                <a:cs typeface="Calibri" pitchFamily="34" charset="-120"/>
              </a:rPr>
              <a:t>Swap?</a:t>
            </a:r>
            <a:endParaRPr lang="en-US" sz="1400" dirty="0"/>
          </a:p>
        </p:txBody>
      </p:sp>
      <p:sp>
        <p:nvSpPr>
          <p:cNvPr id="6" name="Text 4"/>
          <p:cNvSpPr txBox="1"/>
          <p:nvPr/>
        </p:nvSpPr>
        <p:spPr>
          <a:xfrm>
            <a:off x="8595360" y="1783080"/>
            <a:ext cx="2743200" cy="320040"/>
          </a:xfrm>
          <a:prstGeom prst="rect">
            <a:avLst/>
          </a:prstGeom>
          <a:noFill/>
          <a:ln/>
        </p:spPr>
        <p:txBody>
          <a:bodyPr wrap="square" lIns="0" tIns="0" rIns="0" bIns="0" rtlCol="0" anchor="t"/>
          <a:lstStyle/>
          <a:p>
            <a:pPr indent="0" marL="0">
              <a:buNone/>
            </a:pPr>
            <a:r>
              <a:rPr lang="en-US" sz="1400" b="1" dirty="0">
                <a:solidFill>
                  <a:srgbClr val="6B7F8A"/>
                </a:solidFill>
                <a:latin typeface="Calibri" pitchFamily="34" charset="0"/>
                <a:ea typeface="Calibri" pitchFamily="34" charset="-122"/>
                <a:cs typeface="Calibri" pitchFamily="34" charset="-120"/>
              </a:rPr>
              <a:t>Array after</a:t>
            </a:r>
            <a:endParaRPr lang="en-US" sz="1400" dirty="0"/>
          </a:p>
        </p:txBody>
      </p:sp>
      <p:sp>
        <p:nvSpPr>
          <p:cNvPr id="7" name="Shape 5"/>
          <p:cNvSpPr/>
          <p:nvPr/>
        </p:nvSpPr>
        <p:spPr>
          <a:xfrm>
            <a:off x="548640" y="2194560"/>
            <a:ext cx="868680" cy="731520"/>
          </a:xfrm>
          <a:prstGeom prst="roundRect">
            <a:avLst>
              <a:gd name="adj" fmla="val 10000"/>
            </a:avLst>
          </a:prstGeom>
          <a:solidFill>
            <a:schemeClr val="accent2"/>
          </a:solidFill>
          <a:ln w="12700">
            <a:solidFill>
              <a:schemeClr val="accent2"/>
            </a:solidFill>
            <a:prstDash val="solid"/>
          </a:ln>
        </p:spPr>
      </p:sp>
      <p:sp>
        <p:nvSpPr>
          <p:cNvPr id="8" name="Text 6"/>
          <p:cNvSpPr txBox="1"/>
          <p:nvPr/>
        </p:nvSpPr>
        <p:spPr>
          <a:xfrm>
            <a:off x="548640" y="21945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9" name="Shape 7"/>
          <p:cNvSpPr/>
          <p:nvPr/>
        </p:nvSpPr>
        <p:spPr>
          <a:xfrm>
            <a:off x="1508760" y="2194560"/>
            <a:ext cx="868680" cy="731520"/>
          </a:xfrm>
          <a:prstGeom prst="roundRect">
            <a:avLst>
              <a:gd name="adj" fmla="val 10000"/>
            </a:avLst>
          </a:prstGeom>
          <a:solidFill>
            <a:schemeClr val="accent2"/>
          </a:solidFill>
          <a:ln w="12700">
            <a:solidFill>
              <a:schemeClr val="accent2"/>
            </a:solidFill>
            <a:prstDash val="solid"/>
          </a:ln>
        </p:spPr>
      </p:sp>
      <p:sp>
        <p:nvSpPr>
          <p:cNvPr id="10" name="Text 8"/>
          <p:cNvSpPr txBox="1"/>
          <p:nvPr/>
        </p:nvSpPr>
        <p:spPr>
          <a:xfrm>
            <a:off x="1508760" y="21945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1</a:t>
            </a:r>
            <a:endParaRPr lang="en-US" sz="2000" dirty="0"/>
          </a:p>
        </p:txBody>
      </p:sp>
      <p:sp>
        <p:nvSpPr>
          <p:cNvPr id="11" name="Shape 9"/>
          <p:cNvSpPr/>
          <p:nvPr/>
        </p:nvSpPr>
        <p:spPr>
          <a:xfrm>
            <a:off x="2468880" y="2194560"/>
            <a:ext cx="868680" cy="731520"/>
          </a:xfrm>
          <a:prstGeom prst="roundRect">
            <a:avLst>
              <a:gd name="adj" fmla="val 10000"/>
            </a:avLst>
          </a:prstGeom>
          <a:solidFill>
            <a:schemeClr val="accent1"/>
          </a:solidFill>
          <a:ln w="12700">
            <a:solidFill>
              <a:schemeClr val="accent1"/>
            </a:solidFill>
            <a:prstDash val="solid"/>
          </a:ln>
        </p:spPr>
      </p:sp>
      <p:sp>
        <p:nvSpPr>
          <p:cNvPr id="12" name="Text 10"/>
          <p:cNvSpPr txBox="1"/>
          <p:nvPr/>
        </p:nvSpPr>
        <p:spPr>
          <a:xfrm>
            <a:off x="2468880" y="21945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13" name="Shape 11"/>
          <p:cNvSpPr/>
          <p:nvPr/>
        </p:nvSpPr>
        <p:spPr>
          <a:xfrm>
            <a:off x="3429000" y="2194560"/>
            <a:ext cx="868680" cy="731520"/>
          </a:xfrm>
          <a:prstGeom prst="roundRect">
            <a:avLst>
              <a:gd name="adj" fmla="val 10000"/>
            </a:avLst>
          </a:prstGeom>
          <a:solidFill>
            <a:schemeClr val="accent1"/>
          </a:solidFill>
          <a:ln w="12700">
            <a:solidFill>
              <a:schemeClr val="accent1"/>
            </a:solidFill>
            <a:prstDash val="solid"/>
          </a:ln>
        </p:spPr>
      </p:sp>
      <p:sp>
        <p:nvSpPr>
          <p:cNvPr id="14" name="Text 12"/>
          <p:cNvSpPr txBox="1"/>
          <p:nvPr/>
        </p:nvSpPr>
        <p:spPr>
          <a:xfrm>
            <a:off x="3429000" y="21945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5" name="Shape 13"/>
          <p:cNvSpPr/>
          <p:nvPr/>
        </p:nvSpPr>
        <p:spPr>
          <a:xfrm>
            <a:off x="4389120" y="2194560"/>
            <a:ext cx="868680" cy="731520"/>
          </a:xfrm>
          <a:prstGeom prst="roundRect">
            <a:avLst>
              <a:gd name="adj" fmla="val 10000"/>
            </a:avLst>
          </a:prstGeom>
          <a:solidFill>
            <a:schemeClr val="accent1"/>
          </a:solidFill>
          <a:ln w="12700">
            <a:solidFill>
              <a:schemeClr val="accent1"/>
            </a:solidFill>
            <a:prstDash val="solid"/>
          </a:ln>
        </p:spPr>
      </p:sp>
      <p:sp>
        <p:nvSpPr>
          <p:cNvPr id="16" name="Text 14"/>
          <p:cNvSpPr txBox="1"/>
          <p:nvPr/>
        </p:nvSpPr>
        <p:spPr>
          <a:xfrm>
            <a:off x="4389120" y="21945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17" name="Text 15"/>
          <p:cNvSpPr txBox="1"/>
          <p:nvPr/>
        </p:nvSpPr>
        <p:spPr>
          <a:xfrm>
            <a:off x="5943600" y="2194560"/>
            <a:ext cx="1463040" cy="73152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5 and 1</a:t>
            </a:r>
            <a:endParaRPr lang="en-US" sz="1800" dirty="0"/>
          </a:p>
        </p:txBody>
      </p:sp>
      <p:sp>
        <p:nvSpPr>
          <p:cNvPr id="18" name="Text 16"/>
          <p:cNvSpPr txBox="1"/>
          <p:nvPr/>
        </p:nvSpPr>
        <p:spPr>
          <a:xfrm>
            <a:off x="7498080" y="2194560"/>
            <a:ext cx="914400" cy="73152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Yes</a:t>
            </a:r>
            <a:endParaRPr lang="en-US" sz="1800" dirty="0"/>
          </a:p>
        </p:txBody>
      </p:sp>
      <p:sp>
        <p:nvSpPr>
          <p:cNvPr id="19" name="Text 17"/>
          <p:cNvSpPr txBox="1"/>
          <p:nvPr/>
        </p:nvSpPr>
        <p:spPr>
          <a:xfrm>
            <a:off x="8595360" y="2194560"/>
            <a:ext cx="2743200" cy="731520"/>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1 5 4 2 8</a:t>
            </a:r>
            <a:endParaRPr lang="en-US" sz="1800" dirty="0"/>
          </a:p>
        </p:txBody>
      </p:sp>
      <p:sp>
        <p:nvSpPr>
          <p:cNvPr id="20" name="Shape 18"/>
          <p:cNvSpPr/>
          <p:nvPr/>
        </p:nvSpPr>
        <p:spPr>
          <a:xfrm>
            <a:off x="548640" y="3108960"/>
            <a:ext cx="868680" cy="731520"/>
          </a:xfrm>
          <a:prstGeom prst="roundRect">
            <a:avLst>
              <a:gd name="adj" fmla="val 10000"/>
            </a:avLst>
          </a:prstGeom>
          <a:solidFill>
            <a:schemeClr val="accent1"/>
          </a:solidFill>
          <a:ln w="12700">
            <a:solidFill>
              <a:schemeClr val="accent1"/>
            </a:solidFill>
            <a:prstDash val="solid"/>
          </a:ln>
        </p:spPr>
      </p:sp>
      <p:sp>
        <p:nvSpPr>
          <p:cNvPr id="21" name="Text 19"/>
          <p:cNvSpPr txBox="1"/>
          <p:nvPr/>
        </p:nvSpPr>
        <p:spPr>
          <a:xfrm>
            <a:off x="548640" y="31089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22" name="Shape 20"/>
          <p:cNvSpPr/>
          <p:nvPr/>
        </p:nvSpPr>
        <p:spPr>
          <a:xfrm>
            <a:off x="1508760" y="3108960"/>
            <a:ext cx="868680" cy="731520"/>
          </a:xfrm>
          <a:prstGeom prst="roundRect">
            <a:avLst>
              <a:gd name="adj" fmla="val 10000"/>
            </a:avLst>
          </a:prstGeom>
          <a:solidFill>
            <a:schemeClr val="accent2"/>
          </a:solidFill>
          <a:ln w="12700">
            <a:solidFill>
              <a:schemeClr val="accent2"/>
            </a:solidFill>
            <a:prstDash val="solid"/>
          </a:ln>
        </p:spPr>
      </p:sp>
      <p:sp>
        <p:nvSpPr>
          <p:cNvPr id="23" name="Text 21"/>
          <p:cNvSpPr txBox="1"/>
          <p:nvPr/>
        </p:nvSpPr>
        <p:spPr>
          <a:xfrm>
            <a:off x="1508760" y="31089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24" name="Shape 22"/>
          <p:cNvSpPr/>
          <p:nvPr/>
        </p:nvSpPr>
        <p:spPr>
          <a:xfrm>
            <a:off x="2468880" y="3108960"/>
            <a:ext cx="868680" cy="731520"/>
          </a:xfrm>
          <a:prstGeom prst="roundRect">
            <a:avLst>
              <a:gd name="adj" fmla="val 10000"/>
            </a:avLst>
          </a:prstGeom>
          <a:solidFill>
            <a:schemeClr val="accent2"/>
          </a:solidFill>
          <a:ln w="12700">
            <a:solidFill>
              <a:schemeClr val="accent2"/>
            </a:solidFill>
            <a:prstDash val="solid"/>
          </a:ln>
        </p:spPr>
      </p:sp>
      <p:sp>
        <p:nvSpPr>
          <p:cNvPr id="25" name="Text 23"/>
          <p:cNvSpPr txBox="1"/>
          <p:nvPr/>
        </p:nvSpPr>
        <p:spPr>
          <a:xfrm>
            <a:off x="2468880" y="31089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4</a:t>
            </a:r>
            <a:endParaRPr lang="en-US" sz="2000" dirty="0"/>
          </a:p>
        </p:txBody>
      </p:sp>
      <p:sp>
        <p:nvSpPr>
          <p:cNvPr id="26" name="Shape 24"/>
          <p:cNvSpPr/>
          <p:nvPr/>
        </p:nvSpPr>
        <p:spPr>
          <a:xfrm>
            <a:off x="3429000" y="3108960"/>
            <a:ext cx="868680" cy="731520"/>
          </a:xfrm>
          <a:prstGeom prst="roundRect">
            <a:avLst>
              <a:gd name="adj" fmla="val 10000"/>
            </a:avLst>
          </a:prstGeom>
          <a:solidFill>
            <a:schemeClr val="accent1"/>
          </a:solidFill>
          <a:ln w="12700">
            <a:solidFill>
              <a:schemeClr val="accent1"/>
            </a:solidFill>
            <a:prstDash val="solid"/>
          </a:ln>
        </p:spPr>
      </p:sp>
      <p:sp>
        <p:nvSpPr>
          <p:cNvPr id="27" name="Text 25"/>
          <p:cNvSpPr txBox="1"/>
          <p:nvPr/>
        </p:nvSpPr>
        <p:spPr>
          <a:xfrm>
            <a:off x="3429000" y="31089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28" name="Shape 26"/>
          <p:cNvSpPr/>
          <p:nvPr/>
        </p:nvSpPr>
        <p:spPr>
          <a:xfrm>
            <a:off x="4389120" y="3108960"/>
            <a:ext cx="868680" cy="731520"/>
          </a:xfrm>
          <a:prstGeom prst="roundRect">
            <a:avLst>
              <a:gd name="adj" fmla="val 10000"/>
            </a:avLst>
          </a:prstGeom>
          <a:solidFill>
            <a:schemeClr val="accent1"/>
          </a:solidFill>
          <a:ln w="12700">
            <a:solidFill>
              <a:schemeClr val="accent1"/>
            </a:solidFill>
            <a:prstDash val="solid"/>
          </a:ln>
        </p:spPr>
      </p:sp>
      <p:sp>
        <p:nvSpPr>
          <p:cNvPr id="29" name="Text 27"/>
          <p:cNvSpPr txBox="1"/>
          <p:nvPr/>
        </p:nvSpPr>
        <p:spPr>
          <a:xfrm>
            <a:off x="4389120" y="31089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30" name="Text 28"/>
          <p:cNvSpPr txBox="1"/>
          <p:nvPr/>
        </p:nvSpPr>
        <p:spPr>
          <a:xfrm>
            <a:off x="5943600" y="3108960"/>
            <a:ext cx="1463040" cy="73152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5 and 4</a:t>
            </a:r>
            <a:endParaRPr lang="en-US" sz="1800" dirty="0"/>
          </a:p>
        </p:txBody>
      </p:sp>
      <p:sp>
        <p:nvSpPr>
          <p:cNvPr id="31" name="Text 29"/>
          <p:cNvSpPr txBox="1"/>
          <p:nvPr/>
        </p:nvSpPr>
        <p:spPr>
          <a:xfrm>
            <a:off x="7498080" y="3108960"/>
            <a:ext cx="914400" cy="73152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Yes</a:t>
            </a:r>
            <a:endParaRPr lang="en-US" sz="1800" dirty="0"/>
          </a:p>
        </p:txBody>
      </p:sp>
      <p:sp>
        <p:nvSpPr>
          <p:cNvPr id="32" name="Text 30"/>
          <p:cNvSpPr txBox="1"/>
          <p:nvPr/>
        </p:nvSpPr>
        <p:spPr>
          <a:xfrm>
            <a:off x="8595360" y="3108960"/>
            <a:ext cx="2743200" cy="731520"/>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1 4 5 2 8</a:t>
            </a:r>
            <a:endParaRPr lang="en-US" sz="1800" dirty="0"/>
          </a:p>
        </p:txBody>
      </p:sp>
      <p:sp>
        <p:nvSpPr>
          <p:cNvPr id="33" name="Shape 31"/>
          <p:cNvSpPr/>
          <p:nvPr/>
        </p:nvSpPr>
        <p:spPr>
          <a:xfrm>
            <a:off x="548640" y="4023360"/>
            <a:ext cx="868680" cy="731520"/>
          </a:xfrm>
          <a:prstGeom prst="roundRect">
            <a:avLst>
              <a:gd name="adj" fmla="val 10000"/>
            </a:avLst>
          </a:prstGeom>
          <a:solidFill>
            <a:schemeClr val="accent1"/>
          </a:solidFill>
          <a:ln w="12700">
            <a:solidFill>
              <a:schemeClr val="accent1"/>
            </a:solidFill>
            <a:prstDash val="solid"/>
          </a:ln>
        </p:spPr>
      </p:sp>
      <p:sp>
        <p:nvSpPr>
          <p:cNvPr id="34" name="Text 32"/>
          <p:cNvSpPr txBox="1"/>
          <p:nvPr/>
        </p:nvSpPr>
        <p:spPr>
          <a:xfrm>
            <a:off x="548640" y="40233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35" name="Shape 33"/>
          <p:cNvSpPr/>
          <p:nvPr/>
        </p:nvSpPr>
        <p:spPr>
          <a:xfrm>
            <a:off x="1508760" y="4023360"/>
            <a:ext cx="868680" cy="731520"/>
          </a:xfrm>
          <a:prstGeom prst="roundRect">
            <a:avLst>
              <a:gd name="adj" fmla="val 10000"/>
            </a:avLst>
          </a:prstGeom>
          <a:solidFill>
            <a:schemeClr val="accent1"/>
          </a:solidFill>
          <a:ln w="12700">
            <a:solidFill>
              <a:schemeClr val="accent1"/>
            </a:solidFill>
            <a:prstDash val="solid"/>
          </a:ln>
        </p:spPr>
      </p:sp>
      <p:sp>
        <p:nvSpPr>
          <p:cNvPr id="36" name="Text 34"/>
          <p:cNvSpPr txBox="1"/>
          <p:nvPr/>
        </p:nvSpPr>
        <p:spPr>
          <a:xfrm>
            <a:off x="1508760" y="40233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37" name="Shape 35"/>
          <p:cNvSpPr/>
          <p:nvPr/>
        </p:nvSpPr>
        <p:spPr>
          <a:xfrm>
            <a:off x="2468880" y="4023360"/>
            <a:ext cx="868680" cy="731520"/>
          </a:xfrm>
          <a:prstGeom prst="roundRect">
            <a:avLst>
              <a:gd name="adj" fmla="val 10000"/>
            </a:avLst>
          </a:prstGeom>
          <a:solidFill>
            <a:schemeClr val="accent2"/>
          </a:solidFill>
          <a:ln w="12700">
            <a:solidFill>
              <a:schemeClr val="accent2"/>
            </a:solidFill>
            <a:prstDash val="solid"/>
          </a:ln>
        </p:spPr>
      </p:sp>
      <p:sp>
        <p:nvSpPr>
          <p:cNvPr id="38" name="Text 36"/>
          <p:cNvSpPr txBox="1"/>
          <p:nvPr/>
        </p:nvSpPr>
        <p:spPr>
          <a:xfrm>
            <a:off x="2468880" y="40233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39" name="Shape 37"/>
          <p:cNvSpPr/>
          <p:nvPr/>
        </p:nvSpPr>
        <p:spPr>
          <a:xfrm>
            <a:off x="3429000" y="4023360"/>
            <a:ext cx="868680" cy="731520"/>
          </a:xfrm>
          <a:prstGeom prst="roundRect">
            <a:avLst>
              <a:gd name="adj" fmla="val 10000"/>
            </a:avLst>
          </a:prstGeom>
          <a:solidFill>
            <a:schemeClr val="accent2"/>
          </a:solidFill>
          <a:ln w="12700">
            <a:solidFill>
              <a:schemeClr val="accent2"/>
            </a:solidFill>
            <a:prstDash val="solid"/>
          </a:ln>
        </p:spPr>
      </p:sp>
      <p:sp>
        <p:nvSpPr>
          <p:cNvPr id="40" name="Text 38"/>
          <p:cNvSpPr txBox="1"/>
          <p:nvPr/>
        </p:nvSpPr>
        <p:spPr>
          <a:xfrm>
            <a:off x="3429000" y="40233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2</a:t>
            </a:r>
            <a:endParaRPr lang="en-US" sz="2000" dirty="0"/>
          </a:p>
        </p:txBody>
      </p:sp>
      <p:sp>
        <p:nvSpPr>
          <p:cNvPr id="41" name="Shape 39"/>
          <p:cNvSpPr/>
          <p:nvPr/>
        </p:nvSpPr>
        <p:spPr>
          <a:xfrm>
            <a:off x="4389120" y="4023360"/>
            <a:ext cx="868680" cy="731520"/>
          </a:xfrm>
          <a:prstGeom prst="roundRect">
            <a:avLst>
              <a:gd name="adj" fmla="val 10000"/>
            </a:avLst>
          </a:prstGeom>
          <a:solidFill>
            <a:schemeClr val="accent1"/>
          </a:solidFill>
          <a:ln w="12700">
            <a:solidFill>
              <a:schemeClr val="accent1"/>
            </a:solidFill>
            <a:prstDash val="solid"/>
          </a:ln>
        </p:spPr>
      </p:sp>
      <p:sp>
        <p:nvSpPr>
          <p:cNvPr id="42" name="Text 40"/>
          <p:cNvSpPr txBox="1"/>
          <p:nvPr/>
        </p:nvSpPr>
        <p:spPr>
          <a:xfrm>
            <a:off x="4389120" y="40233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43" name="Text 41"/>
          <p:cNvSpPr txBox="1"/>
          <p:nvPr/>
        </p:nvSpPr>
        <p:spPr>
          <a:xfrm>
            <a:off x="5943600" y="4023360"/>
            <a:ext cx="1463040" cy="73152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5 and 2</a:t>
            </a:r>
            <a:endParaRPr lang="en-US" sz="1800" dirty="0"/>
          </a:p>
        </p:txBody>
      </p:sp>
      <p:sp>
        <p:nvSpPr>
          <p:cNvPr id="44" name="Text 42"/>
          <p:cNvSpPr txBox="1"/>
          <p:nvPr/>
        </p:nvSpPr>
        <p:spPr>
          <a:xfrm>
            <a:off x="7498080" y="4023360"/>
            <a:ext cx="914400" cy="73152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Yes</a:t>
            </a:r>
            <a:endParaRPr lang="en-US" sz="1800" dirty="0"/>
          </a:p>
        </p:txBody>
      </p:sp>
      <p:sp>
        <p:nvSpPr>
          <p:cNvPr id="45" name="Text 43"/>
          <p:cNvSpPr txBox="1"/>
          <p:nvPr/>
        </p:nvSpPr>
        <p:spPr>
          <a:xfrm>
            <a:off x="8595360" y="4023360"/>
            <a:ext cx="2743200" cy="731520"/>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1 4 2 5 8</a:t>
            </a:r>
            <a:endParaRPr lang="en-US" sz="1800" dirty="0"/>
          </a:p>
        </p:txBody>
      </p:sp>
      <p:sp>
        <p:nvSpPr>
          <p:cNvPr id="46" name="Shape 44"/>
          <p:cNvSpPr/>
          <p:nvPr/>
        </p:nvSpPr>
        <p:spPr>
          <a:xfrm>
            <a:off x="548640" y="4937760"/>
            <a:ext cx="868680" cy="731520"/>
          </a:xfrm>
          <a:prstGeom prst="roundRect">
            <a:avLst>
              <a:gd name="adj" fmla="val 10000"/>
            </a:avLst>
          </a:prstGeom>
          <a:solidFill>
            <a:schemeClr val="accent1"/>
          </a:solidFill>
          <a:ln w="12700">
            <a:solidFill>
              <a:schemeClr val="accent1"/>
            </a:solidFill>
            <a:prstDash val="solid"/>
          </a:ln>
        </p:spPr>
      </p:sp>
      <p:sp>
        <p:nvSpPr>
          <p:cNvPr id="47" name="Text 45"/>
          <p:cNvSpPr txBox="1"/>
          <p:nvPr/>
        </p:nvSpPr>
        <p:spPr>
          <a:xfrm>
            <a:off x="548640" y="49377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48" name="Shape 46"/>
          <p:cNvSpPr/>
          <p:nvPr/>
        </p:nvSpPr>
        <p:spPr>
          <a:xfrm>
            <a:off x="1508760" y="4937760"/>
            <a:ext cx="868680" cy="731520"/>
          </a:xfrm>
          <a:prstGeom prst="roundRect">
            <a:avLst>
              <a:gd name="adj" fmla="val 10000"/>
            </a:avLst>
          </a:prstGeom>
          <a:solidFill>
            <a:schemeClr val="accent1"/>
          </a:solidFill>
          <a:ln w="12700">
            <a:solidFill>
              <a:schemeClr val="accent1"/>
            </a:solidFill>
            <a:prstDash val="solid"/>
          </a:ln>
        </p:spPr>
      </p:sp>
      <p:sp>
        <p:nvSpPr>
          <p:cNvPr id="49" name="Text 47"/>
          <p:cNvSpPr txBox="1"/>
          <p:nvPr/>
        </p:nvSpPr>
        <p:spPr>
          <a:xfrm>
            <a:off x="1508760" y="49377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50" name="Shape 48"/>
          <p:cNvSpPr/>
          <p:nvPr/>
        </p:nvSpPr>
        <p:spPr>
          <a:xfrm>
            <a:off x="2468880" y="4937760"/>
            <a:ext cx="868680" cy="731520"/>
          </a:xfrm>
          <a:prstGeom prst="roundRect">
            <a:avLst>
              <a:gd name="adj" fmla="val 10000"/>
            </a:avLst>
          </a:prstGeom>
          <a:solidFill>
            <a:schemeClr val="accent1"/>
          </a:solidFill>
          <a:ln w="12700">
            <a:solidFill>
              <a:schemeClr val="accent1"/>
            </a:solidFill>
            <a:prstDash val="solid"/>
          </a:ln>
        </p:spPr>
      </p:sp>
      <p:sp>
        <p:nvSpPr>
          <p:cNvPr id="51" name="Text 49"/>
          <p:cNvSpPr txBox="1"/>
          <p:nvPr/>
        </p:nvSpPr>
        <p:spPr>
          <a:xfrm>
            <a:off x="2468880" y="4937760"/>
            <a:ext cx="86868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52" name="Shape 50"/>
          <p:cNvSpPr/>
          <p:nvPr/>
        </p:nvSpPr>
        <p:spPr>
          <a:xfrm>
            <a:off x="3429000" y="4937760"/>
            <a:ext cx="868680" cy="731520"/>
          </a:xfrm>
          <a:prstGeom prst="roundRect">
            <a:avLst>
              <a:gd name="adj" fmla="val 10000"/>
            </a:avLst>
          </a:prstGeom>
          <a:solidFill>
            <a:schemeClr val="accent2"/>
          </a:solidFill>
          <a:ln w="12700">
            <a:solidFill>
              <a:schemeClr val="accent2"/>
            </a:solidFill>
            <a:prstDash val="solid"/>
          </a:ln>
        </p:spPr>
      </p:sp>
      <p:sp>
        <p:nvSpPr>
          <p:cNvPr id="53" name="Text 51"/>
          <p:cNvSpPr txBox="1"/>
          <p:nvPr/>
        </p:nvSpPr>
        <p:spPr>
          <a:xfrm>
            <a:off x="3429000" y="49377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54" name="Shape 52"/>
          <p:cNvSpPr/>
          <p:nvPr/>
        </p:nvSpPr>
        <p:spPr>
          <a:xfrm>
            <a:off x="4389120" y="4937760"/>
            <a:ext cx="868680" cy="731520"/>
          </a:xfrm>
          <a:prstGeom prst="roundRect">
            <a:avLst>
              <a:gd name="adj" fmla="val 10000"/>
            </a:avLst>
          </a:prstGeom>
          <a:solidFill>
            <a:schemeClr val="accent2"/>
          </a:solidFill>
          <a:ln w="12700">
            <a:solidFill>
              <a:schemeClr val="accent2"/>
            </a:solidFill>
            <a:prstDash val="solid"/>
          </a:ln>
        </p:spPr>
      </p:sp>
      <p:sp>
        <p:nvSpPr>
          <p:cNvPr id="55" name="Text 53"/>
          <p:cNvSpPr txBox="1"/>
          <p:nvPr/>
        </p:nvSpPr>
        <p:spPr>
          <a:xfrm>
            <a:off x="4389120" y="4937760"/>
            <a:ext cx="868680"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8</a:t>
            </a:r>
            <a:endParaRPr lang="en-US" sz="2000" dirty="0"/>
          </a:p>
        </p:txBody>
      </p:sp>
      <p:sp>
        <p:nvSpPr>
          <p:cNvPr id="56" name="Text 54"/>
          <p:cNvSpPr txBox="1"/>
          <p:nvPr/>
        </p:nvSpPr>
        <p:spPr>
          <a:xfrm>
            <a:off x="5943600" y="4937760"/>
            <a:ext cx="1463040" cy="73152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5 and 8</a:t>
            </a:r>
            <a:endParaRPr lang="en-US" sz="1800" dirty="0"/>
          </a:p>
        </p:txBody>
      </p:sp>
      <p:sp>
        <p:nvSpPr>
          <p:cNvPr id="57" name="Text 55"/>
          <p:cNvSpPr txBox="1"/>
          <p:nvPr/>
        </p:nvSpPr>
        <p:spPr>
          <a:xfrm>
            <a:off x="7498080" y="4937760"/>
            <a:ext cx="914400" cy="731520"/>
          </a:xfrm>
          <a:prstGeom prst="rect">
            <a:avLst/>
          </a:prstGeom>
          <a:noFill/>
          <a:ln/>
        </p:spPr>
        <p:txBody>
          <a:bodyPr wrap="square" lIns="0" tIns="0" rIns="0" bIns="0" rtlCol="0" anchor="ctr"/>
          <a:lstStyle/>
          <a:p>
            <a:pPr indent="0" marL="0">
              <a:buNone/>
            </a:pPr>
            <a:r>
              <a:rPr lang="en-US" sz="1800" b="1" dirty="0">
                <a:solidFill>
                  <a:srgbClr val="6B7F8A"/>
                </a:solidFill>
                <a:latin typeface="Calibri" pitchFamily="34" charset="0"/>
                <a:ea typeface="Calibri" pitchFamily="34" charset="-122"/>
                <a:cs typeface="Calibri" pitchFamily="34" charset="-120"/>
              </a:rPr>
              <a:t>No</a:t>
            </a:r>
            <a:endParaRPr lang="en-US" sz="1800" dirty="0"/>
          </a:p>
        </p:txBody>
      </p:sp>
      <p:sp>
        <p:nvSpPr>
          <p:cNvPr id="58" name="Text 56"/>
          <p:cNvSpPr txBox="1"/>
          <p:nvPr/>
        </p:nvSpPr>
        <p:spPr>
          <a:xfrm>
            <a:off x="8595360" y="4937760"/>
            <a:ext cx="2743200" cy="731520"/>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1 4 2 5 8</a:t>
            </a:r>
            <a:endParaRPr lang="en-US" sz="1800" dirty="0"/>
          </a:p>
        </p:txBody>
      </p:sp>
      <p:sp>
        <p:nvSpPr>
          <p:cNvPr id="59" name="Text 57"/>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4 comparisons, 3 swaps. The largest value, 8, is now in its final place.</a:t>
            </a:r>
            <a:endParaRPr lang="en-US" sz="17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Passes 2 to 4: the rest falls into place</a:t>
            </a:r>
            <a:endParaRPr lang="en-US" sz="3600" dirty="0"/>
          </a:p>
        </p:txBody>
      </p:sp>
      <p:sp>
        <p:nvSpPr>
          <p:cNvPr id="3" name="Text 1"/>
          <p:cNvSpPr txBox="1"/>
          <p:nvPr/>
        </p:nvSpPr>
        <p:spPr>
          <a:xfrm>
            <a:off x="548640" y="1280160"/>
            <a:ext cx="10972800" cy="365760"/>
          </a:xfrm>
          <a:prstGeom prst="rect">
            <a:avLst/>
          </a:prstGeom>
          <a:noFill/>
          <a:ln/>
        </p:spPr>
        <p:txBody>
          <a:bodyPr wrap="square" lIns="0" tIns="0" rIns="0" bIns="0" rtlCol="0" anchor="t"/>
          <a:lstStyle/>
          <a:p>
            <a:pPr indent="0" marL="0">
              <a:buNone/>
            </a:pPr>
            <a:r>
              <a:rPr lang="en-US" sz="1700" dirty="0">
                <a:solidFill>
                  <a:srgbClr val="6B7F8A"/>
                </a:solidFill>
                <a:latin typeface="Calibri" pitchFamily="34" charset="0"/>
                <a:ea typeface="Calibri" pitchFamily="34" charset="-122"/>
                <a:cs typeface="Calibri" pitchFamily="34" charset="-120"/>
              </a:rPr>
              <a:t>Dark boxes are already in their final place.</a:t>
            </a:r>
            <a:endParaRPr lang="en-US" sz="1700" dirty="0"/>
          </a:p>
        </p:txBody>
      </p:sp>
      <p:sp>
        <p:nvSpPr>
          <p:cNvPr id="4" name="Pass 2"/>
          <p:cNvSpPr/>
          <p:nvPr/>
        </p:nvSpPr>
        <p:spPr>
          <a:xfrm>
            <a:off x="548640" y="1828800"/>
            <a:ext cx="11091672" cy="1051560"/>
          </a:xfrm>
          <a:prstGeom prst="roundRect">
            <a:avLst>
              <a:gd name="adj" fmla="val 10435"/>
            </a:avLst>
          </a:prstGeom>
          <a:solidFill>
            <a:schemeClr val="bg2"/>
          </a:solidFill>
          <a:ln w="12700">
            <a:solidFill>
              <a:schemeClr val="bg2"/>
            </a:solidFill>
            <a:prstDash val="solid"/>
          </a:ln>
        </p:spPr>
      </p:sp>
      <p:sp>
        <p:nvSpPr>
          <p:cNvPr id="5" name="Text 3"/>
          <p:cNvSpPr txBox="1"/>
          <p:nvPr/>
        </p:nvSpPr>
        <p:spPr>
          <a:xfrm>
            <a:off x="822960" y="1828800"/>
            <a:ext cx="1280160" cy="10515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Pass 2</a:t>
            </a:r>
            <a:endParaRPr lang="en-US" sz="2000" dirty="0"/>
          </a:p>
        </p:txBody>
      </p:sp>
      <p:sp>
        <p:nvSpPr>
          <p:cNvPr id="6" name="Shape 4"/>
          <p:cNvSpPr/>
          <p:nvPr/>
        </p:nvSpPr>
        <p:spPr>
          <a:xfrm>
            <a:off x="2194560" y="2011680"/>
            <a:ext cx="731520" cy="685800"/>
          </a:xfrm>
          <a:prstGeom prst="roundRect">
            <a:avLst>
              <a:gd name="adj" fmla="val 10667"/>
            </a:avLst>
          </a:prstGeom>
          <a:solidFill>
            <a:schemeClr val="accent1"/>
          </a:solidFill>
          <a:ln w="12700">
            <a:solidFill>
              <a:schemeClr val="accent1"/>
            </a:solidFill>
            <a:prstDash val="solid"/>
          </a:ln>
        </p:spPr>
      </p:sp>
      <p:sp>
        <p:nvSpPr>
          <p:cNvPr id="7" name="Text 5"/>
          <p:cNvSpPr txBox="1"/>
          <p:nvPr/>
        </p:nvSpPr>
        <p:spPr>
          <a:xfrm>
            <a:off x="2194560" y="201168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3017520" y="2011680"/>
            <a:ext cx="731520" cy="685800"/>
          </a:xfrm>
          <a:prstGeom prst="roundRect">
            <a:avLst>
              <a:gd name="adj" fmla="val 10667"/>
            </a:avLst>
          </a:prstGeom>
          <a:solidFill>
            <a:schemeClr val="accent1"/>
          </a:solidFill>
          <a:ln w="12700">
            <a:solidFill>
              <a:schemeClr val="accent1"/>
            </a:solidFill>
            <a:prstDash val="solid"/>
          </a:ln>
        </p:spPr>
      </p:sp>
      <p:sp>
        <p:nvSpPr>
          <p:cNvPr id="9" name="Text 7"/>
          <p:cNvSpPr txBox="1"/>
          <p:nvPr/>
        </p:nvSpPr>
        <p:spPr>
          <a:xfrm>
            <a:off x="3017520" y="201168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3840480" y="2011680"/>
            <a:ext cx="731520" cy="685800"/>
          </a:xfrm>
          <a:prstGeom prst="roundRect">
            <a:avLst>
              <a:gd name="adj" fmla="val 10667"/>
            </a:avLst>
          </a:prstGeom>
          <a:solidFill>
            <a:schemeClr val="accent1"/>
          </a:solidFill>
          <a:ln w="12700">
            <a:solidFill>
              <a:schemeClr val="accent1"/>
            </a:solidFill>
            <a:prstDash val="solid"/>
          </a:ln>
        </p:spPr>
      </p:sp>
      <p:sp>
        <p:nvSpPr>
          <p:cNvPr id="11" name="Text 9"/>
          <p:cNvSpPr txBox="1"/>
          <p:nvPr/>
        </p:nvSpPr>
        <p:spPr>
          <a:xfrm>
            <a:off x="3840480" y="201168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12" name="Shape 10"/>
          <p:cNvSpPr/>
          <p:nvPr/>
        </p:nvSpPr>
        <p:spPr>
          <a:xfrm>
            <a:off x="4663440" y="2011680"/>
            <a:ext cx="731520" cy="685800"/>
          </a:xfrm>
          <a:prstGeom prst="roundRect">
            <a:avLst>
              <a:gd name="adj" fmla="val 10667"/>
            </a:avLst>
          </a:prstGeom>
          <a:solidFill>
            <a:schemeClr val="tx2"/>
          </a:solidFill>
          <a:ln w="12700">
            <a:solidFill>
              <a:schemeClr val="tx2"/>
            </a:solidFill>
            <a:prstDash val="solid"/>
          </a:ln>
        </p:spPr>
      </p:sp>
      <p:sp>
        <p:nvSpPr>
          <p:cNvPr id="13" name="Text 11"/>
          <p:cNvSpPr txBox="1"/>
          <p:nvPr/>
        </p:nvSpPr>
        <p:spPr>
          <a:xfrm>
            <a:off x="4663440" y="201168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14" name="Shape 12"/>
          <p:cNvSpPr/>
          <p:nvPr/>
        </p:nvSpPr>
        <p:spPr>
          <a:xfrm>
            <a:off x="5486400" y="2011680"/>
            <a:ext cx="731520" cy="685800"/>
          </a:xfrm>
          <a:prstGeom prst="roundRect">
            <a:avLst>
              <a:gd name="adj" fmla="val 10667"/>
            </a:avLst>
          </a:prstGeom>
          <a:solidFill>
            <a:schemeClr val="tx2"/>
          </a:solidFill>
          <a:ln w="12700">
            <a:solidFill>
              <a:schemeClr val="tx2"/>
            </a:solidFill>
            <a:prstDash val="solid"/>
          </a:ln>
        </p:spPr>
      </p:sp>
      <p:sp>
        <p:nvSpPr>
          <p:cNvPr id="15" name="Text 13"/>
          <p:cNvSpPr txBox="1"/>
          <p:nvPr/>
        </p:nvSpPr>
        <p:spPr>
          <a:xfrm>
            <a:off x="5486400" y="201168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8</a:t>
            </a:r>
            <a:endParaRPr lang="en-US" sz="1800" dirty="0"/>
          </a:p>
        </p:txBody>
      </p:sp>
      <p:sp>
        <p:nvSpPr>
          <p:cNvPr id="16" name="Text 14"/>
          <p:cNvSpPr txBox="1"/>
          <p:nvPr/>
        </p:nvSpPr>
        <p:spPr>
          <a:xfrm>
            <a:off x="6492240" y="1828800"/>
            <a:ext cx="5029200" cy="10515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3 comparisons: (1,4) no · (4,2) swap · (4,5) no</a:t>
            </a:r>
            <a:endParaRPr lang="en-US" sz="1600" dirty="0"/>
          </a:p>
        </p:txBody>
      </p:sp>
      <p:sp>
        <p:nvSpPr>
          <p:cNvPr id="17" name="Pass 3"/>
          <p:cNvSpPr/>
          <p:nvPr/>
        </p:nvSpPr>
        <p:spPr>
          <a:xfrm>
            <a:off x="548640" y="3063240"/>
            <a:ext cx="11091672" cy="1051560"/>
          </a:xfrm>
          <a:prstGeom prst="roundRect">
            <a:avLst>
              <a:gd name="adj" fmla="val 10435"/>
            </a:avLst>
          </a:prstGeom>
          <a:solidFill>
            <a:schemeClr val="bg2"/>
          </a:solidFill>
          <a:ln w="12700">
            <a:solidFill>
              <a:schemeClr val="bg2"/>
            </a:solidFill>
            <a:prstDash val="solid"/>
          </a:ln>
        </p:spPr>
      </p:sp>
      <p:sp>
        <p:nvSpPr>
          <p:cNvPr id="18" name="Text 16"/>
          <p:cNvSpPr txBox="1"/>
          <p:nvPr/>
        </p:nvSpPr>
        <p:spPr>
          <a:xfrm>
            <a:off x="822960" y="3063240"/>
            <a:ext cx="1280160" cy="10515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Pass 3</a:t>
            </a:r>
            <a:endParaRPr lang="en-US" sz="2000" dirty="0"/>
          </a:p>
        </p:txBody>
      </p:sp>
      <p:sp>
        <p:nvSpPr>
          <p:cNvPr id="19" name="Shape 17"/>
          <p:cNvSpPr/>
          <p:nvPr/>
        </p:nvSpPr>
        <p:spPr>
          <a:xfrm>
            <a:off x="2194560" y="3246120"/>
            <a:ext cx="731520" cy="685800"/>
          </a:xfrm>
          <a:prstGeom prst="roundRect">
            <a:avLst>
              <a:gd name="adj" fmla="val 10667"/>
            </a:avLst>
          </a:prstGeom>
          <a:solidFill>
            <a:schemeClr val="accent1"/>
          </a:solidFill>
          <a:ln w="12700">
            <a:solidFill>
              <a:schemeClr val="accent1"/>
            </a:solidFill>
            <a:prstDash val="solid"/>
          </a:ln>
        </p:spPr>
      </p:sp>
      <p:sp>
        <p:nvSpPr>
          <p:cNvPr id="20" name="Text 18"/>
          <p:cNvSpPr txBox="1"/>
          <p:nvPr/>
        </p:nvSpPr>
        <p:spPr>
          <a:xfrm>
            <a:off x="2194560" y="324612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21" name="Shape 19"/>
          <p:cNvSpPr/>
          <p:nvPr/>
        </p:nvSpPr>
        <p:spPr>
          <a:xfrm>
            <a:off x="3017520" y="3246120"/>
            <a:ext cx="731520" cy="685800"/>
          </a:xfrm>
          <a:prstGeom prst="roundRect">
            <a:avLst>
              <a:gd name="adj" fmla="val 10667"/>
            </a:avLst>
          </a:prstGeom>
          <a:solidFill>
            <a:schemeClr val="accent1"/>
          </a:solidFill>
          <a:ln w="12700">
            <a:solidFill>
              <a:schemeClr val="accent1"/>
            </a:solidFill>
            <a:prstDash val="solid"/>
          </a:ln>
        </p:spPr>
      </p:sp>
      <p:sp>
        <p:nvSpPr>
          <p:cNvPr id="22" name="Text 20"/>
          <p:cNvSpPr txBox="1"/>
          <p:nvPr/>
        </p:nvSpPr>
        <p:spPr>
          <a:xfrm>
            <a:off x="3017520" y="324612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23" name="Shape 21"/>
          <p:cNvSpPr/>
          <p:nvPr/>
        </p:nvSpPr>
        <p:spPr>
          <a:xfrm>
            <a:off x="3840480" y="3246120"/>
            <a:ext cx="731520" cy="685800"/>
          </a:xfrm>
          <a:prstGeom prst="roundRect">
            <a:avLst>
              <a:gd name="adj" fmla="val 10667"/>
            </a:avLst>
          </a:prstGeom>
          <a:solidFill>
            <a:schemeClr val="tx2"/>
          </a:solidFill>
          <a:ln w="12700">
            <a:solidFill>
              <a:schemeClr val="tx2"/>
            </a:solidFill>
            <a:prstDash val="solid"/>
          </a:ln>
        </p:spPr>
      </p:sp>
      <p:sp>
        <p:nvSpPr>
          <p:cNvPr id="24" name="Text 22"/>
          <p:cNvSpPr txBox="1"/>
          <p:nvPr/>
        </p:nvSpPr>
        <p:spPr>
          <a:xfrm>
            <a:off x="3840480" y="324612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5" name="Shape 23"/>
          <p:cNvSpPr/>
          <p:nvPr/>
        </p:nvSpPr>
        <p:spPr>
          <a:xfrm>
            <a:off x="4663440" y="3246120"/>
            <a:ext cx="731520" cy="685800"/>
          </a:xfrm>
          <a:prstGeom prst="roundRect">
            <a:avLst>
              <a:gd name="adj" fmla="val 10667"/>
            </a:avLst>
          </a:prstGeom>
          <a:solidFill>
            <a:schemeClr val="tx2"/>
          </a:solidFill>
          <a:ln w="12700">
            <a:solidFill>
              <a:schemeClr val="tx2"/>
            </a:solidFill>
            <a:prstDash val="solid"/>
          </a:ln>
        </p:spPr>
      </p:sp>
      <p:sp>
        <p:nvSpPr>
          <p:cNvPr id="26" name="Text 24"/>
          <p:cNvSpPr txBox="1"/>
          <p:nvPr/>
        </p:nvSpPr>
        <p:spPr>
          <a:xfrm>
            <a:off x="4663440" y="324612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7" name="Shape 25"/>
          <p:cNvSpPr/>
          <p:nvPr/>
        </p:nvSpPr>
        <p:spPr>
          <a:xfrm>
            <a:off x="5486400" y="3246120"/>
            <a:ext cx="731520" cy="685800"/>
          </a:xfrm>
          <a:prstGeom prst="roundRect">
            <a:avLst>
              <a:gd name="adj" fmla="val 10667"/>
            </a:avLst>
          </a:prstGeom>
          <a:solidFill>
            <a:schemeClr val="tx2"/>
          </a:solidFill>
          <a:ln w="12700">
            <a:solidFill>
              <a:schemeClr val="tx2"/>
            </a:solidFill>
            <a:prstDash val="solid"/>
          </a:ln>
        </p:spPr>
      </p:sp>
      <p:sp>
        <p:nvSpPr>
          <p:cNvPr id="28" name="Text 26"/>
          <p:cNvSpPr txBox="1"/>
          <p:nvPr/>
        </p:nvSpPr>
        <p:spPr>
          <a:xfrm>
            <a:off x="5486400" y="324612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8</a:t>
            </a:r>
            <a:endParaRPr lang="en-US" sz="1800" dirty="0"/>
          </a:p>
        </p:txBody>
      </p:sp>
      <p:sp>
        <p:nvSpPr>
          <p:cNvPr id="29" name="Text 27"/>
          <p:cNvSpPr txBox="1"/>
          <p:nvPr/>
        </p:nvSpPr>
        <p:spPr>
          <a:xfrm>
            <a:off x="6492240" y="3063240"/>
            <a:ext cx="5029200" cy="10515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2 comparisons: (1,2) no · (2,4) no — no swaps at all</a:t>
            </a:r>
            <a:endParaRPr lang="en-US" sz="1600" dirty="0"/>
          </a:p>
        </p:txBody>
      </p:sp>
      <p:sp>
        <p:nvSpPr>
          <p:cNvPr id="30" name="Pass 4"/>
          <p:cNvSpPr/>
          <p:nvPr/>
        </p:nvSpPr>
        <p:spPr>
          <a:xfrm>
            <a:off x="548640" y="4297680"/>
            <a:ext cx="11091672" cy="1051560"/>
          </a:xfrm>
          <a:prstGeom prst="roundRect">
            <a:avLst>
              <a:gd name="adj" fmla="val 10435"/>
            </a:avLst>
          </a:prstGeom>
          <a:solidFill>
            <a:schemeClr val="bg2"/>
          </a:solidFill>
          <a:ln w="12700">
            <a:solidFill>
              <a:schemeClr val="bg2"/>
            </a:solidFill>
            <a:prstDash val="solid"/>
          </a:ln>
        </p:spPr>
      </p:sp>
      <p:sp>
        <p:nvSpPr>
          <p:cNvPr id="31" name="Text 29"/>
          <p:cNvSpPr txBox="1"/>
          <p:nvPr/>
        </p:nvSpPr>
        <p:spPr>
          <a:xfrm>
            <a:off x="822960" y="4297680"/>
            <a:ext cx="1280160" cy="10515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Pass 4</a:t>
            </a:r>
            <a:endParaRPr lang="en-US" sz="2000" dirty="0"/>
          </a:p>
        </p:txBody>
      </p:sp>
      <p:sp>
        <p:nvSpPr>
          <p:cNvPr id="32" name="Shape 30"/>
          <p:cNvSpPr/>
          <p:nvPr/>
        </p:nvSpPr>
        <p:spPr>
          <a:xfrm>
            <a:off x="2194560" y="4480560"/>
            <a:ext cx="731520" cy="685800"/>
          </a:xfrm>
          <a:prstGeom prst="roundRect">
            <a:avLst>
              <a:gd name="adj" fmla="val 10667"/>
            </a:avLst>
          </a:prstGeom>
          <a:solidFill>
            <a:schemeClr val="tx2"/>
          </a:solidFill>
          <a:ln w="12700">
            <a:solidFill>
              <a:schemeClr val="tx2"/>
            </a:solidFill>
            <a:prstDash val="solid"/>
          </a:ln>
        </p:spPr>
      </p:sp>
      <p:sp>
        <p:nvSpPr>
          <p:cNvPr id="33" name="Text 31"/>
          <p:cNvSpPr txBox="1"/>
          <p:nvPr/>
        </p:nvSpPr>
        <p:spPr>
          <a:xfrm>
            <a:off x="2194560" y="44805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34" name="Shape 32"/>
          <p:cNvSpPr/>
          <p:nvPr/>
        </p:nvSpPr>
        <p:spPr>
          <a:xfrm>
            <a:off x="3017520" y="4480560"/>
            <a:ext cx="731520" cy="685800"/>
          </a:xfrm>
          <a:prstGeom prst="roundRect">
            <a:avLst>
              <a:gd name="adj" fmla="val 10667"/>
            </a:avLst>
          </a:prstGeom>
          <a:solidFill>
            <a:schemeClr val="tx2"/>
          </a:solidFill>
          <a:ln w="12700">
            <a:solidFill>
              <a:schemeClr val="tx2"/>
            </a:solidFill>
            <a:prstDash val="solid"/>
          </a:ln>
        </p:spPr>
      </p:sp>
      <p:sp>
        <p:nvSpPr>
          <p:cNvPr id="35" name="Text 33"/>
          <p:cNvSpPr txBox="1"/>
          <p:nvPr/>
        </p:nvSpPr>
        <p:spPr>
          <a:xfrm>
            <a:off x="3017520" y="44805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36" name="Shape 34"/>
          <p:cNvSpPr/>
          <p:nvPr/>
        </p:nvSpPr>
        <p:spPr>
          <a:xfrm>
            <a:off x="3840480" y="4480560"/>
            <a:ext cx="731520" cy="685800"/>
          </a:xfrm>
          <a:prstGeom prst="roundRect">
            <a:avLst>
              <a:gd name="adj" fmla="val 10667"/>
            </a:avLst>
          </a:prstGeom>
          <a:solidFill>
            <a:schemeClr val="tx2"/>
          </a:solidFill>
          <a:ln w="12700">
            <a:solidFill>
              <a:schemeClr val="tx2"/>
            </a:solidFill>
            <a:prstDash val="solid"/>
          </a:ln>
        </p:spPr>
      </p:sp>
      <p:sp>
        <p:nvSpPr>
          <p:cNvPr id="37" name="Text 35"/>
          <p:cNvSpPr txBox="1"/>
          <p:nvPr/>
        </p:nvSpPr>
        <p:spPr>
          <a:xfrm>
            <a:off x="3840480" y="44805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38" name="Shape 36"/>
          <p:cNvSpPr/>
          <p:nvPr/>
        </p:nvSpPr>
        <p:spPr>
          <a:xfrm>
            <a:off x="4663440" y="4480560"/>
            <a:ext cx="731520" cy="685800"/>
          </a:xfrm>
          <a:prstGeom prst="roundRect">
            <a:avLst>
              <a:gd name="adj" fmla="val 10667"/>
            </a:avLst>
          </a:prstGeom>
          <a:solidFill>
            <a:schemeClr val="tx2"/>
          </a:solidFill>
          <a:ln w="12700">
            <a:solidFill>
              <a:schemeClr val="tx2"/>
            </a:solidFill>
            <a:prstDash val="solid"/>
          </a:ln>
        </p:spPr>
      </p:sp>
      <p:sp>
        <p:nvSpPr>
          <p:cNvPr id="39" name="Text 37"/>
          <p:cNvSpPr txBox="1"/>
          <p:nvPr/>
        </p:nvSpPr>
        <p:spPr>
          <a:xfrm>
            <a:off x="4663440" y="44805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40" name="Shape 38"/>
          <p:cNvSpPr/>
          <p:nvPr/>
        </p:nvSpPr>
        <p:spPr>
          <a:xfrm>
            <a:off x="5486400" y="4480560"/>
            <a:ext cx="731520" cy="685800"/>
          </a:xfrm>
          <a:prstGeom prst="roundRect">
            <a:avLst>
              <a:gd name="adj" fmla="val 10667"/>
            </a:avLst>
          </a:prstGeom>
          <a:solidFill>
            <a:schemeClr val="tx2"/>
          </a:solidFill>
          <a:ln w="12700">
            <a:solidFill>
              <a:schemeClr val="tx2"/>
            </a:solidFill>
            <a:prstDash val="solid"/>
          </a:ln>
        </p:spPr>
      </p:sp>
      <p:sp>
        <p:nvSpPr>
          <p:cNvPr id="41" name="Text 39"/>
          <p:cNvSpPr txBox="1"/>
          <p:nvPr/>
        </p:nvSpPr>
        <p:spPr>
          <a:xfrm>
            <a:off x="5486400" y="44805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8</a:t>
            </a:r>
            <a:endParaRPr lang="en-US" sz="1800" dirty="0"/>
          </a:p>
        </p:txBody>
      </p:sp>
      <p:sp>
        <p:nvSpPr>
          <p:cNvPr id="42" name="Text 40"/>
          <p:cNvSpPr txBox="1"/>
          <p:nvPr/>
        </p:nvSpPr>
        <p:spPr>
          <a:xfrm>
            <a:off x="6492240" y="4297680"/>
            <a:ext cx="5029200" cy="10515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1 comparison: (1,2) no — array is sorted</a:t>
            </a:r>
            <a:endParaRPr lang="en-US" sz="1600" dirty="0"/>
          </a:p>
        </p:txBody>
      </p:sp>
      <p:sp>
        <p:nvSpPr>
          <p:cNvPr id="43" name="total"/>
          <p:cNvSpPr/>
          <p:nvPr/>
        </p:nvSpPr>
        <p:spPr>
          <a:xfrm>
            <a:off x="548640" y="5577840"/>
            <a:ext cx="11091672" cy="777240"/>
          </a:xfrm>
          <a:prstGeom prst="roundRect">
            <a:avLst>
              <a:gd name="adj" fmla="val 14118"/>
            </a:avLst>
          </a:prstGeom>
          <a:solidFill>
            <a:schemeClr val="tx2"/>
          </a:solidFill>
          <a:ln w="12700">
            <a:solidFill>
              <a:schemeClr val="tx2"/>
            </a:solidFill>
            <a:prstDash val="solid"/>
          </a:ln>
        </p:spPr>
      </p:sp>
      <p:sp>
        <p:nvSpPr>
          <p:cNvPr id="44" name="Text 42"/>
          <p:cNvSpPr txBox="1"/>
          <p:nvPr/>
        </p:nvSpPr>
        <p:spPr>
          <a:xfrm>
            <a:off x="914400" y="5577840"/>
            <a:ext cx="10332720" cy="77724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Total comparisons = 4 + 3 + 2 + 1 = 10, </a:t>
            </a:r>
            <a:pPr indent="0" marL="0">
              <a:buNone/>
            </a:pPr>
            <a:r>
              <a:rPr lang="en-US" sz="1800" b="1" dirty="0">
                <a:solidFill>
                  <a:schemeClr val="accent2"/>
                </a:solidFill>
                <a:latin typeface="Calibri" pitchFamily="34" charset="0"/>
                <a:ea typeface="Calibri" pitchFamily="34" charset="-122"/>
                <a:cs typeface="Calibri" pitchFamily="34" charset="-120"/>
              </a:rPr>
              <a:t>which is n(n − 1)/2 for n = 5</a:t>
            </a:r>
            <a:endParaRPr lang="en-US" sz="18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early-exit trick</a:t>
            </a:r>
            <a:endParaRPr lang="en-US" sz="3600" dirty="0"/>
          </a:p>
        </p:txBody>
      </p:sp>
      <p:sp>
        <p:nvSpPr>
          <p:cNvPr id="3" name="explanation"/>
          <p:cNvSpPr/>
          <p:nvPr/>
        </p:nvSpPr>
        <p:spPr>
          <a:xfrm>
            <a:off x="548640" y="1417320"/>
            <a:ext cx="5486400" cy="4206240"/>
          </a:xfrm>
          <a:prstGeom prst="roundRect">
            <a:avLst>
              <a:gd name="adj" fmla="val 2609"/>
            </a:avLst>
          </a:prstGeom>
          <a:solidFill>
            <a:schemeClr val="bg2"/>
          </a:solidFill>
          <a:ln w="12700">
            <a:solidFill>
              <a:schemeClr val="bg2"/>
            </a:solidFill>
            <a:prstDash val="solid"/>
          </a:ln>
        </p:spPr>
      </p:sp>
      <p:sp>
        <p:nvSpPr>
          <p:cNvPr id="4" name="Text 2"/>
          <p:cNvSpPr txBox="1"/>
          <p:nvPr/>
        </p:nvSpPr>
        <p:spPr>
          <a:xfrm>
            <a:off x="868680" y="1645920"/>
            <a:ext cx="48463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Optimized bubble sort</a:t>
            </a:r>
            <a:endParaRPr lang="en-US" sz="2000" dirty="0"/>
          </a:p>
        </p:txBody>
      </p:sp>
      <p:sp>
        <p:nvSpPr>
          <p:cNvPr id="5" name="Text 3"/>
          <p:cNvSpPr txBox="1"/>
          <p:nvPr/>
        </p:nvSpPr>
        <p:spPr>
          <a:xfrm>
            <a:off x="868680" y="2240280"/>
            <a:ext cx="484632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In pass 3 nothing was swapped, so the array was already sorted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Keep a 'swapped' flag in each pass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If a pass makes no swap, stop</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In our example it stops after pass 3 and saves pass 4</a:t>
            </a:r>
            <a:endParaRPr lang="en-US" sz="1700" dirty="0"/>
          </a:p>
        </p:txBody>
      </p:sp>
      <p:sp>
        <p:nvSpPr>
          <p:cNvPr id="6" name="Text 4"/>
          <p:cNvSpPr txBox="1"/>
          <p:nvPr/>
        </p:nvSpPr>
        <p:spPr>
          <a:xfrm>
            <a:off x="6492240" y="1463040"/>
            <a:ext cx="5120640" cy="4114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Passes needed for 5, 1, 4, 2, 8</a:t>
            </a:r>
            <a:endParaRPr lang="en-US" sz="1700" dirty="0"/>
          </a:p>
        </p:txBody>
      </p:sp>
      <p:sp>
        <p:nvSpPr>
          <p:cNvPr id="7" name="Text 5"/>
          <p:cNvSpPr txBox="1"/>
          <p:nvPr/>
        </p:nvSpPr>
        <p:spPr>
          <a:xfrm>
            <a:off x="6492240" y="2148840"/>
            <a:ext cx="1463040" cy="7315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Basic</a:t>
            </a:r>
            <a:endParaRPr lang="en-US" sz="1700" dirty="0"/>
          </a:p>
        </p:txBody>
      </p:sp>
      <p:sp>
        <p:nvSpPr>
          <p:cNvPr id="8" name="Shape 6"/>
          <p:cNvSpPr/>
          <p:nvPr/>
        </p:nvSpPr>
        <p:spPr>
          <a:xfrm>
            <a:off x="8046720" y="2148840"/>
            <a:ext cx="777240" cy="731520"/>
          </a:xfrm>
          <a:prstGeom prst="roundRect">
            <a:avLst>
              <a:gd name="adj" fmla="val 10000"/>
            </a:avLst>
          </a:prstGeom>
          <a:solidFill>
            <a:schemeClr val="accent5"/>
          </a:solidFill>
          <a:ln w="12700">
            <a:solidFill>
              <a:schemeClr val="accent5"/>
            </a:solidFill>
            <a:prstDash val="solid"/>
          </a:ln>
        </p:spPr>
      </p:sp>
      <p:sp>
        <p:nvSpPr>
          <p:cNvPr id="9" name="Text 7"/>
          <p:cNvSpPr txBox="1"/>
          <p:nvPr/>
        </p:nvSpPr>
        <p:spPr>
          <a:xfrm>
            <a:off x="8046720" y="214884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P1</a:t>
            </a:r>
            <a:endParaRPr lang="en-US" sz="1600" dirty="0"/>
          </a:p>
        </p:txBody>
      </p:sp>
      <p:sp>
        <p:nvSpPr>
          <p:cNvPr id="10" name="Shape 8"/>
          <p:cNvSpPr/>
          <p:nvPr/>
        </p:nvSpPr>
        <p:spPr>
          <a:xfrm>
            <a:off x="8915400" y="2148840"/>
            <a:ext cx="777240" cy="731520"/>
          </a:xfrm>
          <a:prstGeom prst="roundRect">
            <a:avLst>
              <a:gd name="adj" fmla="val 10000"/>
            </a:avLst>
          </a:prstGeom>
          <a:solidFill>
            <a:schemeClr val="accent5"/>
          </a:solidFill>
          <a:ln w="12700">
            <a:solidFill>
              <a:schemeClr val="accent5"/>
            </a:solidFill>
            <a:prstDash val="solid"/>
          </a:ln>
        </p:spPr>
      </p:sp>
      <p:sp>
        <p:nvSpPr>
          <p:cNvPr id="11" name="Text 9"/>
          <p:cNvSpPr txBox="1"/>
          <p:nvPr/>
        </p:nvSpPr>
        <p:spPr>
          <a:xfrm>
            <a:off x="8915400" y="214884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P2</a:t>
            </a:r>
            <a:endParaRPr lang="en-US" sz="1600" dirty="0"/>
          </a:p>
        </p:txBody>
      </p:sp>
      <p:sp>
        <p:nvSpPr>
          <p:cNvPr id="12" name="Shape 10"/>
          <p:cNvSpPr/>
          <p:nvPr/>
        </p:nvSpPr>
        <p:spPr>
          <a:xfrm>
            <a:off x="9784080" y="2148840"/>
            <a:ext cx="777240" cy="731520"/>
          </a:xfrm>
          <a:prstGeom prst="roundRect">
            <a:avLst>
              <a:gd name="adj" fmla="val 10000"/>
            </a:avLst>
          </a:prstGeom>
          <a:solidFill>
            <a:schemeClr val="accent5"/>
          </a:solidFill>
          <a:ln w="12700">
            <a:solidFill>
              <a:schemeClr val="accent5"/>
            </a:solidFill>
            <a:prstDash val="solid"/>
          </a:ln>
        </p:spPr>
      </p:sp>
      <p:sp>
        <p:nvSpPr>
          <p:cNvPr id="13" name="Text 11"/>
          <p:cNvSpPr txBox="1"/>
          <p:nvPr/>
        </p:nvSpPr>
        <p:spPr>
          <a:xfrm>
            <a:off x="9784080" y="214884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P3</a:t>
            </a:r>
            <a:endParaRPr lang="en-US" sz="1600" dirty="0"/>
          </a:p>
        </p:txBody>
      </p:sp>
      <p:sp>
        <p:nvSpPr>
          <p:cNvPr id="14" name="Shape 12"/>
          <p:cNvSpPr/>
          <p:nvPr/>
        </p:nvSpPr>
        <p:spPr>
          <a:xfrm>
            <a:off x="10652760" y="2148840"/>
            <a:ext cx="777240" cy="731520"/>
          </a:xfrm>
          <a:prstGeom prst="roundRect">
            <a:avLst>
              <a:gd name="adj" fmla="val 10000"/>
            </a:avLst>
          </a:prstGeom>
          <a:solidFill>
            <a:schemeClr val="accent5"/>
          </a:solidFill>
          <a:ln w="12700">
            <a:solidFill>
              <a:schemeClr val="accent5"/>
            </a:solidFill>
            <a:prstDash val="solid"/>
          </a:ln>
        </p:spPr>
      </p:sp>
      <p:sp>
        <p:nvSpPr>
          <p:cNvPr id="15" name="Text 13"/>
          <p:cNvSpPr txBox="1"/>
          <p:nvPr/>
        </p:nvSpPr>
        <p:spPr>
          <a:xfrm>
            <a:off x="10652760" y="214884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P4</a:t>
            </a:r>
            <a:endParaRPr lang="en-US" sz="1600" dirty="0"/>
          </a:p>
        </p:txBody>
      </p:sp>
      <p:sp>
        <p:nvSpPr>
          <p:cNvPr id="16" name="Text 14"/>
          <p:cNvSpPr txBox="1"/>
          <p:nvPr/>
        </p:nvSpPr>
        <p:spPr>
          <a:xfrm>
            <a:off x="6492240" y="3383280"/>
            <a:ext cx="1463040" cy="7315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Optimized</a:t>
            </a:r>
            <a:endParaRPr lang="en-US" sz="1700" dirty="0"/>
          </a:p>
        </p:txBody>
      </p:sp>
      <p:sp>
        <p:nvSpPr>
          <p:cNvPr id="17" name="Shape 15"/>
          <p:cNvSpPr/>
          <p:nvPr/>
        </p:nvSpPr>
        <p:spPr>
          <a:xfrm>
            <a:off x="8046720" y="3383280"/>
            <a:ext cx="777240" cy="731520"/>
          </a:xfrm>
          <a:prstGeom prst="roundRect">
            <a:avLst>
              <a:gd name="adj" fmla="val 10000"/>
            </a:avLst>
          </a:prstGeom>
          <a:solidFill>
            <a:schemeClr val="accent1"/>
          </a:solidFill>
          <a:ln w="12700">
            <a:solidFill>
              <a:schemeClr val="accent1"/>
            </a:solidFill>
            <a:prstDash val="solid"/>
          </a:ln>
        </p:spPr>
      </p:sp>
      <p:sp>
        <p:nvSpPr>
          <p:cNvPr id="18" name="Text 16"/>
          <p:cNvSpPr txBox="1"/>
          <p:nvPr/>
        </p:nvSpPr>
        <p:spPr>
          <a:xfrm>
            <a:off x="8046720" y="338328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P1</a:t>
            </a:r>
            <a:endParaRPr lang="en-US" sz="1600" dirty="0"/>
          </a:p>
        </p:txBody>
      </p:sp>
      <p:sp>
        <p:nvSpPr>
          <p:cNvPr id="19" name="Shape 17"/>
          <p:cNvSpPr/>
          <p:nvPr/>
        </p:nvSpPr>
        <p:spPr>
          <a:xfrm>
            <a:off x="8915400" y="3383280"/>
            <a:ext cx="777240" cy="731520"/>
          </a:xfrm>
          <a:prstGeom prst="roundRect">
            <a:avLst>
              <a:gd name="adj" fmla="val 10000"/>
            </a:avLst>
          </a:prstGeom>
          <a:solidFill>
            <a:schemeClr val="accent1"/>
          </a:solidFill>
          <a:ln w="12700">
            <a:solidFill>
              <a:schemeClr val="accent1"/>
            </a:solidFill>
            <a:prstDash val="solid"/>
          </a:ln>
        </p:spPr>
      </p:sp>
      <p:sp>
        <p:nvSpPr>
          <p:cNvPr id="20" name="Text 18"/>
          <p:cNvSpPr txBox="1"/>
          <p:nvPr/>
        </p:nvSpPr>
        <p:spPr>
          <a:xfrm>
            <a:off x="8915400" y="338328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P2</a:t>
            </a:r>
            <a:endParaRPr lang="en-US" sz="1600" dirty="0"/>
          </a:p>
        </p:txBody>
      </p:sp>
      <p:sp>
        <p:nvSpPr>
          <p:cNvPr id="21" name="Shape 19"/>
          <p:cNvSpPr/>
          <p:nvPr/>
        </p:nvSpPr>
        <p:spPr>
          <a:xfrm>
            <a:off x="9784080" y="3383280"/>
            <a:ext cx="777240" cy="731520"/>
          </a:xfrm>
          <a:prstGeom prst="roundRect">
            <a:avLst>
              <a:gd name="adj" fmla="val 10000"/>
            </a:avLst>
          </a:prstGeom>
          <a:solidFill>
            <a:schemeClr val="accent1"/>
          </a:solidFill>
          <a:ln w="12700">
            <a:solidFill>
              <a:schemeClr val="accent1"/>
            </a:solidFill>
            <a:prstDash val="solid"/>
          </a:ln>
        </p:spPr>
      </p:sp>
      <p:sp>
        <p:nvSpPr>
          <p:cNvPr id="22" name="Text 20"/>
          <p:cNvSpPr txBox="1"/>
          <p:nvPr/>
        </p:nvSpPr>
        <p:spPr>
          <a:xfrm>
            <a:off x="9784080" y="3383280"/>
            <a:ext cx="777240"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P3</a:t>
            </a:r>
            <a:endParaRPr lang="en-US" sz="1600" dirty="0"/>
          </a:p>
        </p:txBody>
      </p:sp>
      <p:sp>
        <p:nvSpPr>
          <p:cNvPr id="23" name="best case"/>
          <p:cNvSpPr/>
          <p:nvPr/>
        </p:nvSpPr>
        <p:spPr>
          <a:xfrm>
            <a:off x="6492240" y="4663440"/>
            <a:ext cx="5148072" cy="960120"/>
          </a:xfrm>
          <a:prstGeom prst="roundRect">
            <a:avLst>
              <a:gd name="adj" fmla="val 11429"/>
            </a:avLst>
          </a:prstGeom>
          <a:solidFill>
            <a:schemeClr val="tx2"/>
          </a:solidFill>
          <a:ln w="12700">
            <a:solidFill>
              <a:schemeClr val="tx2"/>
            </a:solidFill>
            <a:prstDash val="solid"/>
          </a:ln>
        </p:spPr>
      </p:sp>
      <p:sp>
        <p:nvSpPr>
          <p:cNvPr id="24" name="Text 22"/>
          <p:cNvSpPr txBox="1"/>
          <p:nvPr/>
        </p:nvSpPr>
        <p:spPr>
          <a:xfrm>
            <a:off x="6720840" y="4663440"/>
            <a:ext cx="4754880" cy="960120"/>
          </a:xfrm>
          <a:prstGeom prst="rect">
            <a:avLst/>
          </a:prstGeom>
          <a:noFill/>
          <a:ln/>
        </p:spPr>
        <p:txBody>
          <a:bodyPr wrap="square" lIns="0" tIns="0" rIns="0" bIns="0" rtlCol="0" anchor="ctr"/>
          <a:lstStyle/>
          <a:p>
            <a:pPr indent="0" marL="0">
              <a:buNone/>
            </a:pPr>
            <a:r>
              <a:rPr lang="en-US" sz="1700" b="1" dirty="0">
                <a:solidFill>
                  <a:schemeClr val="accent2"/>
                </a:solidFill>
                <a:latin typeface="Calibri" pitchFamily="34" charset="0"/>
                <a:ea typeface="Calibri" pitchFamily="34" charset="-122"/>
                <a:cs typeface="Calibri" pitchFamily="34" charset="-120"/>
              </a:rPr>
              <a:t>Already sorted input: stops after just 1 pass</a:t>
            </a:r>
            <a:endParaRPr lang="en-US" sz="17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Complexity</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645920"/>
                <a:gridCol w="4754880"/>
                <a:gridCol w="2560320"/>
                <a:gridCol w="2130552"/>
              </a:tblGrid>
              <a:tr h="6400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Case</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When it happens</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Comparisons</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Time</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r>
              <a:tr h="64008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Best</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Already sorted (optimized version)</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 − 1</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O(n)</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Average</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Random order</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about n²/2</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latin typeface="Calibri" pitchFamily="34" charset="0"/>
                          <a:ea typeface="Calibri" pitchFamily="34" charset="-122"/>
                          <a:cs typeface="Calibri" pitchFamily="34" charset="-120"/>
                        </a:rPr>
                        <a:t>O(n²)</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Worst</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Reverse sorted</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n(n − 1)/2</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latin typeface="Calibri" pitchFamily="34" charset="0"/>
                          <a:ea typeface="Calibri" pitchFamily="34" charset="-122"/>
                          <a:cs typeface="Calibri" pitchFamily="34" charset="-120"/>
                        </a:rPr>
                        <a:t>O(n²)</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bl>
          </a:graphicData>
        </a:graphic>
      </p:graphicFrame>
      <p:sp>
        <p:nvSpPr>
          <p:cNvPr id="4" name="Space: O(1)"/>
          <p:cNvSpPr/>
          <p:nvPr/>
        </p:nvSpPr>
        <p:spPr>
          <a:xfrm>
            <a:off x="548640" y="4343400"/>
            <a:ext cx="5303520" cy="1463040"/>
          </a:xfrm>
          <a:prstGeom prst="roundRect">
            <a:avLst>
              <a:gd name="adj" fmla="val 7500"/>
            </a:avLst>
          </a:prstGeom>
          <a:solidFill>
            <a:schemeClr val="bg2"/>
          </a:solidFill>
          <a:ln w="12700">
            <a:solidFill>
              <a:schemeClr val="bg2"/>
            </a:solidFill>
            <a:prstDash val="solid"/>
          </a:ln>
        </p:spPr>
      </p:sp>
      <p:sp>
        <p:nvSpPr>
          <p:cNvPr id="5" name="Text 2"/>
          <p:cNvSpPr txBox="1"/>
          <p:nvPr/>
        </p:nvSpPr>
        <p:spPr>
          <a:xfrm>
            <a:off x="868680" y="4526280"/>
            <a:ext cx="46634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Space: O(1)</a:t>
            </a:r>
            <a:endParaRPr lang="en-US" sz="2200" dirty="0"/>
          </a:p>
        </p:txBody>
      </p:sp>
      <p:sp>
        <p:nvSpPr>
          <p:cNvPr id="6" name="Text 3"/>
          <p:cNvSpPr txBox="1"/>
          <p:nvPr/>
        </p:nvSpPr>
        <p:spPr>
          <a:xfrm>
            <a:off x="868680" y="5029200"/>
            <a:ext cx="4663440" cy="640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Sorts in place, only one temp variable.</a:t>
            </a:r>
            <a:endParaRPr lang="en-US" sz="1600" dirty="0"/>
          </a:p>
        </p:txBody>
      </p:sp>
      <p:sp>
        <p:nvSpPr>
          <p:cNvPr id="7" name="Stable: Yes"/>
          <p:cNvSpPr/>
          <p:nvPr/>
        </p:nvSpPr>
        <p:spPr>
          <a:xfrm>
            <a:off x="6217920" y="4343400"/>
            <a:ext cx="5303520" cy="1463040"/>
          </a:xfrm>
          <a:prstGeom prst="roundRect">
            <a:avLst>
              <a:gd name="adj" fmla="val 7500"/>
            </a:avLst>
          </a:prstGeom>
          <a:solidFill>
            <a:schemeClr val="bg2"/>
          </a:solidFill>
          <a:ln w="12700">
            <a:solidFill>
              <a:schemeClr val="bg2"/>
            </a:solidFill>
            <a:prstDash val="solid"/>
          </a:ln>
        </p:spPr>
      </p:sp>
      <p:sp>
        <p:nvSpPr>
          <p:cNvPr id="8" name="Text 5"/>
          <p:cNvSpPr txBox="1"/>
          <p:nvPr/>
        </p:nvSpPr>
        <p:spPr>
          <a:xfrm>
            <a:off x="6537960" y="4526280"/>
            <a:ext cx="46634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Stable: Yes</a:t>
            </a:r>
            <a:endParaRPr lang="en-US" sz="2200" dirty="0"/>
          </a:p>
        </p:txBody>
      </p:sp>
      <p:sp>
        <p:nvSpPr>
          <p:cNvPr id="9" name="Text 6"/>
          <p:cNvSpPr txBox="1"/>
          <p:nvPr/>
        </p:nvSpPr>
        <p:spPr>
          <a:xfrm>
            <a:off x="6537960" y="5029200"/>
            <a:ext cx="4663440" cy="6400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Equal elements are never swapped (we use &gt;, not &gt;=).</a:t>
            </a:r>
            <a:endParaRPr lang="en-US" sz="16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Advantages and disadvantages</a:t>
            </a:r>
            <a:endParaRPr lang="en-US" sz="3600" dirty="0"/>
          </a:p>
        </p:txBody>
      </p:sp>
      <p:sp>
        <p:nvSpPr>
          <p:cNvPr id="3" name="Advantages"/>
          <p:cNvSpPr/>
          <p:nvPr/>
        </p:nvSpPr>
        <p:spPr>
          <a:xfrm>
            <a:off x="548640" y="1417320"/>
            <a:ext cx="5303520" cy="4480560"/>
          </a:xfrm>
          <a:prstGeom prst="roundRect">
            <a:avLst>
              <a:gd name="adj" fmla="val 2449"/>
            </a:avLst>
          </a:prstGeom>
          <a:solidFill>
            <a:schemeClr val="bg2"/>
          </a:solidFill>
          <a:ln w="12700">
            <a:solidFill>
              <a:schemeClr val="bg2"/>
            </a:solidFill>
            <a:prstDash val="solid"/>
          </a:ln>
        </p:spPr>
      </p:sp>
      <p:sp>
        <p:nvSpPr>
          <p:cNvPr id="4" name="Shape 2"/>
          <p:cNvSpPr/>
          <p:nvPr/>
        </p:nvSpPr>
        <p:spPr>
          <a:xfrm>
            <a:off x="868680" y="164592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868680" y="16459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1691640" y="1645920"/>
            <a:ext cx="3931920" cy="6400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Advantages</a:t>
            </a:r>
            <a:endParaRPr lang="en-US" sz="2400" dirty="0"/>
          </a:p>
        </p:txBody>
      </p:sp>
      <p:sp>
        <p:nvSpPr>
          <p:cNvPr id="7" name="Text 5"/>
          <p:cNvSpPr txBox="1"/>
          <p:nvPr/>
        </p:nvSpPr>
        <p:spPr>
          <a:xfrm>
            <a:off x="914400" y="2560320"/>
            <a:ext cx="457200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Very easy to understand and code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No extra memory needed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Stable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Detects an already sorted list in one pass (optimized)</a:t>
            </a:r>
            <a:endParaRPr lang="en-US" sz="1700" dirty="0"/>
          </a:p>
        </p:txBody>
      </p:sp>
      <p:sp>
        <p:nvSpPr>
          <p:cNvPr id="8" name="Disadvantages"/>
          <p:cNvSpPr/>
          <p:nvPr/>
        </p:nvSpPr>
        <p:spPr>
          <a:xfrm>
            <a:off x="6217920" y="1417320"/>
            <a:ext cx="5303520" cy="4480560"/>
          </a:xfrm>
          <a:prstGeom prst="roundRect">
            <a:avLst>
              <a:gd name="adj" fmla="val 2449"/>
            </a:avLst>
          </a:prstGeom>
          <a:solidFill>
            <a:schemeClr val="bg2"/>
          </a:solidFill>
          <a:ln w="12700">
            <a:solidFill>
              <a:schemeClr val="bg2"/>
            </a:solidFill>
            <a:prstDash val="solid"/>
          </a:ln>
        </p:spPr>
      </p:sp>
      <p:sp>
        <p:nvSpPr>
          <p:cNvPr id="9" name="Shape 7"/>
          <p:cNvSpPr/>
          <p:nvPr/>
        </p:nvSpPr>
        <p:spPr>
          <a:xfrm>
            <a:off x="6537960" y="1645920"/>
            <a:ext cx="640080" cy="640080"/>
          </a:xfrm>
          <a:prstGeom prst="ellipse">
            <a:avLst/>
          </a:prstGeom>
          <a:solidFill>
            <a:schemeClr val="accent3"/>
          </a:solidFill>
          <a:ln w="12700">
            <a:solidFill>
              <a:schemeClr val="accent3"/>
            </a:solidFill>
            <a:prstDash val="solid"/>
          </a:ln>
        </p:spPr>
      </p:sp>
      <p:sp>
        <p:nvSpPr>
          <p:cNvPr id="10" name="Text 8"/>
          <p:cNvSpPr txBox="1"/>
          <p:nvPr/>
        </p:nvSpPr>
        <p:spPr>
          <a:xfrm>
            <a:off x="6537960" y="16459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latin typeface="Calibri" pitchFamily="34" charset="0"/>
                <a:ea typeface="Calibri" pitchFamily="34" charset="-122"/>
                <a:cs typeface="Calibri" pitchFamily="34" charset="-120"/>
              </a:rPr>
              <a:t>−</a:t>
            </a:r>
            <a:endParaRPr lang="en-US" sz="2600" dirty="0"/>
          </a:p>
        </p:txBody>
      </p:sp>
      <p:sp>
        <p:nvSpPr>
          <p:cNvPr id="11" name="Text 9"/>
          <p:cNvSpPr txBox="1"/>
          <p:nvPr/>
        </p:nvSpPr>
        <p:spPr>
          <a:xfrm>
            <a:off x="7360920" y="1645920"/>
            <a:ext cx="3931920" cy="6400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Disadvantages</a:t>
            </a:r>
            <a:endParaRPr lang="en-US" sz="2400" dirty="0"/>
          </a:p>
        </p:txBody>
      </p:sp>
      <p:sp>
        <p:nvSpPr>
          <p:cNvPr id="12" name="Text 10"/>
          <p:cNvSpPr txBox="1"/>
          <p:nvPr/>
        </p:nvSpPr>
        <p:spPr>
          <a:xfrm>
            <a:off x="6583680" y="2560320"/>
            <a:ext cx="457200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Slow for large data: O(n²)</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Many swaps compared to selection sort</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Rarely used in real software for big lists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Faster O(n log n) sorts exist (merge, quick)</a:t>
            </a:r>
            <a:endParaRPr lang="en-US" sz="17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lstStyle/>
          <a:p>
            <a:pPr algn="l" indent="0" marL="0">
              <a:buNone/>
            </a:pPr>
            <a:r>
              <a:rPr lang="en-US" sz="6000" b="1" dirty="0">
                <a:solidFill>
                  <a:schemeClr val="accent2"/>
                </a:solidFill>
                <a:latin typeface="Cambria" pitchFamily="34" charset="0"/>
                <a:ea typeface="Cambria" pitchFamily="34" charset="-122"/>
                <a:cs typeface="Cambria" pitchFamily="34" charset="-120"/>
              </a:rPr>
              <a:t>03</a:t>
            </a:r>
            <a:endParaRPr lang="en-US" sz="6000" dirty="0"/>
          </a:p>
        </p:txBody>
      </p:sp>
      <p:sp>
        <p:nvSpPr>
          <p:cNvPr id="3" name="Text 0"/>
          <p:cNvSpPr/>
          <p:nvPr>
            <p:ph idx="101" type="title" hasCustomPrompt="1"/>
          </p:nvPr>
        </p:nvSpPr>
        <p:spPr>
          <a:xfrm>
            <a:off x="548640" y="2926080"/>
            <a:ext cx="10058400" cy="1097280"/>
          </a:xfrm>
          <a:prstGeom prst="rect">
            <a:avLst/>
          </a:prstGeom>
          <a:noFill/>
          <a:ln/>
        </p:spPr>
        <p:txBody>
          <a:bodyPr wrap="square" lIns="0" tIns="0" rIns="0" bIns="0" rtlCol="0"/>
          <a:lstStyle/>
          <a:p>
            <a:pPr algn="l" indent="0" marL="0">
              <a:buNone/>
            </a:pPr>
            <a:r>
              <a:rPr lang="en-US" sz="4400" b="1" dirty="0">
                <a:solidFill>
                  <a:schemeClr val="bg1"/>
                </a:solidFill>
                <a:latin typeface="Cambria" pitchFamily="34" charset="0"/>
                <a:ea typeface="Cambria" pitchFamily="34" charset="-122"/>
                <a:cs typeface="Cambria" pitchFamily="34" charset="-120"/>
              </a:rPr>
              <a:t>Where Bubble Sort Is Used</a:t>
            </a:r>
            <a:endParaRPr lang="en-US" sz="4400" dirty="0"/>
          </a:p>
        </p:txBody>
      </p:sp>
      <p:sp>
        <p:nvSpPr>
          <p:cNvPr id="4" name="Text 0"/>
          <p:cNvSpPr/>
          <p:nvPr>
            <p:ph idx="102" type="body" hasCustomPrompt="1"/>
          </p:nvPr>
        </p:nvSpPr>
        <p:spPr>
          <a:xfrm>
            <a:off x="548640" y="4023360"/>
            <a:ext cx="10058400" cy="731520"/>
          </a:xfrm>
          <a:prstGeom prst="rect">
            <a:avLst/>
          </a:prstGeom>
          <a:noFill/>
          <a:ln/>
        </p:spPr>
        <p:txBody>
          <a:bodyPr wrap="square" lIns="0" tIns="0" rIns="0" bIns="0" rtlCol="0"/>
          <a:lstStyle/>
          <a:p>
            <a:pPr algn="l" indent="0" marL="0">
              <a:buNone/>
            </a:pPr>
            <a:r>
              <a:rPr lang="en-US" sz="2000" dirty="0">
                <a:solidFill>
                  <a:srgbClr val="CADCE0"/>
                </a:solidFill>
                <a:latin typeface="Calibri" pitchFamily="34" charset="0"/>
                <a:ea typeface="Calibri" pitchFamily="34" charset="-122"/>
                <a:cs typeface="Calibri" pitchFamily="34" charset="-120"/>
              </a:rPr>
              <a:t>Small data, almost sorted data, or when simple code matters more than speed</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Where bubble sort fits</a:t>
            </a:r>
            <a:endParaRPr lang="en-US"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743200"/>
                <a:gridCol w="4023360"/>
                <a:gridCol w="4325112"/>
              </a:tblGrid>
              <a:tr h="621792">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Situation</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Why bubble sort fits</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tx2"/>
                    </a:solidFill>
                  </a:tcPr>
                </a:tc>
              </a:tr>
              <a:tr h="621792">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Teaching and learning</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Easiest sorting idea to see and code</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First sorting algorithm in every CS course</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Very small lists</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For 5–20 items, the speed difference is negligible</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Sorting the top 5 scores in a simple game</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Nearly sorted data</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Optimized version finishes in about one pass</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leaderboard where only one score changed</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Small embedded devices</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Tiny code, no extra memory</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Sorting a few sensor readings to take the median</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Computer graphics</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Fixes small out-of-order lists cheaply</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Polygon filling keeps a short edge list sorted</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Checking if data is sorted</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pass with no swaps proves it</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Validating input before a binary search</a:t>
                      </a:r>
                      <a:endParaRPr lang="en-US" sz="1400" dirty="0">
                        <a:latin typeface="Calibri" charset="0"/>
                        <a:ea typeface="Calibri" charset="0"/>
                        <a:cs typeface="Calibri" charset="0"/>
                      </a:endParaRPr>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897880"/>
            <a:ext cx="10972800" cy="411480"/>
          </a:xfrm>
          <a:prstGeom prst="rect">
            <a:avLst/>
          </a:prstGeom>
          <a:noFill/>
          <a:ln/>
        </p:spPr>
        <p:txBody>
          <a:bodyPr wrap="square" lIns="0" tIns="0" rIns="0" bIns="0" rtlCol="0" anchor="t"/>
          <a:lstStyle/>
          <a:p>
            <a:pPr indent="0" marL="0">
              <a:buNone/>
            </a:pPr>
            <a:r>
              <a:rPr lang="en-US" sz="1600" i="1" dirty="0">
                <a:solidFill>
                  <a:srgbClr val="6B7F8A"/>
                </a:solidFill>
                <a:latin typeface="Calibri" pitchFamily="34" charset="0"/>
                <a:ea typeface="Calibri" pitchFamily="34" charset="-122"/>
                <a:cs typeface="Calibri" pitchFamily="34" charset="-120"/>
              </a:rPr>
              <a:t>Bubble sort is rarely used for large data in real software, because O(n²) is too slow.</a:t>
            </a:r>
            <a:endParaRPr lang="en-US" sz="16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Classroom examples, and where it is not used</a:t>
            </a:r>
            <a:endParaRPr lang="en-US" sz="3600" dirty="0"/>
          </a:p>
        </p:txBody>
      </p:sp>
      <p:sp>
        <p:nvSpPr>
          <p:cNvPr id="3" name="Arranging students by height"/>
          <p:cNvSpPr/>
          <p:nvPr/>
        </p:nvSpPr>
        <p:spPr>
          <a:xfrm>
            <a:off x="548640" y="1417320"/>
            <a:ext cx="6766560" cy="1005840"/>
          </a:xfrm>
          <a:prstGeom prst="roundRect">
            <a:avLst>
              <a:gd name="adj" fmla="val 10909"/>
            </a:avLst>
          </a:prstGeom>
          <a:solidFill>
            <a:schemeClr val="bg2"/>
          </a:solidFill>
          <a:ln w="12700">
            <a:solidFill>
              <a:schemeClr val="bg2"/>
            </a:solidFill>
            <a:prstDash val="solid"/>
          </a:ln>
        </p:spPr>
      </p:sp>
      <p:sp>
        <p:nvSpPr>
          <p:cNvPr id="4" name="Shape 2"/>
          <p:cNvSpPr/>
          <p:nvPr/>
        </p:nvSpPr>
        <p:spPr>
          <a:xfrm>
            <a:off x="822960" y="1618488"/>
            <a:ext cx="594360" cy="594360"/>
          </a:xfrm>
          <a:prstGeom prst="ellipse">
            <a:avLst/>
          </a:prstGeom>
          <a:solidFill>
            <a:schemeClr val="accent2"/>
          </a:solidFill>
          <a:ln w="12700">
            <a:solidFill>
              <a:schemeClr val="accent2"/>
            </a:solidFill>
            <a:prstDash val="solid"/>
          </a:ln>
        </p:spPr>
      </p:sp>
      <p:sp>
        <p:nvSpPr>
          <p:cNvPr id="5" name="Text 3"/>
          <p:cNvSpPr txBox="1"/>
          <p:nvPr/>
        </p:nvSpPr>
        <p:spPr>
          <a:xfrm>
            <a:off x="822960" y="1618488"/>
            <a:ext cx="594360" cy="59436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600200" y="1527048"/>
            <a:ext cx="548640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Arranging students by height</a:t>
            </a:r>
            <a:endParaRPr lang="en-US" sz="1700" dirty="0"/>
          </a:p>
        </p:txBody>
      </p:sp>
      <p:sp>
        <p:nvSpPr>
          <p:cNvPr id="7" name="Text 5"/>
          <p:cNvSpPr txBox="1"/>
          <p:nvPr/>
        </p:nvSpPr>
        <p:spPr>
          <a:xfrm>
            <a:off x="1600200" y="1892808"/>
            <a:ext cx="54864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Compare neighbours, swap if the taller one is in front, repeat until no one moves.</a:t>
            </a:r>
            <a:endParaRPr lang="en-US" sz="1400" dirty="0"/>
          </a:p>
        </p:txBody>
      </p:sp>
      <p:sp>
        <p:nvSpPr>
          <p:cNvPr id="8" name="Sorting playing cards"/>
          <p:cNvSpPr/>
          <p:nvPr/>
        </p:nvSpPr>
        <p:spPr>
          <a:xfrm>
            <a:off x="548640" y="2606040"/>
            <a:ext cx="6766560" cy="1005840"/>
          </a:xfrm>
          <a:prstGeom prst="roundRect">
            <a:avLst>
              <a:gd name="adj" fmla="val 10909"/>
            </a:avLst>
          </a:prstGeom>
          <a:solidFill>
            <a:schemeClr val="bg2"/>
          </a:solidFill>
          <a:ln w="12700">
            <a:solidFill>
              <a:schemeClr val="bg2"/>
            </a:solidFill>
            <a:prstDash val="solid"/>
          </a:ln>
        </p:spPr>
      </p:sp>
      <p:sp>
        <p:nvSpPr>
          <p:cNvPr id="9" name="Shape 7"/>
          <p:cNvSpPr/>
          <p:nvPr/>
        </p:nvSpPr>
        <p:spPr>
          <a:xfrm>
            <a:off x="822960" y="2807208"/>
            <a:ext cx="594360" cy="594360"/>
          </a:xfrm>
          <a:prstGeom prst="ellipse">
            <a:avLst/>
          </a:prstGeom>
          <a:solidFill>
            <a:schemeClr val="accent2"/>
          </a:solidFill>
          <a:ln w="12700">
            <a:solidFill>
              <a:schemeClr val="accent2"/>
            </a:solidFill>
            <a:prstDash val="solid"/>
          </a:ln>
        </p:spPr>
      </p:sp>
      <p:sp>
        <p:nvSpPr>
          <p:cNvPr id="10" name="Text 8"/>
          <p:cNvSpPr txBox="1"/>
          <p:nvPr/>
        </p:nvSpPr>
        <p:spPr>
          <a:xfrm>
            <a:off x="822960" y="2807208"/>
            <a:ext cx="594360" cy="59436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600200" y="2715768"/>
            <a:ext cx="548640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Sorting playing cards</a:t>
            </a:r>
            <a:endParaRPr lang="en-US" sz="1700" dirty="0"/>
          </a:p>
        </p:txBody>
      </p:sp>
      <p:sp>
        <p:nvSpPr>
          <p:cNvPr id="12" name="Text 10"/>
          <p:cNvSpPr txBox="1"/>
          <p:nvPr/>
        </p:nvSpPr>
        <p:spPr>
          <a:xfrm>
            <a:off x="1600200" y="3081528"/>
            <a:ext cx="54864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Cards laid out in a row, sorted by repeatedly swapping neighbours.</a:t>
            </a:r>
            <a:endParaRPr lang="en-US" sz="1400" dirty="0"/>
          </a:p>
        </p:txBody>
      </p:sp>
      <p:sp>
        <p:nvSpPr>
          <p:cNvPr id="13" name="Arranging books on a shelf"/>
          <p:cNvSpPr/>
          <p:nvPr/>
        </p:nvSpPr>
        <p:spPr>
          <a:xfrm>
            <a:off x="548640" y="3794760"/>
            <a:ext cx="6766560" cy="1005840"/>
          </a:xfrm>
          <a:prstGeom prst="roundRect">
            <a:avLst>
              <a:gd name="adj" fmla="val 10909"/>
            </a:avLst>
          </a:prstGeom>
          <a:solidFill>
            <a:schemeClr val="bg2"/>
          </a:solidFill>
          <a:ln w="12700">
            <a:solidFill>
              <a:schemeClr val="bg2"/>
            </a:solidFill>
            <a:prstDash val="solid"/>
          </a:ln>
        </p:spPr>
      </p:sp>
      <p:sp>
        <p:nvSpPr>
          <p:cNvPr id="14" name="Shape 12"/>
          <p:cNvSpPr/>
          <p:nvPr/>
        </p:nvSpPr>
        <p:spPr>
          <a:xfrm>
            <a:off x="822960" y="3995928"/>
            <a:ext cx="594360" cy="594360"/>
          </a:xfrm>
          <a:prstGeom prst="ellipse">
            <a:avLst/>
          </a:prstGeom>
          <a:solidFill>
            <a:schemeClr val="accent2"/>
          </a:solidFill>
          <a:ln w="12700">
            <a:solidFill>
              <a:schemeClr val="accent2"/>
            </a:solidFill>
            <a:prstDash val="solid"/>
          </a:ln>
        </p:spPr>
      </p:sp>
      <p:sp>
        <p:nvSpPr>
          <p:cNvPr id="15" name="Text 13"/>
          <p:cNvSpPr txBox="1"/>
          <p:nvPr/>
        </p:nvSpPr>
        <p:spPr>
          <a:xfrm>
            <a:off x="822960" y="3995928"/>
            <a:ext cx="594360" cy="59436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600200" y="3904488"/>
            <a:ext cx="548640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Arranging books on a shelf</a:t>
            </a:r>
            <a:endParaRPr lang="en-US" sz="1700" dirty="0"/>
          </a:p>
        </p:txBody>
      </p:sp>
      <p:sp>
        <p:nvSpPr>
          <p:cNvPr id="17" name="Text 15"/>
          <p:cNvSpPr txBox="1"/>
          <p:nvPr/>
        </p:nvSpPr>
        <p:spPr>
          <a:xfrm>
            <a:off x="1600200" y="4270248"/>
            <a:ext cx="54864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By number, swapping two adjacent books at a time.</a:t>
            </a:r>
            <a:endParaRPr lang="en-US" sz="1400" dirty="0"/>
          </a:p>
        </p:txBody>
      </p:sp>
      <p:sp>
        <p:nvSpPr>
          <p:cNvPr id="18" name="not used"/>
          <p:cNvSpPr/>
          <p:nvPr/>
        </p:nvSpPr>
        <p:spPr>
          <a:xfrm>
            <a:off x="7589520" y="1417320"/>
            <a:ext cx="4050792" cy="3383280"/>
          </a:xfrm>
          <a:prstGeom prst="roundRect">
            <a:avLst>
              <a:gd name="adj" fmla="val 3243"/>
            </a:avLst>
          </a:prstGeom>
          <a:solidFill>
            <a:schemeClr val="tx2"/>
          </a:solidFill>
          <a:ln w="12700">
            <a:solidFill>
              <a:schemeClr val="tx2"/>
            </a:solidFill>
            <a:prstDash val="solid"/>
          </a:ln>
        </p:spPr>
      </p:sp>
      <p:sp>
        <p:nvSpPr>
          <p:cNvPr id="19" name="Text 17"/>
          <p:cNvSpPr txBox="1"/>
          <p:nvPr/>
        </p:nvSpPr>
        <p:spPr>
          <a:xfrm>
            <a:off x="7863840" y="1645920"/>
            <a:ext cx="3566160" cy="457200"/>
          </a:xfrm>
          <a:prstGeom prst="rect">
            <a:avLst/>
          </a:prstGeom>
          <a:noFill/>
          <a:ln/>
        </p:spPr>
        <p:txBody>
          <a:bodyPr wrap="square" lIns="0" tIns="0" rIns="0" bIns="0" rtlCol="0" anchor="t"/>
          <a:lstStyle/>
          <a:p>
            <a:pPr indent="0" marL="0">
              <a:buNone/>
            </a:pPr>
            <a:r>
              <a:rPr lang="en-US" sz="1900" b="1" dirty="0">
                <a:solidFill>
                  <a:schemeClr val="accent2"/>
                </a:solidFill>
                <a:latin typeface="Cambria" pitchFamily="34" charset="0"/>
                <a:ea typeface="Cambria" pitchFamily="34" charset="-122"/>
                <a:cs typeface="Cambria" pitchFamily="34" charset="-120"/>
              </a:rPr>
              <a:t>Where it is NOT used</a:t>
            </a:r>
            <a:endParaRPr lang="en-US" sz="1900" dirty="0"/>
          </a:p>
        </p:txBody>
      </p:sp>
      <p:sp>
        <p:nvSpPr>
          <p:cNvPr id="20" name="Text 18"/>
          <p:cNvSpPr txBox="1"/>
          <p:nvPr/>
        </p:nvSpPr>
        <p:spPr>
          <a:xfrm>
            <a:off x="7863840" y="2194560"/>
            <a:ext cx="3566160" cy="246888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Databases, search engines and built-in sort functions use faster algorithms.</a:t>
            </a:r>
            <a:endParaRPr lang="en-US" sz="1600" dirty="0"/>
          </a:p>
          <a:p>
            <a:pPr indent="0" marL="0">
              <a:buNone/>
            </a:pPr>
            <a:r>
              <a:rPr lang="en-US" sz="600" dirty="0">
                <a:solidFill>
                  <a:schemeClr val="bg1"/>
                </a:solidFill>
                <a:latin typeface="Calibri" pitchFamily="34" charset="0"/>
                <a:ea typeface="Calibri" pitchFamily="34" charset="-122"/>
                <a:cs typeface="Calibri" pitchFamily="34" charset="-120"/>
              </a:rPr>
              <a:t> </a:t>
            </a:r>
            <a:endParaRPr lang="en-US" sz="1600" dirty="0"/>
          </a:p>
          <a:p>
            <a:pPr indent="0" marL="0">
              <a:buNone/>
            </a:pPr>
            <a:r>
              <a:rPr lang="en-US" sz="1600" dirty="0">
                <a:solidFill>
                  <a:schemeClr val="bg1"/>
                </a:solidFill>
                <a:latin typeface="Calibri" pitchFamily="34" charset="0"/>
                <a:ea typeface="Calibri" pitchFamily="34" charset="-122"/>
                <a:cs typeface="Calibri" pitchFamily="34" charset="-120"/>
              </a:rPr>
              <a:t>C's qsort() is typically based on Quick sort, Merge sort or a hybrid of them.</a:t>
            </a:r>
            <a:endParaRPr lang="en-US" sz="1600" dirty="0"/>
          </a:p>
        </p:txBody>
      </p:sp>
      <p:sp>
        <p:nvSpPr>
          <p:cNvPr id="21" name="Text 19"/>
          <p:cNvSpPr txBox="1"/>
          <p:nvPr/>
        </p:nvSpPr>
        <p:spPr>
          <a:xfrm>
            <a:off x="548640" y="5120640"/>
            <a:ext cx="10972800" cy="45720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Bubble sort is the stepping stone to understanding those faster algorithms.</a:t>
            </a:r>
            <a:endParaRPr lang="en-US" sz="18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lIns="0" tIns="0" rIns="0" bIns="0" rtlCol="0"/>
          <a:lstStyle/>
          <a:p>
            <a:pPr algn="l" indent="0" marL="0">
              <a:buNone/>
            </a:pPr>
            <a:r>
              <a:rPr lang="en-US" sz="6000" b="1" dirty="0">
                <a:solidFill>
                  <a:schemeClr val="accent2"/>
                </a:solidFill>
                <a:latin typeface="Cambria" pitchFamily="34" charset="0"/>
                <a:ea typeface="Cambria" pitchFamily="34" charset="-122"/>
                <a:cs typeface="Cambria" pitchFamily="34" charset="-120"/>
              </a:rPr>
              <a:t>04</a:t>
            </a:r>
            <a:endParaRPr lang="en-US" sz="6000" dirty="0"/>
          </a:p>
        </p:txBody>
      </p:sp>
      <p:sp>
        <p:nvSpPr>
          <p:cNvPr id="3" name="Text 0"/>
          <p:cNvSpPr/>
          <p:nvPr>
            <p:ph idx="101" type="title" hasCustomPrompt="1"/>
          </p:nvPr>
        </p:nvSpPr>
        <p:spPr>
          <a:xfrm>
            <a:off x="548640" y="2926080"/>
            <a:ext cx="10058400" cy="1097280"/>
          </a:xfrm>
          <a:prstGeom prst="rect">
            <a:avLst/>
          </a:prstGeom>
          <a:noFill/>
          <a:ln/>
        </p:spPr>
        <p:txBody>
          <a:bodyPr wrap="square" lIns="0" tIns="0" rIns="0" bIns="0" rtlCol="0"/>
          <a:lstStyle/>
          <a:p>
            <a:pPr algn="l" indent="0" marL="0">
              <a:buNone/>
            </a:pPr>
            <a:r>
              <a:rPr lang="en-US" sz="4400" b="1" dirty="0">
                <a:solidFill>
                  <a:schemeClr val="bg1"/>
                </a:solidFill>
                <a:latin typeface="Cambria" pitchFamily="34" charset="0"/>
                <a:ea typeface="Cambria" pitchFamily="34" charset="-122"/>
                <a:cs typeface="Cambria" pitchFamily="34" charset="-120"/>
              </a:rPr>
              <a:t>Bubble Sort Implementation in C</a:t>
            </a:r>
            <a:endParaRPr lang="en-US" sz="4400" dirty="0"/>
          </a:p>
        </p:txBody>
      </p:sp>
      <p:sp>
        <p:nvSpPr>
          <p:cNvPr id="4" name="Text 0"/>
          <p:cNvSpPr/>
          <p:nvPr>
            <p:ph idx="102" type="body" hasCustomPrompt="1"/>
          </p:nvPr>
        </p:nvSpPr>
        <p:spPr>
          <a:xfrm>
            <a:off x="548640" y="4023360"/>
            <a:ext cx="10058400" cy="731520"/>
          </a:xfrm>
          <a:prstGeom prst="rect">
            <a:avLst/>
          </a:prstGeom>
          <a:noFill/>
          <a:ln/>
        </p:spPr>
        <p:txBody>
          <a:bodyPr wrap="square" lIns="0" tIns="0" rIns="0" bIns="0" rtlCol="0"/>
          <a:lstStyle/>
          <a:p>
            <a:pPr algn="l" indent="0" marL="0">
              <a:buNone/>
            </a:pPr>
            <a:r>
              <a:rPr lang="en-US" sz="2000" dirty="0">
                <a:solidFill>
                  <a:srgbClr val="CADCE0"/>
                </a:solidFill>
                <a:latin typeface="Calibri" pitchFamily="34" charset="0"/>
                <a:ea typeface="Calibri" pitchFamily="34" charset="-122"/>
                <a:cs typeface="Calibri" pitchFamily="34" charset="-120"/>
              </a:rPr>
              <a:t>Sorts an array and prints it after each pass — compiles cleanly with gcc -Wall -std=c99</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Code 1: the bubbleSort function</a:t>
            </a:r>
            <a:endParaRPr lang="en-US" sz="3600" dirty="0"/>
          </a:p>
        </p:txBody>
      </p:sp>
      <p:sp>
        <p:nvSpPr>
          <p:cNvPr id="3" name="code panel"/>
          <p:cNvSpPr/>
          <p:nvPr/>
        </p:nvSpPr>
        <p:spPr>
          <a:xfrm>
            <a:off x="548640" y="1325880"/>
            <a:ext cx="8138160" cy="4892040"/>
          </a:xfrm>
          <a:prstGeom prst="roundRect">
            <a:avLst>
              <a:gd name="adj" fmla="val 2243"/>
            </a:avLst>
          </a:prstGeom>
          <a:solidFill>
            <a:srgbClr val="0F2830"/>
          </a:solidFill>
          <a:ln w="12700">
            <a:solidFill>
              <a:srgbClr val="0F2830"/>
            </a:solidFill>
            <a:prstDash val="solid"/>
          </a:ln>
        </p:spPr>
      </p:sp>
      <p:sp>
        <p:nvSpPr>
          <p:cNvPr id="4" name="Text 2"/>
          <p:cNvSpPr txBox="1"/>
          <p:nvPr/>
        </p:nvSpPr>
        <p:spPr>
          <a:xfrm>
            <a:off x="777240" y="1508760"/>
            <a:ext cx="7680960" cy="4526280"/>
          </a:xfrm>
          <a:prstGeom prst="rect">
            <a:avLst/>
          </a:prstGeom>
          <a:noFill/>
          <a:ln/>
        </p:spPr>
        <p:txBody>
          <a:bodyPr wrap="square" lIns="0" tIns="0" rIns="0" bIns="0" rtlCol="0" anchor="t"/>
          <a:lstStyle/>
          <a:p>
            <a:pPr indent="0" marL="0">
              <a:buNone/>
            </a:pPr>
            <a:r>
              <a:rPr lang="en-US" sz="1300" i="1" dirty="0">
                <a:solidFill>
                  <a:srgbClr val="7FB8A8"/>
                </a:solidFill>
                <a:latin typeface="Courier New" pitchFamily="34" charset="0"/>
                <a:ea typeface="Courier New" pitchFamily="34" charset="-122"/>
                <a:cs typeface="Courier New" pitchFamily="34" charset="-120"/>
              </a:rPr>
              <a:t>/* Bubble sort (basic version) - sorts in ascending order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#include &lt;stdio.h&gt;</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void printArray(int arr[], int n)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for (int i = 0; i &lt; n; i++)</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printf("%d ", arr[i]);</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printf("\n");</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void bubbleSort(int arr[], int n)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for (int i = 0; i &lt; n - 1; i++) {           </a:t>
            </a:r>
            <a:pPr indent="0" marL="0">
              <a:buNone/>
            </a:pPr>
            <a:r>
              <a:rPr lang="en-US" sz="1300" i="1" dirty="0">
                <a:solidFill>
                  <a:srgbClr val="7FB8A8"/>
                </a:solidFill>
                <a:latin typeface="Courier New" pitchFamily="34" charset="0"/>
                <a:ea typeface="Courier New" pitchFamily="34" charset="-122"/>
                <a:cs typeface="Courier New" pitchFamily="34" charset="-120"/>
              </a:rPr>
              <a:t>/* number of passes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for (int j = 0; j &lt; n - 1 - i; j++) {   </a:t>
            </a:r>
            <a:pPr indent="0" marL="0">
              <a:buNone/>
            </a:pPr>
            <a:r>
              <a:rPr lang="en-US" sz="1300" i="1" dirty="0">
                <a:solidFill>
                  <a:srgbClr val="7FB8A8"/>
                </a:solidFill>
                <a:latin typeface="Courier New" pitchFamily="34" charset="0"/>
                <a:ea typeface="Courier New" pitchFamily="34" charset="-122"/>
                <a:cs typeface="Courier New" pitchFamily="34" charset="-120"/>
              </a:rPr>
              <a:t>/* compare neighbours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if (arr[j] &gt; arr[j + 1]) {          </a:t>
            </a:r>
            <a:pPr indent="0" marL="0">
              <a:buNone/>
            </a:pPr>
            <a:r>
              <a:rPr lang="en-US" sz="1300" i="1" dirty="0">
                <a:solidFill>
                  <a:srgbClr val="7FB8A8"/>
                </a:solidFill>
                <a:latin typeface="Courier New" pitchFamily="34" charset="0"/>
                <a:ea typeface="Courier New" pitchFamily="34" charset="-122"/>
                <a:cs typeface="Courier New" pitchFamily="34" charset="-120"/>
              </a:rPr>
              <a:t>/* wrong order?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int temp = arr[j];              </a:t>
            </a:r>
            <a:pPr indent="0" marL="0">
              <a:buNone/>
            </a:pPr>
            <a:r>
              <a:rPr lang="en-US" sz="1300" i="1" dirty="0">
                <a:solidFill>
                  <a:srgbClr val="7FB8A8"/>
                </a:solidFill>
                <a:latin typeface="Courier New" pitchFamily="34" charset="0"/>
                <a:ea typeface="Courier New" pitchFamily="34" charset="-122"/>
                <a:cs typeface="Courier New" pitchFamily="34" charset="-120"/>
              </a:rPr>
              <a:t>/* swap them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arr[j] = arr[j + 1];</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arr[j + 1] = temp;</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printf("After pass %d: ", i + 1);</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printArray(arr, n);</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EF0"/>
                </a:solidFill>
                <a:latin typeface="Courier New" pitchFamily="34" charset="0"/>
                <a:ea typeface="Courier New" pitchFamily="34" charset="-122"/>
                <a:cs typeface="Courier New" pitchFamily="34" charset="-120"/>
              </a:rPr>
              <a:t>}</a:t>
            </a:r>
            <a:endParaRPr lang="en-US" sz="1300" dirty="0"/>
          </a:p>
        </p:txBody>
      </p:sp>
      <p:sp>
        <p:nvSpPr>
          <p:cNvPr id="5" name="outer loop i"/>
          <p:cNvSpPr/>
          <p:nvPr/>
        </p:nvSpPr>
        <p:spPr>
          <a:xfrm>
            <a:off x="8915400" y="1325880"/>
            <a:ext cx="2724912" cy="1463040"/>
          </a:xfrm>
          <a:prstGeom prst="roundRect">
            <a:avLst>
              <a:gd name="adj" fmla="val 7500"/>
            </a:avLst>
          </a:prstGeom>
          <a:solidFill>
            <a:schemeClr val="bg2"/>
          </a:solidFill>
          <a:ln w="12700">
            <a:solidFill>
              <a:schemeClr val="bg2"/>
            </a:solidFill>
            <a:prstDash val="solid"/>
          </a:ln>
        </p:spPr>
      </p:sp>
      <p:sp>
        <p:nvSpPr>
          <p:cNvPr id="6" name="Text 4"/>
          <p:cNvSpPr txBox="1"/>
          <p:nvPr/>
        </p:nvSpPr>
        <p:spPr>
          <a:xfrm>
            <a:off x="9144000" y="1490472"/>
            <a:ext cx="2267712"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outer loop i</a:t>
            </a:r>
            <a:endParaRPr lang="en-US" sz="1600" dirty="0"/>
          </a:p>
        </p:txBody>
      </p:sp>
      <p:sp>
        <p:nvSpPr>
          <p:cNvPr id="7" name="Text 5"/>
          <p:cNvSpPr txBox="1"/>
          <p:nvPr/>
        </p:nvSpPr>
        <p:spPr>
          <a:xfrm>
            <a:off x="9144000" y="1892808"/>
            <a:ext cx="2267712"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iteration per pass, n − 1 passes</a:t>
            </a:r>
            <a:endParaRPr lang="en-US" sz="1400" dirty="0"/>
          </a:p>
        </p:txBody>
      </p:sp>
      <p:sp>
        <p:nvSpPr>
          <p:cNvPr id="8" name="inner loop j"/>
          <p:cNvSpPr/>
          <p:nvPr/>
        </p:nvSpPr>
        <p:spPr>
          <a:xfrm>
            <a:off x="8915400" y="2971800"/>
            <a:ext cx="2724912" cy="1463040"/>
          </a:xfrm>
          <a:prstGeom prst="roundRect">
            <a:avLst>
              <a:gd name="adj" fmla="val 7500"/>
            </a:avLst>
          </a:prstGeom>
          <a:solidFill>
            <a:schemeClr val="bg2"/>
          </a:solidFill>
          <a:ln w="12700">
            <a:solidFill>
              <a:schemeClr val="bg2"/>
            </a:solidFill>
            <a:prstDash val="solid"/>
          </a:ln>
        </p:spPr>
      </p:sp>
      <p:sp>
        <p:nvSpPr>
          <p:cNvPr id="9" name="Text 7"/>
          <p:cNvSpPr txBox="1"/>
          <p:nvPr/>
        </p:nvSpPr>
        <p:spPr>
          <a:xfrm>
            <a:off x="9144000" y="3136392"/>
            <a:ext cx="2267712"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inner loop j</a:t>
            </a:r>
            <a:endParaRPr lang="en-US" sz="1600" dirty="0"/>
          </a:p>
        </p:txBody>
      </p:sp>
      <p:sp>
        <p:nvSpPr>
          <p:cNvPr id="10" name="Text 8"/>
          <p:cNvSpPr txBox="1"/>
          <p:nvPr/>
        </p:nvSpPr>
        <p:spPr>
          <a:xfrm>
            <a:off x="9144000" y="3538728"/>
            <a:ext cx="2267712"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compares neighbours; − i skips sorted elements</a:t>
            </a:r>
            <a:endParaRPr lang="en-US" sz="1400" dirty="0"/>
          </a:p>
        </p:txBody>
      </p:sp>
      <p:sp>
        <p:nvSpPr>
          <p:cNvPr id="11" name="temp"/>
          <p:cNvSpPr/>
          <p:nvPr/>
        </p:nvSpPr>
        <p:spPr>
          <a:xfrm>
            <a:off x="8915400" y="4617720"/>
            <a:ext cx="2724912" cy="1600200"/>
          </a:xfrm>
          <a:prstGeom prst="roundRect">
            <a:avLst>
              <a:gd name="adj" fmla="val 6857"/>
            </a:avLst>
          </a:prstGeom>
          <a:solidFill>
            <a:schemeClr val="bg2"/>
          </a:solidFill>
          <a:ln w="12700">
            <a:solidFill>
              <a:schemeClr val="bg2"/>
            </a:solidFill>
            <a:prstDash val="solid"/>
          </a:ln>
        </p:spPr>
      </p:sp>
      <p:sp>
        <p:nvSpPr>
          <p:cNvPr id="12" name="Text 10"/>
          <p:cNvSpPr txBox="1"/>
          <p:nvPr/>
        </p:nvSpPr>
        <p:spPr>
          <a:xfrm>
            <a:off x="9144000" y="4782312"/>
            <a:ext cx="2267712"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temp</a:t>
            </a:r>
            <a:endParaRPr lang="en-US" sz="1600" dirty="0"/>
          </a:p>
        </p:txBody>
      </p:sp>
      <p:sp>
        <p:nvSpPr>
          <p:cNvPr id="13" name="Text 11"/>
          <p:cNvSpPr txBox="1"/>
          <p:nvPr/>
        </p:nvSpPr>
        <p:spPr>
          <a:xfrm>
            <a:off x="9144000" y="5184648"/>
            <a:ext cx="2267712"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standard swap with a temporary variable</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Code 2: main and the output</a:t>
            </a:r>
            <a:endParaRPr lang="en-US" sz="3600" dirty="0"/>
          </a:p>
        </p:txBody>
      </p:sp>
      <p:sp>
        <p:nvSpPr>
          <p:cNvPr id="3" name="code panel"/>
          <p:cNvSpPr/>
          <p:nvPr/>
        </p:nvSpPr>
        <p:spPr>
          <a:xfrm>
            <a:off x="548640" y="1325880"/>
            <a:ext cx="6035040" cy="3749040"/>
          </a:xfrm>
          <a:prstGeom prst="roundRect">
            <a:avLst>
              <a:gd name="adj" fmla="val 2927"/>
            </a:avLst>
          </a:prstGeom>
          <a:solidFill>
            <a:srgbClr val="0F2830"/>
          </a:solidFill>
          <a:ln w="12700">
            <a:solidFill>
              <a:srgbClr val="0F2830"/>
            </a:solidFill>
            <a:prstDash val="solid"/>
          </a:ln>
        </p:spPr>
      </p:sp>
      <p:sp>
        <p:nvSpPr>
          <p:cNvPr id="4" name="Text 2"/>
          <p:cNvSpPr txBox="1"/>
          <p:nvPr/>
        </p:nvSpPr>
        <p:spPr>
          <a:xfrm>
            <a:off x="777240" y="1508760"/>
            <a:ext cx="5577840" cy="3383280"/>
          </a:xfrm>
          <a:prstGeom prst="rect">
            <a:avLst/>
          </a:prstGeom>
          <a:noFill/>
          <a:ln/>
        </p:spPr>
        <p:txBody>
          <a:bodyPr wrap="square" lIns="0" tIns="0" rIns="0" bIns="0" rtlCol="0" anchor="t"/>
          <a:lstStyle/>
          <a:p>
            <a:pPr indent="0" marL="0">
              <a:buNone/>
            </a:pPr>
            <a:r>
              <a:rPr lang="en-US" sz="1400" dirty="0">
                <a:solidFill>
                  <a:srgbClr val="E6EEF0"/>
                </a:solidFill>
                <a:latin typeface="Courier New" pitchFamily="34" charset="0"/>
                <a:ea typeface="Courier New" pitchFamily="34" charset="-122"/>
                <a:cs typeface="Courier New" pitchFamily="34" charset="-120"/>
              </a:rPr>
              <a:t>int main(void) {</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int arr[] = {5, 1, 4, 2, 8};</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int n = sizeof(arr) / sizeof(arr[0]);</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printf("Original array: ");</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printArray(arr, n);</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bubbleSort(arr, n);</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printf("Sorted array:   ");</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printArray(arr, n);</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    return 0;</a:t>
            </a:r>
            <a:endParaRPr lang="en-US" sz="1400" dirty="0"/>
          </a:p>
          <a:p>
            <a:pPr indent="0" marL="0">
              <a:buNone/>
            </a:pPr>
            <a:r>
              <a:rPr lang="en-US" sz="1400" dirty="0">
                <a:solidFill>
                  <a:srgbClr val="E6EEF0"/>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6949440" y="1325880"/>
            <a:ext cx="45720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Output</a:t>
            </a:r>
            <a:endParaRPr lang="en-US" sz="1600" dirty="0"/>
          </a:p>
        </p:txBody>
      </p:sp>
      <p:sp>
        <p:nvSpPr>
          <p:cNvPr id="6" name="output panel"/>
          <p:cNvSpPr/>
          <p:nvPr/>
        </p:nvSpPr>
        <p:spPr>
          <a:xfrm>
            <a:off x="6949440" y="1783080"/>
            <a:ext cx="4690872" cy="219456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7178040" y="1965960"/>
            <a:ext cx="4297680" cy="182880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Original array: 5 1 4 2 8</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After pass 1: 1 4 2 5 8</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After pass 2: 1 2 4 5 8</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After pass 3: 1 2 4 5 8</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After pass 4: 1 2 4 5 8</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Sorted array:   1 2 4 5 8</a:t>
            </a:r>
            <a:endParaRPr lang="en-US" sz="1400" dirty="0"/>
          </a:p>
        </p:txBody>
      </p:sp>
      <p:sp>
        <p:nvSpPr>
          <p:cNvPr id="8" name="match"/>
          <p:cNvSpPr/>
          <p:nvPr/>
        </p:nvSpPr>
        <p:spPr>
          <a:xfrm>
            <a:off x="6949440" y="4206240"/>
            <a:ext cx="4690872" cy="868680"/>
          </a:xfrm>
          <a:prstGeom prst="roundRect">
            <a:avLst>
              <a:gd name="adj" fmla="val 12632"/>
            </a:avLst>
          </a:prstGeom>
          <a:solidFill>
            <a:schemeClr val="tx2"/>
          </a:solidFill>
          <a:ln w="12700">
            <a:solidFill>
              <a:schemeClr val="tx2"/>
            </a:solidFill>
            <a:prstDash val="solid"/>
          </a:ln>
        </p:spPr>
      </p:sp>
      <p:sp>
        <p:nvSpPr>
          <p:cNvPr id="9" name="Text 7"/>
          <p:cNvSpPr txBox="1"/>
          <p:nvPr/>
        </p:nvSpPr>
        <p:spPr>
          <a:xfrm>
            <a:off x="7178040" y="4206240"/>
            <a:ext cx="4297680" cy="868680"/>
          </a:xfrm>
          <a:prstGeom prst="rect">
            <a:avLst/>
          </a:prstGeom>
          <a:noFill/>
          <a:ln/>
        </p:spPr>
        <p:txBody>
          <a:bodyPr wrap="square" lIns="0" tIns="0" rIns="0" bIns="0" rtlCol="0" anchor="ctr"/>
          <a:lstStyle/>
          <a:p>
            <a:pPr indent="0" marL="0">
              <a:buNone/>
            </a:pPr>
            <a:r>
              <a:rPr lang="en-US" sz="1700" b="1" dirty="0">
                <a:solidFill>
                  <a:schemeClr val="accent2"/>
                </a:solidFill>
                <a:latin typeface="Calibri" pitchFamily="34" charset="0"/>
                <a:ea typeface="Calibri" pitchFamily="34" charset="-122"/>
                <a:cs typeface="Calibri" pitchFamily="34" charset="-120"/>
              </a:rPr>
              <a:t>Matches the dry run, pass for pass</a:t>
            </a:r>
            <a:endParaRPr lang="en-US" sz="1700" dirty="0"/>
          </a:p>
        </p:txBody>
      </p:sp>
      <p:sp>
        <p:nvSpPr>
          <p:cNvPr id="10" name="Text 8"/>
          <p:cNvSpPr txBox="1"/>
          <p:nvPr/>
        </p:nvSpPr>
        <p:spPr>
          <a:xfrm>
            <a:off x="548640" y="5440680"/>
            <a:ext cx="10972800" cy="457200"/>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sizeof(arr) / sizeof(arr[0])</a:t>
            </a:r>
            <a:pPr indent="0" marL="0">
              <a:buNone/>
            </a:pPr>
            <a:r>
              <a:rPr lang="en-US" sz="1700" dirty="0">
                <a:solidFill>
                  <a:schemeClr val="tx1"/>
                </a:solidFill>
                <a:latin typeface="Calibri" pitchFamily="34" charset="0"/>
                <a:ea typeface="Calibri" pitchFamily="34" charset="-122"/>
                <a:cs typeface="Calibri" pitchFamily="34" charset="-120"/>
              </a:rPr>
              <a:t> gives the number of elements in the array.</a:t>
            </a:r>
            <a:endParaRPr lang="en-US" sz="17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Common student mistakes</a:t>
            </a:r>
            <a:endParaRPr lang="en-US" sz="3600" dirty="0"/>
          </a:p>
        </p:txBody>
      </p:sp>
      <p:sp>
        <p:nvSpPr>
          <p:cNvPr id="3" name="mistake 1"/>
          <p:cNvSpPr/>
          <p:nvPr/>
        </p:nvSpPr>
        <p:spPr>
          <a:xfrm>
            <a:off x="548640" y="1417320"/>
            <a:ext cx="11091672" cy="960120"/>
          </a:xfrm>
          <a:prstGeom prst="roundRect">
            <a:avLst>
              <a:gd name="adj" fmla="val 11429"/>
            </a:avLst>
          </a:prstGeom>
          <a:solidFill>
            <a:schemeClr val="bg2"/>
          </a:solidFill>
          <a:ln w="12700">
            <a:solidFill>
              <a:schemeClr val="bg2"/>
            </a:solidFill>
            <a:prstDash val="solid"/>
          </a:ln>
        </p:spPr>
      </p:sp>
      <p:sp>
        <p:nvSpPr>
          <p:cNvPr id="4" name="Shape 2"/>
          <p:cNvSpPr/>
          <p:nvPr/>
        </p:nvSpPr>
        <p:spPr>
          <a:xfrm>
            <a:off x="822960" y="1600200"/>
            <a:ext cx="594360" cy="594360"/>
          </a:xfrm>
          <a:prstGeom prst="ellipse">
            <a:avLst/>
          </a:prstGeom>
          <a:solidFill>
            <a:schemeClr val="accent3"/>
          </a:solidFill>
          <a:ln w="12700">
            <a:solidFill>
              <a:schemeClr val="accent3"/>
            </a:solidFill>
            <a:prstDash val="solid"/>
          </a:ln>
        </p:spPr>
      </p:sp>
      <p:sp>
        <p:nvSpPr>
          <p:cNvPr id="5" name="Text 3"/>
          <p:cNvSpPr txBox="1"/>
          <p:nvPr/>
        </p:nvSpPr>
        <p:spPr>
          <a:xfrm>
            <a:off x="822960" y="1600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6" name="Text 4"/>
          <p:cNvSpPr txBox="1"/>
          <p:nvPr/>
        </p:nvSpPr>
        <p:spPr>
          <a:xfrm>
            <a:off x="1645920" y="1417320"/>
            <a:ext cx="6400800" cy="960120"/>
          </a:xfrm>
          <a:prstGeom prst="rect">
            <a:avLst/>
          </a:prstGeom>
          <a:noFill/>
          <a:ln/>
        </p:spPr>
        <p:txBody>
          <a:bodyPr wrap="square" lIns="0" tIns="0" rIns="0" bIns="0" rtlCol="0" anchor="ctr"/>
          <a:lstStyle/>
          <a:p>
            <a:pPr indent="0" marL="0">
              <a:buNone/>
            </a:pPr>
            <a:r>
              <a:rPr lang="en-US" sz="1700" dirty="0">
                <a:solidFill>
                  <a:schemeClr val="tx2"/>
                </a:solidFill>
                <a:latin typeface="Calibri" pitchFamily="34" charset="0"/>
                <a:ea typeface="Calibri" pitchFamily="34" charset="-122"/>
                <a:cs typeface="Calibri" pitchFamily="34" charset="-120"/>
              </a:rPr>
              <a:t>Inner loop running to </a:t>
            </a:r>
            <a:pPr indent="0" marL="0">
              <a:buNone/>
            </a:pPr>
            <a:r>
              <a:rPr lang="en-US" sz="1700" b="1" dirty="0">
                <a:solidFill>
                  <a:schemeClr val="tx2"/>
                </a:solidFill>
                <a:latin typeface="Courier New" pitchFamily="34" charset="0"/>
                <a:ea typeface="Courier New" pitchFamily="34" charset="-122"/>
                <a:cs typeface="Courier New" pitchFamily="34" charset="-120"/>
              </a:rPr>
              <a:t>j &lt; n</a:t>
            </a:r>
            <a:pPr indent="0" marL="0">
              <a:buNone/>
            </a:pPr>
            <a:r>
              <a:rPr lang="en-US" sz="1700" dirty="0">
                <a:solidFill>
                  <a:schemeClr val="tx2"/>
                </a:solidFill>
                <a:latin typeface="Calibri" pitchFamily="34" charset="0"/>
                <a:ea typeface="Calibri" pitchFamily="34" charset="-122"/>
                <a:cs typeface="Calibri" pitchFamily="34" charset="-120"/>
              </a:rPr>
              <a:t> instead of </a:t>
            </a:r>
            <a:pPr indent="0" marL="0">
              <a:buNone/>
            </a:pPr>
            <a:r>
              <a:rPr lang="en-US" sz="1700" b="1" dirty="0">
                <a:solidFill>
                  <a:schemeClr val="tx2"/>
                </a:solidFill>
                <a:latin typeface="Courier New" pitchFamily="34" charset="0"/>
                <a:ea typeface="Courier New" pitchFamily="34" charset="-122"/>
                <a:cs typeface="Courier New" pitchFamily="34" charset="-120"/>
              </a:rPr>
              <a:t>j &lt; n - 1 - i</a:t>
            </a:r>
            <a:endParaRPr lang="en-US" sz="1700" dirty="0"/>
          </a:p>
        </p:txBody>
      </p:sp>
      <p:sp>
        <p:nvSpPr>
          <p:cNvPr id="7" name="Text 5"/>
          <p:cNvSpPr txBox="1"/>
          <p:nvPr/>
        </p:nvSpPr>
        <p:spPr>
          <a:xfrm>
            <a:off x="8183880" y="1417320"/>
            <a:ext cx="3291840" cy="960120"/>
          </a:xfrm>
          <a:prstGeom prst="rect">
            <a:avLst/>
          </a:prstGeom>
          <a:noFill/>
          <a:ln/>
        </p:spPr>
        <p:txBody>
          <a:bodyPr wrap="square" lIns="0" tIns="0" rIns="0" bIns="0" rtlCol="0" anchor="ctr"/>
          <a:lstStyle/>
          <a:p>
            <a:pPr indent="0" marL="0">
              <a:buNone/>
            </a:pPr>
            <a:r>
              <a:rPr lang="en-US" sz="1500" dirty="0">
                <a:solidFill>
                  <a:srgbClr val="6B7F8A"/>
                </a:solidFill>
                <a:latin typeface="Calibri" pitchFamily="34" charset="0"/>
                <a:ea typeface="Calibri" pitchFamily="34" charset="-122"/>
                <a:cs typeface="Calibri" pitchFamily="34" charset="-120"/>
              </a:rPr>
              <a:t>→ reads past the array at arr[j + 1]</a:t>
            </a:r>
            <a:endParaRPr lang="en-US" sz="1500" dirty="0"/>
          </a:p>
        </p:txBody>
      </p:sp>
      <p:sp>
        <p:nvSpPr>
          <p:cNvPr id="8" name="mistake 2"/>
          <p:cNvSpPr/>
          <p:nvPr/>
        </p:nvSpPr>
        <p:spPr>
          <a:xfrm>
            <a:off x="548640" y="2560320"/>
            <a:ext cx="11091672" cy="960120"/>
          </a:xfrm>
          <a:prstGeom prst="roundRect">
            <a:avLst>
              <a:gd name="adj" fmla="val 11429"/>
            </a:avLst>
          </a:prstGeom>
          <a:solidFill>
            <a:schemeClr val="bg2"/>
          </a:solidFill>
          <a:ln w="12700">
            <a:solidFill>
              <a:schemeClr val="bg2"/>
            </a:solidFill>
            <a:prstDash val="solid"/>
          </a:ln>
        </p:spPr>
      </p:sp>
      <p:sp>
        <p:nvSpPr>
          <p:cNvPr id="9" name="Shape 7"/>
          <p:cNvSpPr/>
          <p:nvPr/>
        </p:nvSpPr>
        <p:spPr>
          <a:xfrm>
            <a:off x="822960" y="2743200"/>
            <a:ext cx="594360" cy="594360"/>
          </a:xfrm>
          <a:prstGeom prst="ellipse">
            <a:avLst/>
          </a:prstGeom>
          <a:solidFill>
            <a:schemeClr val="accent3"/>
          </a:solidFill>
          <a:ln w="12700">
            <a:solidFill>
              <a:schemeClr val="accent3"/>
            </a:solidFill>
            <a:prstDash val="solid"/>
          </a:ln>
        </p:spPr>
      </p:sp>
      <p:sp>
        <p:nvSpPr>
          <p:cNvPr id="10" name="Text 8"/>
          <p:cNvSpPr txBox="1"/>
          <p:nvPr/>
        </p:nvSpPr>
        <p:spPr>
          <a:xfrm>
            <a:off x="822960" y="2743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645920" y="2560320"/>
            <a:ext cx="6400800" cy="960120"/>
          </a:xfrm>
          <a:prstGeom prst="rect">
            <a:avLst/>
          </a:prstGeom>
          <a:noFill/>
          <a:ln/>
        </p:spPr>
        <p:txBody>
          <a:bodyPr wrap="square" lIns="0" tIns="0" rIns="0" bIns="0" rtlCol="0" anchor="ctr"/>
          <a:lstStyle/>
          <a:p>
            <a:pPr indent="0" marL="0">
              <a:buNone/>
            </a:pPr>
            <a:r>
              <a:rPr lang="en-US" sz="1700" dirty="0">
                <a:solidFill>
                  <a:schemeClr val="tx2"/>
                </a:solidFill>
                <a:latin typeface="Calibri" pitchFamily="34" charset="0"/>
                <a:ea typeface="Calibri" pitchFamily="34" charset="-122"/>
                <a:cs typeface="Calibri" pitchFamily="34" charset="-120"/>
              </a:rPr>
              <a:t>Swapping without </a:t>
            </a:r>
            <a:pPr indent="0" marL="0">
              <a:buNone/>
            </a:pPr>
            <a:r>
              <a:rPr lang="en-US" sz="1700" b="1" dirty="0">
                <a:solidFill>
                  <a:schemeClr val="tx2"/>
                </a:solidFill>
                <a:latin typeface="Courier New" pitchFamily="34" charset="0"/>
                <a:ea typeface="Courier New" pitchFamily="34" charset="-122"/>
                <a:cs typeface="Courier New" pitchFamily="34" charset="-120"/>
              </a:rPr>
              <a:t>temp</a:t>
            </a:r>
            <a:endParaRPr lang="en-US" sz="1700" dirty="0"/>
          </a:p>
        </p:txBody>
      </p:sp>
      <p:sp>
        <p:nvSpPr>
          <p:cNvPr id="12" name="Text 10"/>
          <p:cNvSpPr txBox="1"/>
          <p:nvPr/>
        </p:nvSpPr>
        <p:spPr>
          <a:xfrm>
            <a:off x="8183880" y="2560320"/>
            <a:ext cx="3291840" cy="960120"/>
          </a:xfrm>
          <a:prstGeom prst="rect">
            <a:avLst/>
          </a:prstGeom>
          <a:noFill/>
          <a:ln/>
        </p:spPr>
        <p:txBody>
          <a:bodyPr wrap="square" lIns="0" tIns="0" rIns="0" bIns="0" rtlCol="0" anchor="ctr"/>
          <a:lstStyle/>
          <a:p>
            <a:pPr indent="0" marL="0">
              <a:buNone/>
            </a:pPr>
            <a:r>
              <a:rPr lang="en-US" sz="1500" dirty="0">
                <a:solidFill>
                  <a:srgbClr val="6B7F8A"/>
                </a:solidFill>
                <a:latin typeface="Calibri" pitchFamily="34" charset="0"/>
                <a:ea typeface="Calibri" pitchFamily="34" charset="-122"/>
                <a:cs typeface="Calibri" pitchFamily="34" charset="-120"/>
              </a:rPr>
              <a:t>→ copies one value twice and loses the other</a:t>
            </a:r>
            <a:endParaRPr lang="en-US" sz="1500" dirty="0"/>
          </a:p>
        </p:txBody>
      </p:sp>
      <p:sp>
        <p:nvSpPr>
          <p:cNvPr id="13" name="mistake 3"/>
          <p:cNvSpPr/>
          <p:nvPr/>
        </p:nvSpPr>
        <p:spPr>
          <a:xfrm>
            <a:off x="548640" y="3703320"/>
            <a:ext cx="11091672" cy="960120"/>
          </a:xfrm>
          <a:prstGeom prst="roundRect">
            <a:avLst>
              <a:gd name="adj" fmla="val 11429"/>
            </a:avLst>
          </a:prstGeom>
          <a:solidFill>
            <a:schemeClr val="bg2"/>
          </a:solidFill>
          <a:ln w="12700">
            <a:solidFill>
              <a:schemeClr val="bg2"/>
            </a:solidFill>
            <a:prstDash val="solid"/>
          </a:ln>
        </p:spPr>
      </p:sp>
      <p:sp>
        <p:nvSpPr>
          <p:cNvPr id="14" name="Shape 12"/>
          <p:cNvSpPr/>
          <p:nvPr/>
        </p:nvSpPr>
        <p:spPr>
          <a:xfrm>
            <a:off x="822960" y="3886200"/>
            <a:ext cx="594360" cy="594360"/>
          </a:xfrm>
          <a:prstGeom prst="ellipse">
            <a:avLst/>
          </a:prstGeom>
          <a:solidFill>
            <a:schemeClr val="accent3"/>
          </a:solidFill>
          <a:ln w="12700">
            <a:solidFill>
              <a:schemeClr val="accent3"/>
            </a:solidFill>
            <a:prstDash val="solid"/>
          </a:ln>
        </p:spPr>
      </p:sp>
      <p:sp>
        <p:nvSpPr>
          <p:cNvPr id="15" name="Text 13"/>
          <p:cNvSpPr txBox="1"/>
          <p:nvPr/>
        </p:nvSpPr>
        <p:spPr>
          <a:xfrm>
            <a:off x="822960" y="3886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1645920" y="3703320"/>
            <a:ext cx="6400800" cy="960120"/>
          </a:xfrm>
          <a:prstGeom prst="rect">
            <a:avLst/>
          </a:prstGeom>
          <a:noFill/>
          <a:ln/>
        </p:spPr>
        <p:txBody>
          <a:bodyPr wrap="square" lIns="0" tIns="0" rIns="0" bIns="0" rtlCol="0" anchor="ctr"/>
          <a:lstStyle/>
          <a:p>
            <a:pPr indent="0" marL="0">
              <a:buNone/>
            </a:pPr>
            <a:r>
              <a:rPr lang="en-US" sz="1700" dirty="0">
                <a:solidFill>
                  <a:schemeClr val="tx2"/>
                </a:solidFill>
                <a:latin typeface="Calibri" pitchFamily="34" charset="0"/>
                <a:ea typeface="Calibri" pitchFamily="34" charset="-122"/>
                <a:cs typeface="Calibri" pitchFamily="34" charset="-120"/>
              </a:rPr>
              <a:t>Using </a:t>
            </a:r>
            <a:pPr indent="0" marL="0">
              <a:buNone/>
            </a:pPr>
            <a:r>
              <a:rPr lang="en-US" sz="1700" b="1" dirty="0">
                <a:solidFill>
                  <a:schemeClr val="tx2"/>
                </a:solidFill>
                <a:latin typeface="Courier New" pitchFamily="34" charset="0"/>
                <a:ea typeface="Courier New" pitchFamily="34" charset="-122"/>
                <a:cs typeface="Courier New" pitchFamily="34" charset="-120"/>
              </a:rPr>
              <a:t>&gt;=</a:t>
            </a:r>
            <a:pPr indent="0" marL="0">
              <a:buNone/>
            </a:pPr>
            <a:r>
              <a:rPr lang="en-US" sz="1700" dirty="0">
                <a:solidFill>
                  <a:schemeClr val="tx2"/>
                </a:solidFill>
                <a:latin typeface="Calibri" pitchFamily="34" charset="0"/>
                <a:ea typeface="Calibri" pitchFamily="34" charset="-122"/>
                <a:cs typeface="Calibri" pitchFamily="34" charset="-120"/>
              </a:rPr>
              <a:t> instead of </a:t>
            </a:r>
            <a:pPr indent="0" marL="0">
              <a:buNone/>
            </a:pPr>
            <a:r>
              <a:rPr lang="en-US" sz="1700" b="1" dirty="0">
                <a:solidFill>
                  <a:schemeClr val="tx2"/>
                </a:solidFill>
                <a:latin typeface="Courier New" pitchFamily="34" charset="0"/>
                <a:ea typeface="Courier New" pitchFamily="34" charset="-122"/>
                <a:cs typeface="Courier New" pitchFamily="34" charset="-120"/>
              </a:rPr>
              <a:t>&gt;</a:t>
            </a:r>
            <a:endParaRPr lang="en-US" sz="1700" dirty="0"/>
          </a:p>
        </p:txBody>
      </p:sp>
      <p:sp>
        <p:nvSpPr>
          <p:cNvPr id="17" name="Text 15"/>
          <p:cNvSpPr txBox="1"/>
          <p:nvPr/>
        </p:nvSpPr>
        <p:spPr>
          <a:xfrm>
            <a:off x="8183880" y="3703320"/>
            <a:ext cx="3291840" cy="960120"/>
          </a:xfrm>
          <a:prstGeom prst="rect">
            <a:avLst/>
          </a:prstGeom>
          <a:noFill/>
          <a:ln/>
        </p:spPr>
        <p:txBody>
          <a:bodyPr wrap="square" lIns="0" tIns="0" rIns="0" bIns="0" rtlCol="0" anchor="ctr"/>
          <a:lstStyle/>
          <a:p>
            <a:pPr indent="0" marL="0">
              <a:buNone/>
            </a:pPr>
            <a:r>
              <a:rPr lang="en-US" sz="1500" dirty="0">
                <a:solidFill>
                  <a:srgbClr val="6B7F8A"/>
                </a:solidFill>
                <a:latin typeface="Calibri" pitchFamily="34" charset="0"/>
                <a:ea typeface="Calibri" pitchFamily="34" charset="-122"/>
                <a:cs typeface="Calibri" pitchFamily="34" charset="-120"/>
              </a:rPr>
              <a:t>→ makes the sort unstable and does useless swaps</a:t>
            </a:r>
            <a:endParaRPr lang="en-US" sz="1500" dirty="0"/>
          </a:p>
        </p:txBody>
      </p:sp>
      <p:sp>
        <p:nvSpPr>
          <p:cNvPr id="18" name="mistake 4"/>
          <p:cNvSpPr/>
          <p:nvPr/>
        </p:nvSpPr>
        <p:spPr>
          <a:xfrm>
            <a:off x="548640" y="4846320"/>
            <a:ext cx="11091672" cy="960120"/>
          </a:xfrm>
          <a:prstGeom prst="roundRect">
            <a:avLst>
              <a:gd name="adj" fmla="val 11429"/>
            </a:avLst>
          </a:prstGeom>
          <a:solidFill>
            <a:schemeClr val="bg2"/>
          </a:solidFill>
          <a:ln w="12700">
            <a:solidFill>
              <a:schemeClr val="bg2"/>
            </a:solidFill>
            <a:prstDash val="solid"/>
          </a:ln>
        </p:spPr>
      </p:sp>
      <p:sp>
        <p:nvSpPr>
          <p:cNvPr id="19" name="Shape 17"/>
          <p:cNvSpPr/>
          <p:nvPr/>
        </p:nvSpPr>
        <p:spPr>
          <a:xfrm>
            <a:off x="822960" y="5029200"/>
            <a:ext cx="594360" cy="594360"/>
          </a:xfrm>
          <a:prstGeom prst="ellipse">
            <a:avLst/>
          </a:prstGeom>
          <a:solidFill>
            <a:schemeClr val="accent3"/>
          </a:solidFill>
          <a:ln w="12700">
            <a:solidFill>
              <a:schemeClr val="accent3"/>
            </a:solidFill>
            <a:prstDash val="solid"/>
          </a:ln>
        </p:spPr>
      </p:sp>
      <p:sp>
        <p:nvSpPr>
          <p:cNvPr id="20" name="Text 18"/>
          <p:cNvSpPr txBox="1"/>
          <p:nvPr/>
        </p:nvSpPr>
        <p:spPr>
          <a:xfrm>
            <a:off x="822960" y="5029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1645920" y="4846320"/>
            <a:ext cx="6400800" cy="960120"/>
          </a:xfrm>
          <a:prstGeom prst="rect">
            <a:avLst/>
          </a:prstGeom>
          <a:noFill/>
          <a:ln/>
        </p:spPr>
        <p:txBody>
          <a:bodyPr wrap="square" lIns="0" tIns="0" rIns="0" bIns="0" rtlCol="0" anchor="ctr"/>
          <a:lstStyle/>
          <a:p>
            <a:pPr indent="0" marL="0">
              <a:buNone/>
            </a:pPr>
            <a:r>
              <a:rPr lang="en-US" sz="1700" dirty="0">
                <a:solidFill>
                  <a:schemeClr val="tx2"/>
                </a:solidFill>
                <a:latin typeface="Calibri" pitchFamily="34" charset="0"/>
                <a:ea typeface="Calibri" pitchFamily="34" charset="-122"/>
                <a:cs typeface="Calibri" pitchFamily="34" charset="-120"/>
              </a:rPr>
              <a:t>Resetting </a:t>
            </a:r>
            <a:pPr indent="0" marL="0">
              <a:buNone/>
            </a:pPr>
            <a:r>
              <a:rPr lang="en-US" sz="1700" b="1" dirty="0">
                <a:solidFill>
                  <a:schemeClr val="tx2"/>
                </a:solidFill>
                <a:latin typeface="Courier New" pitchFamily="34" charset="0"/>
                <a:ea typeface="Courier New" pitchFamily="34" charset="-122"/>
                <a:cs typeface="Courier New" pitchFamily="34" charset="-120"/>
              </a:rPr>
              <a:t>swapped</a:t>
            </a:r>
            <a:pPr indent="0" marL="0">
              <a:buNone/>
            </a:pPr>
            <a:r>
              <a:rPr lang="en-US" sz="1700" dirty="0">
                <a:solidFill>
                  <a:schemeClr val="tx2"/>
                </a:solidFill>
                <a:latin typeface="Calibri" pitchFamily="34" charset="0"/>
                <a:ea typeface="Calibri" pitchFamily="34" charset="-122"/>
                <a:cs typeface="Calibri" pitchFamily="34" charset="-120"/>
              </a:rPr>
              <a:t> outside the outer loop</a:t>
            </a:r>
            <a:endParaRPr lang="en-US" sz="1700" dirty="0"/>
          </a:p>
        </p:txBody>
      </p:sp>
      <p:sp>
        <p:nvSpPr>
          <p:cNvPr id="22" name="Text 20"/>
          <p:cNvSpPr txBox="1"/>
          <p:nvPr/>
        </p:nvSpPr>
        <p:spPr>
          <a:xfrm>
            <a:off x="8183880" y="4846320"/>
            <a:ext cx="3291840" cy="960120"/>
          </a:xfrm>
          <a:prstGeom prst="rect">
            <a:avLst/>
          </a:prstGeom>
          <a:noFill/>
          <a:ln/>
        </p:spPr>
        <p:txBody>
          <a:bodyPr wrap="square" lIns="0" tIns="0" rIns="0" bIns="0" rtlCol="0" anchor="ctr"/>
          <a:lstStyle/>
          <a:p>
            <a:pPr indent="0" marL="0">
              <a:buNone/>
            </a:pPr>
            <a:r>
              <a:rPr lang="en-US" sz="1500" dirty="0">
                <a:solidFill>
                  <a:srgbClr val="6B7F8A"/>
                </a:solidFill>
                <a:latin typeface="Calibri" pitchFamily="34" charset="0"/>
                <a:ea typeface="Calibri" pitchFamily="34" charset="-122"/>
                <a:cs typeface="Calibri" pitchFamily="34" charset="-120"/>
              </a:rPr>
              <a:t>→ the early exit never triggers correctly</a:t>
            </a:r>
            <a:endParaRPr lang="en-US" sz="15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Quick check</a:t>
            </a:r>
            <a:endParaRPr lang="en-US" sz="3600" dirty="0"/>
          </a:p>
        </p:txBody>
      </p:sp>
      <p:sp>
        <p:nvSpPr>
          <p:cNvPr id="3" name="question 1"/>
          <p:cNvSpPr/>
          <p:nvPr/>
        </p:nvSpPr>
        <p:spPr>
          <a:xfrm>
            <a:off x="548640" y="1417320"/>
            <a:ext cx="5303520" cy="1325880"/>
          </a:xfrm>
          <a:prstGeom prst="roundRect">
            <a:avLst>
              <a:gd name="adj" fmla="val 8276"/>
            </a:avLst>
          </a:prstGeom>
          <a:solidFill>
            <a:schemeClr val="bg2"/>
          </a:solidFill>
          <a:ln w="12700">
            <a:solidFill>
              <a:schemeClr val="bg2"/>
            </a:solidFill>
            <a:prstDash val="solid"/>
          </a:ln>
        </p:spPr>
      </p:sp>
      <p:sp>
        <p:nvSpPr>
          <p:cNvPr id="4" name="Shape 2"/>
          <p:cNvSpPr/>
          <p:nvPr/>
        </p:nvSpPr>
        <p:spPr>
          <a:xfrm>
            <a:off x="777240" y="1600200"/>
            <a:ext cx="548640" cy="548640"/>
          </a:xfrm>
          <a:prstGeom prst="ellipse">
            <a:avLst/>
          </a:prstGeom>
          <a:solidFill>
            <a:schemeClr val="tx2"/>
          </a:solidFill>
          <a:ln w="12700">
            <a:solidFill>
              <a:schemeClr val="tx2"/>
            </a:solidFill>
            <a:prstDash val="solid"/>
          </a:ln>
        </p:spPr>
      </p:sp>
      <p:sp>
        <p:nvSpPr>
          <p:cNvPr id="5" name="Text 3"/>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Q1</a:t>
            </a:r>
            <a:endParaRPr lang="en-US" sz="1400" dirty="0"/>
          </a:p>
        </p:txBody>
      </p:sp>
      <p:sp>
        <p:nvSpPr>
          <p:cNvPr id="6" name="Text 4"/>
          <p:cNvSpPr txBox="1"/>
          <p:nvPr/>
        </p:nvSpPr>
        <p:spPr>
          <a:xfrm>
            <a:off x="1463040" y="1554480"/>
            <a:ext cx="42062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What does bubble sort compare in each step?</a:t>
            </a:r>
            <a:endParaRPr lang="en-US" sz="1600" dirty="0"/>
          </a:p>
        </p:txBody>
      </p:sp>
      <p:sp>
        <p:nvSpPr>
          <p:cNvPr id="7" name="answer 1"/>
          <p:cNvSpPr/>
          <p:nvPr/>
        </p:nvSpPr>
        <p:spPr>
          <a:xfrm>
            <a:off x="1463040" y="2221992"/>
            <a:ext cx="2377440" cy="384048"/>
          </a:xfrm>
          <a:prstGeom prst="roundRect">
            <a:avLst>
              <a:gd name="adj" fmla="val 28571"/>
            </a:avLst>
          </a:prstGeom>
          <a:solidFill>
            <a:schemeClr val="accent1"/>
          </a:solidFill>
          <a:ln w="12700">
            <a:solidFill>
              <a:schemeClr val="accent1"/>
            </a:solidFill>
            <a:prstDash val="solid"/>
          </a:ln>
        </p:spPr>
      </p:sp>
      <p:sp>
        <p:nvSpPr>
          <p:cNvPr id="8" name="Text 6"/>
          <p:cNvSpPr txBox="1"/>
          <p:nvPr/>
        </p:nvSpPr>
        <p:spPr>
          <a:xfrm>
            <a:off x="1463040" y="2221992"/>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Two neighbours</a:t>
            </a:r>
            <a:endParaRPr lang="en-US" sz="1400" dirty="0"/>
          </a:p>
        </p:txBody>
      </p:sp>
      <p:sp>
        <p:nvSpPr>
          <p:cNvPr id="9" name="question 2"/>
          <p:cNvSpPr/>
          <p:nvPr/>
        </p:nvSpPr>
        <p:spPr>
          <a:xfrm>
            <a:off x="6217920" y="1417320"/>
            <a:ext cx="5303520" cy="1325880"/>
          </a:xfrm>
          <a:prstGeom prst="roundRect">
            <a:avLst>
              <a:gd name="adj" fmla="val 8276"/>
            </a:avLst>
          </a:prstGeom>
          <a:solidFill>
            <a:schemeClr val="bg2"/>
          </a:solidFill>
          <a:ln w="12700">
            <a:solidFill>
              <a:schemeClr val="bg2"/>
            </a:solidFill>
            <a:prstDash val="solid"/>
          </a:ln>
        </p:spPr>
      </p:sp>
      <p:sp>
        <p:nvSpPr>
          <p:cNvPr id="10" name="Shape 8"/>
          <p:cNvSpPr/>
          <p:nvPr/>
        </p:nvSpPr>
        <p:spPr>
          <a:xfrm>
            <a:off x="6446520" y="1600200"/>
            <a:ext cx="548640" cy="548640"/>
          </a:xfrm>
          <a:prstGeom prst="ellipse">
            <a:avLst/>
          </a:prstGeom>
          <a:solidFill>
            <a:schemeClr val="tx2"/>
          </a:solidFill>
          <a:ln w="12700">
            <a:solidFill>
              <a:schemeClr val="tx2"/>
            </a:solidFill>
            <a:prstDash val="solid"/>
          </a:ln>
        </p:spPr>
      </p:sp>
      <p:sp>
        <p:nvSpPr>
          <p:cNvPr id="11" name="Text 9"/>
          <p:cNvSpPr txBox="1"/>
          <p:nvPr/>
        </p:nvSpPr>
        <p:spPr>
          <a:xfrm>
            <a:off x="6446520" y="160020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Q2</a:t>
            </a:r>
            <a:endParaRPr lang="en-US" sz="1400" dirty="0"/>
          </a:p>
        </p:txBody>
      </p:sp>
      <p:sp>
        <p:nvSpPr>
          <p:cNvPr id="12" name="Text 10"/>
          <p:cNvSpPr txBox="1"/>
          <p:nvPr/>
        </p:nvSpPr>
        <p:spPr>
          <a:xfrm>
            <a:off x="7132320" y="1554480"/>
            <a:ext cx="42062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Where is the largest element after pass 1?</a:t>
            </a:r>
            <a:endParaRPr lang="en-US" sz="1600" dirty="0"/>
          </a:p>
        </p:txBody>
      </p:sp>
      <p:sp>
        <p:nvSpPr>
          <p:cNvPr id="13" name="answer 2"/>
          <p:cNvSpPr/>
          <p:nvPr/>
        </p:nvSpPr>
        <p:spPr>
          <a:xfrm>
            <a:off x="7132320" y="2221992"/>
            <a:ext cx="2377440" cy="384048"/>
          </a:xfrm>
          <a:prstGeom prst="roundRect">
            <a:avLst>
              <a:gd name="adj" fmla="val 28571"/>
            </a:avLst>
          </a:prstGeom>
          <a:solidFill>
            <a:schemeClr val="accent1"/>
          </a:solidFill>
          <a:ln w="12700">
            <a:solidFill>
              <a:schemeClr val="accent1"/>
            </a:solidFill>
            <a:prstDash val="solid"/>
          </a:ln>
        </p:spPr>
      </p:sp>
      <p:sp>
        <p:nvSpPr>
          <p:cNvPr id="14" name="Text 12"/>
          <p:cNvSpPr txBox="1"/>
          <p:nvPr/>
        </p:nvSpPr>
        <p:spPr>
          <a:xfrm>
            <a:off x="7132320" y="2221992"/>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Last position</a:t>
            </a:r>
            <a:endParaRPr lang="en-US" sz="1400" dirty="0"/>
          </a:p>
        </p:txBody>
      </p:sp>
      <p:sp>
        <p:nvSpPr>
          <p:cNvPr id="15" name="question 3"/>
          <p:cNvSpPr/>
          <p:nvPr/>
        </p:nvSpPr>
        <p:spPr>
          <a:xfrm>
            <a:off x="548640" y="2926080"/>
            <a:ext cx="5303520" cy="1325880"/>
          </a:xfrm>
          <a:prstGeom prst="roundRect">
            <a:avLst>
              <a:gd name="adj" fmla="val 8276"/>
            </a:avLst>
          </a:prstGeom>
          <a:solidFill>
            <a:schemeClr val="bg2"/>
          </a:solidFill>
          <a:ln w="12700">
            <a:solidFill>
              <a:schemeClr val="bg2"/>
            </a:solidFill>
            <a:prstDash val="solid"/>
          </a:ln>
        </p:spPr>
      </p:sp>
      <p:sp>
        <p:nvSpPr>
          <p:cNvPr id="16" name="Shape 14"/>
          <p:cNvSpPr/>
          <p:nvPr/>
        </p:nvSpPr>
        <p:spPr>
          <a:xfrm>
            <a:off x="777240" y="3108960"/>
            <a:ext cx="548640" cy="548640"/>
          </a:xfrm>
          <a:prstGeom prst="ellipse">
            <a:avLst/>
          </a:prstGeom>
          <a:solidFill>
            <a:schemeClr val="tx2"/>
          </a:solidFill>
          <a:ln w="12700">
            <a:solidFill>
              <a:schemeClr val="tx2"/>
            </a:solidFill>
            <a:prstDash val="solid"/>
          </a:ln>
        </p:spPr>
      </p:sp>
      <p:sp>
        <p:nvSpPr>
          <p:cNvPr id="17" name="Text 15"/>
          <p:cNvSpPr txBox="1"/>
          <p:nvPr/>
        </p:nvSpPr>
        <p:spPr>
          <a:xfrm>
            <a:off x="777240" y="310896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Q3</a:t>
            </a:r>
            <a:endParaRPr lang="en-US" sz="1400" dirty="0"/>
          </a:p>
        </p:txBody>
      </p:sp>
      <p:sp>
        <p:nvSpPr>
          <p:cNvPr id="18" name="Text 16"/>
          <p:cNvSpPr txBox="1"/>
          <p:nvPr/>
        </p:nvSpPr>
        <p:spPr>
          <a:xfrm>
            <a:off x="1463040" y="3063240"/>
            <a:ext cx="42062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Most passes needed for n elements?</a:t>
            </a:r>
            <a:endParaRPr lang="en-US" sz="1600" dirty="0"/>
          </a:p>
        </p:txBody>
      </p:sp>
      <p:sp>
        <p:nvSpPr>
          <p:cNvPr id="19" name="answer 3"/>
          <p:cNvSpPr/>
          <p:nvPr/>
        </p:nvSpPr>
        <p:spPr>
          <a:xfrm>
            <a:off x="1463040" y="3730752"/>
            <a:ext cx="2377440" cy="384048"/>
          </a:xfrm>
          <a:prstGeom prst="roundRect">
            <a:avLst>
              <a:gd name="adj" fmla="val 28571"/>
            </a:avLst>
          </a:prstGeom>
          <a:solidFill>
            <a:schemeClr val="accent1"/>
          </a:solidFill>
          <a:ln w="12700">
            <a:solidFill>
              <a:schemeClr val="accent1"/>
            </a:solidFill>
            <a:prstDash val="solid"/>
          </a:ln>
        </p:spPr>
      </p:sp>
      <p:sp>
        <p:nvSpPr>
          <p:cNvPr id="20" name="Text 18"/>
          <p:cNvSpPr txBox="1"/>
          <p:nvPr/>
        </p:nvSpPr>
        <p:spPr>
          <a:xfrm>
            <a:off x="1463040" y="3730752"/>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n − 1</a:t>
            </a:r>
            <a:endParaRPr lang="en-US" sz="1400" dirty="0"/>
          </a:p>
        </p:txBody>
      </p:sp>
      <p:sp>
        <p:nvSpPr>
          <p:cNvPr id="21" name="question 4"/>
          <p:cNvSpPr/>
          <p:nvPr/>
        </p:nvSpPr>
        <p:spPr>
          <a:xfrm>
            <a:off x="6217920" y="2926080"/>
            <a:ext cx="5303520" cy="1325880"/>
          </a:xfrm>
          <a:prstGeom prst="roundRect">
            <a:avLst>
              <a:gd name="adj" fmla="val 8276"/>
            </a:avLst>
          </a:prstGeom>
          <a:solidFill>
            <a:schemeClr val="bg2"/>
          </a:solidFill>
          <a:ln w="12700">
            <a:solidFill>
              <a:schemeClr val="bg2"/>
            </a:solidFill>
            <a:prstDash val="solid"/>
          </a:ln>
        </p:spPr>
      </p:sp>
      <p:sp>
        <p:nvSpPr>
          <p:cNvPr id="22" name="Shape 20"/>
          <p:cNvSpPr/>
          <p:nvPr/>
        </p:nvSpPr>
        <p:spPr>
          <a:xfrm>
            <a:off x="6446520" y="3108960"/>
            <a:ext cx="548640" cy="548640"/>
          </a:xfrm>
          <a:prstGeom prst="ellipse">
            <a:avLst/>
          </a:prstGeom>
          <a:solidFill>
            <a:schemeClr val="tx2"/>
          </a:solidFill>
          <a:ln w="12700">
            <a:solidFill>
              <a:schemeClr val="tx2"/>
            </a:solidFill>
            <a:prstDash val="solid"/>
          </a:ln>
        </p:spPr>
      </p:sp>
      <p:sp>
        <p:nvSpPr>
          <p:cNvPr id="23" name="Text 21"/>
          <p:cNvSpPr txBox="1"/>
          <p:nvPr/>
        </p:nvSpPr>
        <p:spPr>
          <a:xfrm>
            <a:off x="6446520" y="310896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Q4</a:t>
            </a:r>
            <a:endParaRPr lang="en-US" sz="1400" dirty="0"/>
          </a:p>
        </p:txBody>
      </p:sp>
      <p:sp>
        <p:nvSpPr>
          <p:cNvPr id="24" name="Text 22"/>
          <p:cNvSpPr txBox="1"/>
          <p:nvPr/>
        </p:nvSpPr>
        <p:spPr>
          <a:xfrm>
            <a:off x="7132320" y="3063240"/>
            <a:ext cx="42062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Comparisons (basic) for 6 elements?</a:t>
            </a:r>
            <a:endParaRPr lang="en-US" sz="1600" dirty="0"/>
          </a:p>
        </p:txBody>
      </p:sp>
      <p:sp>
        <p:nvSpPr>
          <p:cNvPr id="25" name="answer 4"/>
          <p:cNvSpPr/>
          <p:nvPr/>
        </p:nvSpPr>
        <p:spPr>
          <a:xfrm>
            <a:off x="7132320" y="3730752"/>
            <a:ext cx="2377440" cy="384048"/>
          </a:xfrm>
          <a:prstGeom prst="roundRect">
            <a:avLst>
              <a:gd name="adj" fmla="val 28571"/>
            </a:avLst>
          </a:prstGeom>
          <a:solidFill>
            <a:schemeClr val="accent1"/>
          </a:solidFill>
          <a:ln w="12700">
            <a:solidFill>
              <a:schemeClr val="accent1"/>
            </a:solidFill>
            <a:prstDash val="solid"/>
          </a:ln>
        </p:spPr>
      </p:sp>
      <p:sp>
        <p:nvSpPr>
          <p:cNvPr id="26" name="Text 24"/>
          <p:cNvSpPr txBox="1"/>
          <p:nvPr/>
        </p:nvSpPr>
        <p:spPr>
          <a:xfrm>
            <a:off x="7132320" y="3730752"/>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15</a:t>
            </a:r>
            <a:endParaRPr lang="en-US" sz="1400" dirty="0"/>
          </a:p>
        </p:txBody>
      </p:sp>
      <p:sp>
        <p:nvSpPr>
          <p:cNvPr id="27" name="question 5"/>
          <p:cNvSpPr/>
          <p:nvPr/>
        </p:nvSpPr>
        <p:spPr>
          <a:xfrm>
            <a:off x="548640" y="4434840"/>
            <a:ext cx="5303520" cy="1325880"/>
          </a:xfrm>
          <a:prstGeom prst="roundRect">
            <a:avLst>
              <a:gd name="adj" fmla="val 8276"/>
            </a:avLst>
          </a:prstGeom>
          <a:solidFill>
            <a:schemeClr val="bg2"/>
          </a:solidFill>
          <a:ln w="12700">
            <a:solidFill>
              <a:schemeClr val="bg2"/>
            </a:solidFill>
            <a:prstDash val="solid"/>
          </a:ln>
        </p:spPr>
      </p:sp>
      <p:sp>
        <p:nvSpPr>
          <p:cNvPr id="28" name="Shape 26"/>
          <p:cNvSpPr/>
          <p:nvPr/>
        </p:nvSpPr>
        <p:spPr>
          <a:xfrm>
            <a:off x="777240" y="4617720"/>
            <a:ext cx="548640" cy="548640"/>
          </a:xfrm>
          <a:prstGeom prst="ellipse">
            <a:avLst/>
          </a:prstGeom>
          <a:solidFill>
            <a:schemeClr val="tx2"/>
          </a:solidFill>
          <a:ln w="12700">
            <a:solidFill>
              <a:schemeClr val="tx2"/>
            </a:solidFill>
            <a:prstDash val="solid"/>
          </a:ln>
        </p:spPr>
      </p:sp>
      <p:sp>
        <p:nvSpPr>
          <p:cNvPr id="29" name="Text 27"/>
          <p:cNvSpPr txBox="1"/>
          <p:nvPr/>
        </p:nvSpPr>
        <p:spPr>
          <a:xfrm>
            <a:off x="777240" y="46177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Q5</a:t>
            </a:r>
            <a:endParaRPr lang="en-US" sz="1400" dirty="0"/>
          </a:p>
        </p:txBody>
      </p:sp>
      <p:sp>
        <p:nvSpPr>
          <p:cNvPr id="30" name="Text 28"/>
          <p:cNvSpPr txBox="1"/>
          <p:nvPr/>
        </p:nvSpPr>
        <p:spPr>
          <a:xfrm>
            <a:off x="1463040" y="4572000"/>
            <a:ext cx="42062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Best case of optimized bubble sort, and when?</a:t>
            </a:r>
            <a:endParaRPr lang="en-US" sz="1600" dirty="0"/>
          </a:p>
        </p:txBody>
      </p:sp>
      <p:sp>
        <p:nvSpPr>
          <p:cNvPr id="31" name="answer 5"/>
          <p:cNvSpPr/>
          <p:nvPr/>
        </p:nvSpPr>
        <p:spPr>
          <a:xfrm>
            <a:off x="1463040" y="5239512"/>
            <a:ext cx="2377440" cy="384048"/>
          </a:xfrm>
          <a:prstGeom prst="roundRect">
            <a:avLst>
              <a:gd name="adj" fmla="val 28571"/>
            </a:avLst>
          </a:prstGeom>
          <a:solidFill>
            <a:schemeClr val="accent1"/>
          </a:solidFill>
          <a:ln w="12700">
            <a:solidFill>
              <a:schemeClr val="accent1"/>
            </a:solidFill>
            <a:prstDash val="solid"/>
          </a:ln>
        </p:spPr>
      </p:sp>
      <p:sp>
        <p:nvSpPr>
          <p:cNvPr id="32" name="Text 30"/>
          <p:cNvSpPr txBox="1"/>
          <p:nvPr/>
        </p:nvSpPr>
        <p:spPr>
          <a:xfrm>
            <a:off x="1463040" y="5239512"/>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O(n), sorted input</a:t>
            </a:r>
            <a:endParaRPr lang="en-US" sz="1400" dirty="0"/>
          </a:p>
        </p:txBody>
      </p:sp>
      <p:sp>
        <p:nvSpPr>
          <p:cNvPr id="33" name="question 6"/>
          <p:cNvSpPr/>
          <p:nvPr/>
        </p:nvSpPr>
        <p:spPr>
          <a:xfrm>
            <a:off x="6217920" y="4434840"/>
            <a:ext cx="5303520" cy="1325880"/>
          </a:xfrm>
          <a:prstGeom prst="roundRect">
            <a:avLst>
              <a:gd name="adj" fmla="val 8276"/>
            </a:avLst>
          </a:prstGeom>
          <a:solidFill>
            <a:schemeClr val="bg2"/>
          </a:solidFill>
          <a:ln w="12700">
            <a:solidFill>
              <a:schemeClr val="bg2"/>
            </a:solidFill>
            <a:prstDash val="solid"/>
          </a:ln>
        </p:spPr>
      </p:sp>
      <p:sp>
        <p:nvSpPr>
          <p:cNvPr id="34" name="Shape 32"/>
          <p:cNvSpPr/>
          <p:nvPr/>
        </p:nvSpPr>
        <p:spPr>
          <a:xfrm>
            <a:off x="6446520" y="4617720"/>
            <a:ext cx="548640" cy="548640"/>
          </a:xfrm>
          <a:prstGeom prst="ellipse">
            <a:avLst/>
          </a:prstGeom>
          <a:solidFill>
            <a:schemeClr val="tx2"/>
          </a:solidFill>
          <a:ln w="12700">
            <a:solidFill>
              <a:schemeClr val="tx2"/>
            </a:solidFill>
            <a:prstDash val="solid"/>
          </a:ln>
        </p:spPr>
      </p:sp>
      <p:sp>
        <p:nvSpPr>
          <p:cNvPr id="35" name="Text 33"/>
          <p:cNvSpPr txBox="1"/>
          <p:nvPr/>
        </p:nvSpPr>
        <p:spPr>
          <a:xfrm>
            <a:off x="6446520" y="46177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Q6</a:t>
            </a:r>
            <a:endParaRPr lang="en-US" sz="1400" dirty="0"/>
          </a:p>
        </p:txBody>
      </p:sp>
      <p:sp>
        <p:nvSpPr>
          <p:cNvPr id="36" name="Text 34"/>
          <p:cNvSpPr txBox="1"/>
          <p:nvPr/>
        </p:nvSpPr>
        <p:spPr>
          <a:xfrm>
            <a:off x="7132320" y="4572000"/>
            <a:ext cx="420624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Is bubble sort stable?</a:t>
            </a:r>
            <a:endParaRPr lang="en-US" sz="1600" dirty="0"/>
          </a:p>
        </p:txBody>
      </p:sp>
      <p:sp>
        <p:nvSpPr>
          <p:cNvPr id="37" name="answer 6"/>
          <p:cNvSpPr/>
          <p:nvPr/>
        </p:nvSpPr>
        <p:spPr>
          <a:xfrm>
            <a:off x="7132320" y="5239512"/>
            <a:ext cx="2377440" cy="384048"/>
          </a:xfrm>
          <a:prstGeom prst="roundRect">
            <a:avLst>
              <a:gd name="adj" fmla="val 28571"/>
            </a:avLst>
          </a:prstGeom>
          <a:solidFill>
            <a:schemeClr val="accent1"/>
          </a:solidFill>
          <a:ln w="12700">
            <a:solidFill>
              <a:schemeClr val="accent1"/>
            </a:solidFill>
            <a:prstDash val="solid"/>
          </a:ln>
        </p:spPr>
      </p:sp>
      <p:sp>
        <p:nvSpPr>
          <p:cNvPr id="38" name="Text 36"/>
          <p:cNvSpPr txBox="1"/>
          <p:nvPr/>
        </p:nvSpPr>
        <p:spPr>
          <a:xfrm>
            <a:off x="7132320" y="5239512"/>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Yes</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Trace it, then code it</a:t>
            </a:r>
            <a:endParaRPr lang="en-US" sz="3600" dirty="0"/>
          </a:p>
        </p:txBody>
      </p:sp>
      <p:sp>
        <p:nvSpPr>
          <p:cNvPr id="3" name="trace"/>
          <p:cNvSpPr/>
          <p:nvPr/>
        </p:nvSpPr>
        <p:spPr>
          <a:xfrm>
            <a:off x="548640" y="1417320"/>
            <a:ext cx="4754880" cy="4480560"/>
          </a:xfrm>
          <a:prstGeom prst="roundRect">
            <a:avLst>
              <a:gd name="adj" fmla="val 2449"/>
            </a:avLst>
          </a:prstGeom>
          <a:solidFill>
            <a:schemeClr val="tx2"/>
          </a:solidFill>
          <a:ln w="12700">
            <a:solidFill>
              <a:schemeClr val="tx2"/>
            </a:solidFill>
            <a:prstDash val="solid"/>
          </a:ln>
        </p:spPr>
      </p:sp>
      <p:sp>
        <p:nvSpPr>
          <p:cNvPr id="4" name="Text 2"/>
          <p:cNvSpPr txBox="1"/>
          <p:nvPr/>
        </p:nvSpPr>
        <p:spPr>
          <a:xfrm>
            <a:off x="868680" y="1645920"/>
            <a:ext cx="411480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Trace it</a:t>
            </a:r>
            <a:endParaRPr lang="en-US" sz="2200" dirty="0"/>
          </a:p>
        </p:txBody>
      </p:sp>
      <p:sp>
        <p:nvSpPr>
          <p:cNvPr id="5" name="Text 3"/>
          <p:cNvSpPr txBox="1"/>
          <p:nvPr/>
        </p:nvSpPr>
        <p:spPr>
          <a:xfrm>
            <a:off x="868680" y="2240280"/>
            <a:ext cx="4114800" cy="73152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Show the array after every pass of bubble sort on:</a:t>
            </a:r>
            <a:endParaRPr lang="en-US" sz="1700" dirty="0"/>
          </a:p>
        </p:txBody>
      </p:sp>
      <p:sp>
        <p:nvSpPr>
          <p:cNvPr id="6" name="Shape 4"/>
          <p:cNvSpPr/>
          <p:nvPr/>
        </p:nvSpPr>
        <p:spPr>
          <a:xfrm>
            <a:off x="868680" y="3108960"/>
            <a:ext cx="731520" cy="685800"/>
          </a:xfrm>
          <a:prstGeom prst="roundRect">
            <a:avLst>
              <a:gd name="adj" fmla="val 10667"/>
            </a:avLst>
          </a:prstGeom>
          <a:solidFill>
            <a:schemeClr val="accent1"/>
          </a:solidFill>
          <a:ln w="12700">
            <a:solidFill>
              <a:schemeClr val="accent1"/>
            </a:solidFill>
            <a:prstDash val="solid"/>
          </a:ln>
        </p:spPr>
      </p:sp>
      <p:sp>
        <p:nvSpPr>
          <p:cNvPr id="7" name="Text 5"/>
          <p:cNvSpPr txBox="1"/>
          <p:nvPr/>
        </p:nvSpPr>
        <p:spPr>
          <a:xfrm>
            <a:off x="868680" y="31089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64</a:t>
            </a:r>
            <a:endParaRPr lang="en-US" sz="1800" dirty="0"/>
          </a:p>
        </p:txBody>
      </p:sp>
      <p:sp>
        <p:nvSpPr>
          <p:cNvPr id="8" name="Shape 6"/>
          <p:cNvSpPr/>
          <p:nvPr/>
        </p:nvSpPr>
        <p:spPr>
          <a:xfrm>
            <a:off x="1691640" y="3108960"/>
            <a:ext cx="731520" cy="685800"/>
          </a:xfrm>
          <a:prstGeom prst="roundRect">
            <a:avLst>
              <a:gd name="adj" fmla="val 10667"/>
            </a:avLst>
          </a:prstGeom>
          <a:solidFill>
            <a:schemeClr val="accent1"/>
          </a:solidFill>
          <a:ln w="12700">
            <a:solidFill>
              <a:schemeClr val="accent1"/>
            </a:solidFill>
            <a:prstDash val="solid"/>
          </a:ln>
        </p:spPr>
      </p:sp>
      <p:sp>
        <p:nvSpPr>
          <p:cNvPr id="9" name="Text 7"/>
          <p:cNvSpPr txBox="1"/>
          <p:nvPr/>
        </p:nvSpPr>
        <p:spPr>
          <a:xfrm>
            <a:off x="1691640" y="31089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34</a:t>
            </a:r>
            <a:endParaRPr lang="en-US" sz="1800" dirty="0"/>
          </a:p>
        </p:txBody>
      </p:sp>
      <p:sp>
        <p:nvSpPr>
          <p:cNvPr id="10" name="Shape 8"/>
          <p:cNvSpPr/>
          <p:nvPr/>
        </p:nvSpPr>
        <p:spPr>
          <a:xfrm>
            <a:off x="2514600" y="3108960"/>
            <a:ext cx="731520" cy="685800"/>
          </a:xfrm>
          <a:prstGeom prst="roundRect">
            <a:avLst>
              <a:gd name="adj" fmla="val 10667"/>
            </a:avLst>
          </a:prstGeom>
          <a:solidFill>
            <a:schemeClr val="accent1"/>
          </a:solidFill>
          <a:ln w="12700">
            <a:solidFill>
              <a:schemeClr val="accent1"/>
            </a:solidFill>
            <a:prstDash val="solid"/>
          </a:ln>
        </p:spPr>
      </p:sp>
      <p:sp>
        <p:nvSpPr>
          <p:cNvPr id="11" name="Text 9"/>
          <p:cNvSpPr txBox="1"/>
          <p:nvPr/>
        </p:nvSpPr>
        <p:spPr>
          <a:xfrm>
            <a:off x="2514600" y="31089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25</a:t>
            </a:r>
            <a:endParaRPr lang="en-US" sz="1800" dirty="0"/>
          </a:p>
        </p:txBody>
      </p:sp>
      <p:sp>
        <p:nvSpPr>
          <p:cNvPr id="12" name="Shape 10"/>
          <p:cNvSpPr/>
          <p:nvPr/>
        </p:nvSpPr>
        <p:spPr>
          <a:xfrm>
            <a:off x="3337560" y="3108960"/>
            <a:ext cx="731520" cy="685800"/>
          </a:xfrm>
          <a:prstGeom prst="roundRect">
            <a:avLst>
              <a:gd name="adj" fmla="val 10667"/>
            </a:avLst>
          </a:prstGeom>
          <a:solidFill>
            <a:schemeClr val="accent1"/>
          </a:solidFill>
          <a:ln w="12700">
            <a:solidFill>
              <a:schemeClr val="accent1"/>
            </a:solidFill>
            <a:prstDash val="solid"/>
          </a:ln>
        </p:spPr>
      </p:sp>
      <p:sp>
        <p:nvSpPr>
          <p:cNvPr id="13" name="Text 11"/>
          <p:cNvSpPr txBox="1"/>
          <p:nvPr/>
        </p:nvSpPr>
        <p:spPr>
          <a:xfrm>
            <a:off x="3337560" y="31089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12</a:t>
            </a:r>
            <a:endParaRPr lang="en-US" sz="1800" dirty="0"/>
          </a:p>
        </p:txBody>
      </p:sp>
      <p:sp>
        <p:nvSpPr>
          <p:cNvPr id="14" name="Shape 12"/>
          <p:cNvSpPr/>
          <p:nvPr/>
        </p:nvSpPr>
        <p:spPr>
          <a:xfrm>
            <a:off x="4160520" y="3108960"/>
            <a:ext cx="731520" cy="685800"/>
          </a:xfrm>
          <a:prstGeom prst="roundRect">
            <a:avLst>
              <a:gd name="adj" fmla="val 10667"/>
            </a:avLst>
          </a:prstGeom>
          <a:solidFill>
            <a:schemeClr val="accent1"/>
          </a:solidFill>
          <a:ln w="12700">
            <a:solidFill>
              <a:schemeClr val="accent1"/>
            </a:solidFill>
            <a:prstDash val="solid"/>
          </a:ln>
        </p:spPr>
      </p:sp>
      <p:sp>
        <p:nvSpPr>
          <p:cNvPr id="15" name="Text 13"/>
          <p:cNvSpPr txBox="1"/>
          <p:nvPr/>
        </p:nvSpPr>
        <p:spPr>
          <a:xfrm>
            <a:off x="4160520" y="3108960"/>
            <a:ext cx="7315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22</a:t>
            </a:r>
            <a:endParaRPr lang="en-US" sz="1800" dirty="0"/>
          </a:p>
        </p:txBody>
      </p:sp>
      <p:sp>
        <p:nvSpPr>
          <p:cNvPr id="16" name="Text 14"/>
          <p:cNvSpPr txBox="1"/>
          <p:nvPr/>
        </p:nvSpPr>
        <p:spPr>
          <a:xfrm>
            <a:off x="868680" y="4069080"/>
            <a:ext cx="4114800" cy="45720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Count the swaps in each pass.</a:t>
            </a:r>
            <a:endParaRPr lang="en-US" sz="1700" dirty="0"/>
          </a:p>
        </p:txBody>
      </p:sp>
      <p:sp>
        <p:nvSpPr>
          <p:cNvPr id="17" name="Text 15"/>
          <p:cNvSpPr txBox="1"/>
          <p:nvPr/>
        </p:nvSpPr>
        <p:spPr>
          <a:xfrm>
            <a:off x="5669280" y="1417320"/>
            <a:ext cx="594360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Programming exercises</a:t>
            </a:r>
            <a:endParaRPr lang="en-US" sz="2200" dirty="0"/>
          </a:p>
        </p:txBody>
      </p:sp>
      <p:sp>
        <p:nvSpPr>
          <p:cNvPr id="18" name="Shape 16"/>
          <p:cNvSpPr/>
          <p:nvPr/>
        </p:nvSpPr>
        <p:spPr>
          <a:xfrm>
            <a:off x="5669280" y="2084832"/>
            <a:ext cx="502920" cy="502920"/>
          </a:xfrm>
          <a:prstGeom prst="ellipse">
            <a:avLst/>
          </a:prstGeom>
          <a:solidFill>
            <a:schemeClr val="accent2"/>
          </a:solidFill>
          <a:ln w="12700">
            <a:solidFill>
              <a:schemeClr val="accent2"/>
            </a:solidFill>
            <a:prstDash val="solid"/>
          </a:ln>
        </p:spPr>
      </p:sp>
      <p:sp>
        <p:nvSpPr>
          <p:cNvPr id="19" name="Text 17"/>
          <p:cNvSpPr txBox="1"/>
          <p:nvPr/>
        </p:nvSpPr>
        <p:spPr>
          <a:xfrm>
            <a:off x="5669280" y="2084832"/>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20" name="Text 18"/>
          <p:cNvSpPr txBox="1"/>
          <p:nvPr/>
        </p:nvSpPr>
        <p:spPr>
          <a:xfrm>
            <a:off x="6355080" y="2011680"/>
            <a:ext cx="53035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Modify the program to sort in descending order</a:t>
            </a:r>
            <a:endParaRPr lang="en-US" sz="1600" dirty="0"/>
          </a:p>
        </p:txBody>
      </p:sp>
      <p:sp>
        <p:nvSpPr>
          <p:cNvPr id="21" name="Shape 19"/>
          <p:cNvSpPr/>
          <p:nvPr/>
        </p:nvSpPr>
        <p:spPr>
          <a:xfrm>
            <a:off x="5669280" y="2871216"/>
            <a:ext cx="502920" cy="502920"/>
          </a:xfrm>
          <a:prstGeom prst="ellipse">
            <a:avLst/>
          </a:prstGeom>
          <a:solidFill>
            <a:schemeClr val="accent2"/>
          </a:solidFill>
          <a:ln w="12700">
            <a:solidFill>
              <a:schemeClr val="accent2"/>
            </a:solidFill>
            <a:prstDash val="solid"/>
          </a:ln>
        </p:spPr>
      </p:sp>
      <p:sp>
        <p:nvSpPr>
          <p:cNvPr id="22" name="Text 20"/>
          <p:cNvSpPr txBox="1"/>
          <p:nvPr/>
        </p:nvSpPr>
        <p:spPr>
          <a:xfrm>
            <a:off x="5669280" y="2871216"/>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23" name="Text 21"/>
          <p:cNvSpPr txBox="1"/>
          <p:nvPr/>
        </p:nvSpPr>
        <p:spPr>
          <a:xfrm>
            <a:off x="6355080" y="2798064"/>
            <a:ext cx="53035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Count and print total comparisons and swaps</a:t>
            </a:r>
            <a:endParaRPr lang="en-US" sz="1600" dirty="0"/>
          </a:p>
        </p:txBody>
      </p:sp>
      <p:sp>
        <p:nvSpPr>
          <p:cNvPr id="24" name="Shape 22"/>
          <p:cNvSpPr/>
          <p:nvPr/>
        </p:nvSpPr>
        <p:spPr>
          <a:xfrm>
            <a:off x="5669280" y="3657600"/>
            <a:ext cx="502920" cy="502920"/>
          </a:xfrm>
          <a:prstGeom prst="ellipse">
            <a:avLst/>
          </a:prstGeom>
          <a:solidFill>
            <a:schemeClr val="accent2"/>
          </a:solidFill>
          <a:ln w="12700">
            <a:solidFill>
              <a:schemeClr val="accent2"/>
            </a:solidFill>
            <a:prstDash val="solid"/>
          </a:ln>
        </p:spPr>
      </p:sp>
      <p:sp>
        <p:nvSpPr>
          <p:cNvPr id="25" name="Text 23"/>
          <p:cNvSpPr txBox="1"/>
          <p:nvPr/>
        </p:nvSpPr>
        <p:spPr>
          <a:xfrm>
            <a:off x="5669280" y="365760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26" name="Text 24"/>
          <p:cNvSpPr txBox="1"/>
          <p:nvPr/>
        </p:nvSpPr>
        <p:spPr>
          <a:xfrm>
            <a:off x="6355080" y="3584448"/>
            <a:ext cx="53035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Sort student names alphabetically using strcmp() and strcpy()</a:t>
            </a:r>
            <a:endParaRPr lang="en-US" sz="1600" dirty="0"/>
          </a:p>
        </p:txBody>
      </p:sp>
      <p:sp>
        <p:nvSpPr>
          <p:cNvPr id="27" name="Shape 25"/>
          <p:cNvSpPr/>
          <p:nvPr/>
        </p:nvSpPr>
        <p:spPr>
          <a:xfrm>
            <a:off x="5669280" y="4443984"/>
            <a:ext cx="502920" cy="502920"/>
          </a:xfrm>
          <a:prstGeom prst="ellipse">
            <a:avLst/>
          </a:prstGeom>
          <a:solidFill>
            <a:schemeClr val="accent2"/>
          </a:solidFill>
          <a:ln w="12700">
            <a:solidFill>
              <a:schemeClr val="accent2"/>
            </a:solidFill>
            <a:prstDash val="solid"/>
          </a:ln>
        </p:spPr>
      </p:sp>
      <p:sp>
        <p:nvSpPr>
          <p:cNvPr id="28" name="Text 26"/>
          <p:cNvSpPr txBox="1"/>
          <p:nvPr/>
        </p:nvSpPr>
        <p:spPr>
          <a:xfrm>
            <a:off x="5669280" y="4443984"/>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9" name="Text 27"/>
          <p:cNvSpPr txBox="1"/>
          <p:nvPr/>
        </p:nvSpPr>
        <p:spPr>
          <a:xfrm>
            <a:off x="6355080" y="4370832"/>
            <a:ext cx="53035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Read marks of n students and print the top 3</a:t>
            </a:r>
            <a:endParaRPr lang="en-US" sz="1600" dirty="0"/>
          </a:p>
        </p:txBody>
      </p:sp>
      <p:sp>
        <p:nvSpPr>
          <p:cNvPr id="30" name="Shape 28"/>
          <p:cNvSpPr/>
          <p:nvPr/>
        </p:nvSpPr>
        <p:spPr>
          <a:xfrm>
            <a:off x="5669280" y="5230368"/>
            <a:ext cx="502920" cy="502920"/>
          </a:xfrm>
          <a:prstGeom prst="ellipse">
            <a:avLst/>
          </a:prstGeom>
          <a:solidFill>
            <a:schemeClr val="accent2"/>
          </a:solidFill>
          <a:ln w="12700">
            <a:solidFill>
              <a:schemeClr val="accent2"/>
            </a:solidFill>
            <a:prstDash val="solid"/>
          </a:ln>
        </p:spPr>
      </p:sp>
      <p:sp>
        <p:nvSpPr>
          <p:cNvPr id="31" name="Text 29"/>
          <p:cNvSpPr txBox="1"/>
          <p:nvPr/>
        </p:nvSpPr>
        <p:spPr>
          <a:xfrm>
            <a:off x="5669280" y="5230368"/>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32" name="Text 30"/>
          <p:cNvSpPr txBox="1"/>
          <p:nvPr/>
        </p:nvSpPr>
        <p:spPr>
          <a:xfrm>
            <a:off x="6355080" y="5157216"/>
            <a:ext cx="53035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Sort an array of structures (roll no, name, marks) by marks</a:t>
            </a:r>
            <a:endParaRPr lang="en-US" sz="16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1B1"/>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09728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Summary</a:t>
            </a:r>
            <a:endParaRPr lang="en-US" sz="4400" dirty="0"/>
          </a:p>
        </p:txBody>
      </p:sp>
      <p:sp>
        <p:nvSpPr>
          <p:cNvPr id="3" name="Text 1"/>
          <p:cNvSpPr txBox="1"/>
          <p:nvPr/>
        </p:nvSpPr>
        <p:spPr>
          <a:xfrm>
            <a:off x="548640" y="1828800"/>
            <a:ext cx="10972800" cy="42062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bg1"/>
                </a:solidFill>
                <a:latin typeface="Calibri" pitchFamily="34" charset="0"/>
                <a:ea typeface="Calibri" pitchFamily="34" charset="-122"/>
                <a:cs typeface="Calibri" pitchFamily="34" charset="-120"/>
              </a:rPr>
              <a:t>Sorting arranges data in ascending or descending order and makes searching faster</a:t>
            </a:r>
            <a:endParaRPr lang="en-US" sz="2000" dirty="0"/>
          </a:p>
          <a:p>
            <a:pPr marL="342900" indent="-342900">
              <a:spcAft>
                <a:spcPts val="800"/>
              </a:spcAft>
              <a:buSzPct val="100000"/>
              <a:buChar char="•"/>
            </a:pPr>
            <a:r>
              <a:rPr lang="en-US" sz="2000" dirty="0">
                <a:solidFill>
                  <a:schemeClr val="bg1"/>
                </a:solidFill>
                <a:latin typeface="Calibri" pitchFamily="34" charset="0"/>
                <a:ea typeface="Calibri" pitchFamily="34" charset="-122"/>
                <a:cs typeface="Calibri" pitchFamily="34" charset="-120"/>
              </a:rPr>
              <a:t>Bubble sort compares neighbours and swaps them; each pass moves the largest remaining element to the end</a:t>
            </a:r>
            <a:endParaRPr lang="en-US" sz="2000" dirty="0"/>
          </a:p>
          <a:p>
            <a:pPr marL="342900" indent="-342900">
              <a:spcAft>
                <a:spcPts val="800"/>
              </a:spcAft>
              <a:buSzPct val="100000"/>
              <a:buChar char="•"/>
            </a:pPr>
            <a:r>
              <a:rPr lang="en-US" sz="2000" dirty="0">
                <a:solidFill>
                  <a:schemeClr val="bg1"/>
                </a:solidFill>
                <a:latin typeface="Calibri" pitchFamily="34" charset="0"/>
                <a:ea typeface="Calibri" pitchFamily="34" charset="-122"/>
                <a:cs typeface="Calibri" pitchFamily="34" charset="-120"/>
              </a:rPr>
              <a:t>n elements need at most n − 1 passes; the optimized version stops when a pass makes no swap</a:t>
            </a:r>
            <a:endParaRPr lang="en-US" sz="2000" dirty="0"/>
          </a:p>
          <a:p>
            <a:pPr marL="342900" indent="-342900">
              <a:spcAft>
                <a:spcPts val="800"/>
              </a:spcAft>
              <a:buSzPct val="100000"/>
              <a:buChar char="•"/>
            </a:pPr>
            <a:r>
              <a:rPr lang="en-US" sz="2000" dirty="0">
                <a:solidFill>
                  <a:schemeClr val="bg1"/>
                </a:solidFill>
                <a:latin typeface="Calibri" pitchFamily="34" charset="0"/>
                <a:ea typeface="Calibri" pitchFamily="34" charset="-122"/>
                <a:cs typeface="Calibri" pitchFamily="34" charset="-120"/>
              </a:rPr>
              <a:t>Time: O(n²) average and worst, O(n) best (optimized). Space: O(1). Stable: yes</a:t>
            </a:r>
            <a:endParaRPr lang="en-US" sz="2000" dirty="0"/>
          </a:p>
          <a:p>
            <a:pPr marL="342900" indent="-342900">
              <a:spcAft>
                <a:spcPts val="800"/>
              </a:spcAft>
              <a:buSzPct val="100000"/>
              <a:buChar char="•"/>
            </a:pPr>
            <a:r>
              <a:rPr lang="en-US" sz="2000" dirty="0">
                <a:solidFill>
                  <a:schemeClr val="bg1"/>
                </a:solidFill>
                <a:latin typeface="Calibri" pitchFamily="34" charset="0"/>
                <a:ea typeface="Calibri" pitchFamily="34" charset="-122"/>
                <a:cs typeface="Calibri" pitchFamily="34" charset="-120"/>
              </a:rPr>
              <a:t>Used for teaching, small or nearly sorted data and simple embedded code; not for large datasets</a:t>
            </a:r>
            <a:endParaRPr lang="en-US" sz="2000" dirty="0"/>
          </a:p>
        </p:txBody>
      </p:sp>
    </p:spTree>
  </p:cSld>
  <p:clrMapOvr>
    <a:masterClrMapping/>
  </p:clrMapOvr>
</p:sld>
</file>

<file path=ppt/theme/theme1.xml><?xml version="1.0" encoding="utf-8"?>
<a:theme xmlns:a="http://schemas.openxmlformats.org/drawingml/2006/main" name="Bubble Teal">
  <a:themeElements>
    <a:clrScheme name="Bubble Teal">
      <a:dk1>
        <a:srgbClr val="1B2B34"/>
      </a:dk1>
      <a:lt1>
        <a:srgbClr val="FFFFFF"/>
      </a:lt1>
      <a:dk2>
        <a:srgbClr val="0B3C49"/>
      </a:dk2>
      <a:lt2>
        <a:srgbClr val="EEF4F5"/>
      </a:lt2>
      <a:accent1>
        <a:srgbClr val="0B7A75"/>
      </a:accent1>
      <a:accent2>
        <a:srgbClr val="F2A541"/>
      </a:accent2>
      <a:accent3>
        <a:srgbClr val="D1495B"/>
      </a:accent3>
      <a:accent4>
        <a:srgbClr val="5B8E7D"/>
      </a:accent4>
      <a:accent5>
        <a:srgbClr val="8AA1B1"/>
      </a:accent5>
      <a:accent6>
        <a:srgbClr val="2E4756"/>
      </a:accent6>
      <a:hlink>
        <a:srgbClr val="0B7A75"/>
      </a:hlink>
      <a:folHlink>
        <a:srgbClr val="6D597A"/>
      </a:folHlink>
    </a:clrScheme>
    <a:fontScheme name="Bubbl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 Sort in C</dc:title>
  <dc:subject>PptxGenJS Presentation</dc:subject>
  <dc:creator>Krishna</dc:creator>
  <cp:lastModifiedBy>Krishna</cp:lastModifiedBy>
  <cp:revision>1</cp:revision>
  <dcterms:created xsi:type="dcterms:W3CDTF">2026-10-19T10:30:04Z</dcterms:created>
  <dcterms:modified xsi:type="dcterms:W3CDTF">2026-10-19T10:30:04Z</dcterms:modified>
</cp:coreProperties>
</file>