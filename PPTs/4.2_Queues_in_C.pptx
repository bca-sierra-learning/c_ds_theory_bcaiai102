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7395ad-2a71-7fba-f85e-d5cc04104634}">
          <p14:sldIdLst>
            <p14:sldId id="256"/>
            <p14:sldId id="257"/>
            <p14:sldId id="258"/>
            <p14:sldId id="259"/>
            <p14:sldId id="260"/>
          </p14:sldIdLst>
        </p14:section>
        <p14:section name="Operations" id="{0b90a855-c268-d368-3a42-225eef2cca8e}">
          <p14:sldIdLst>
            <p14:sldId id="261"/>
            <p14:sldId id="262"/>
            <p14:sldId id="263"/>
            <p14:sldId id="264"/>
          </p14:sldIdLst>
        </p14:section>
        <p14:section name="Implementation" id="{71c6df0d-b435-d031-2f36-1afd3e1a1644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al-world uses" id="{1f942270-3c6c-dcea-e8c7-5dc6c3e3549d}">
          <p14:sldIdLst>
            <p14:sldId id="271"/>
            <p14:sldId id="272"/>
            <p14:sldId id="273"/>
            <p14:sldId id="274"/>
          </p14:sldIdLst>
        </p14:section>
        <p14:section name="Practice" id="{06a5a612-06ba-507b-5523-e3ebc1faec5d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question: who has stood in a queue today? Every student has. Today we learn how computers model that same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line on the board. Ask: who gets served next? Who joined last? Introduce the words front and rear.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insertion and deletion happen at different ends. This is the key difference from a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usually learn stacks first. Use this contrast to anchor the new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an example of each reason before revealing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first two rows. Everything else is a helper. Only display() walks the whole queue, so it is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trace live on the board, one row at a time. Ask students to predict front and rear before revealing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common student mistake is forgetting these checks. Make it a rule from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five boxes with indexes 0 to 4. Move two pointers, front and rear, with your hands as you enqueue and dequeue.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++rear: increase first, then store. Ask why front is set to 0 only on the first insert.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front++ here with ++rear in enqueue. Post-increment versus pre-increment is a good exam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program in class. Ask students to predict the output line by line before running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is the queue really full? Let them spot the wasted slot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these familiar examples before moving to computing.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students have seen: a print queue in the lab is a good live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IRCTC Tatkal and WhatsApp are examples every student will recognise.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orally first; reveal answers after students respond.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3 makes a good lab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under two minutes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 in C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— the data structure behind every waiting 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3816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00684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0684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552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744200" y="29260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7442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744200" y="3749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queue serves whoever came first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a linear data structure where the first element added is the first one removed.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 is called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– First In, First Out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canteen counter line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77440" y="32918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32918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32918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32918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0" y="3291840"/>
            <a:ext cx="11887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 flipH="1">
            <a:off x="914400" y="3749040"/>
            <a:ext cx="128016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48640" y="4343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(leaves first)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8869680" y="3749040"/>
            <a:ext cx="12801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869680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(joins at back)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student always joins at the back of the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at the front is served first and leaves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jumps the line, and nobody leaves from the middle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queue has two ends</a:t>
            </a:r>
            <a:endParaRPr lang="en-US" sz="3600" dirty="0"/>
          </a:p>
        </p:txBody>
      </p:sp>
      <p:sp>
        <p:nvSpPr>
          <p:cNvPr id="3" name="REAR card"/>
          <p:cNvSpPr/>
          <p:nvPr/>
        </p:nvSpPr>
        <p:spPr>
          <a:xfrm>
            <a:off x="548640" y="146304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 </a:t>
            </a:r>
            <a:pPr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(tail)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elements are added here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enqueue()</a:t>
            </a:r>
            <a:endParaRPr lang="en-US" sz="1800" dirty="0"/>
          </a:p>
        </p:txBody>
      </p:sp>
      <p:sp>
        <p:nvSpPr>
          <p:cNvPr id="7" name="FRONT card"/>
          <p:cNvSpPr/>
          <p:nvPr/>
        </p:nvSpPr>
        <p:spPr>
          <a:xfrm>
            <a:off x="6217920" y="1463040"/>
            <a:ext cx="53035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</a:t>
            </a:r>
            <a:pPr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removed from here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063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</a:t>
            </a:r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800" dirty="0"/>
          </a:p>
        </p:txBody>
      </p:sp>
      <p:sp>
        <p:nvSpPr>
          <p:cNvPr id="11" name="what it does"/>
          <p:cNvSpPr/>
          <p:nvPr/>
        </p:nvSpPr>
        <p:spPr>
          <a:xfrm>
            <a:off x="548640" y="4206240"/>
            <a:ext cx="11091672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434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queue does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items in the order they arrive and hands them out in that same order. It guarantees fairness: whoever came first is served first.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vs Stack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LIFO – Last In, First 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– First In, First Out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end (top)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ends (front and rear)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Real-life 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Pile of plates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at a ticket 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tack vs queue picture"/>
          <p:cNvSpPr/>
          <p:nvPr/>
        </p:nvSpPr>
        <p:spPr>
          <a:xfrm>
            <a:off x="8321040" y="1463040"/>
            <a:ext cx="3319272" cy="393192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41080" y="4480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AA1B1"/>
          </a:solidFill>
          <a:ln w="12700">
            <a:solidFill>
              <a:srgbClr val="8AA1B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41080" y="397764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AA1B1"/>
          </a:solidFill>
          <a:ln w="12700">
            <a:solidFill>
              <a:srgbClr val="8AA1B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41080" y="347472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8AA1B1"/>
          </a:solidFill>
          <a:ln w="12700">
            <a:solidFill>
              <a:srgbClr val="8AA1B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41080" y="297180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in &amp; out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10412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95560" y="2377440"/>
            <a:ext cx="118872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95560" y="2926080"/>
            <a:ext cx="118872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95560" y="3474720"/>
            <a:ext cx="118872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195560" y="4023360"/>
            <a:ext cx="118872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12680" y="4572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↑ front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↓ rear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queues are needed</a:t>
            </a:r>
            <a:endParaRPr lang="en-US" sz="3600" dirty="0"/>
          </a:p>
        </p:txBody>
      </p:sp>
      <p:sp>
        <p:nvSpPr>
          <p:cNvPr id="3" name="reason 1"/>
          <p:cNvSpPr/>
          <p:nvPr/>
        </p:nvSpPr>
        <p:spPr>
          <a:xfrm>
            <a:off x="548640" y="146304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in order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299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like print jobs, customers and network packets must be handled in arrival order.</a:t>
            </a:r>
            <a:endParaRPr lang="en-US" sz="1400" dirty="0"/>
          </a:p>
        </p:txBody>
      </p:sp>
      <p:sp>
        <p:nvSpPr>
          <p:cNvPr id="8" name="reason 2"/>
          <p:cNvSpPr/>
          <p:nvPr/>
        </p:nvSpPr>
        <p:spPr>
          <a:xfrm>
            <a:off x="548640" y="29260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08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mismatch (buffering)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930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 sends data faster than a printer prints, so the data waits in a queue.</a:t>
            </a:r>
            <a:endParaRPr lang="en-US" sz="1400" dirty="0"/>
          </a:p>
        </p:txBody>
      </p:sp>
      <p:sp>
        <p:nvSpPr>
          <p:cNvPr id="13" name="reason 3"/>
          <p:cNvSpPr/>
          <p:nvPr/>
        </p:nvSpPr>
        <p:spPr>
          <a:xfrm>
            <a:off x="548640" y="438912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09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572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one resource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560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CPU, one printer, one server: a queue decides who goes next.</a:t>
            </a:r>
            <a:endParaRPr lang="en-US" sz="1400" dirty="0"/>
          </a:p>
        </p:txBody>
      </p:sp>
      <p:sp>
        <p:nvSpPr>
          <p:cNvPr id="18" name="reason 4"/>
          <p:cNvSpPr/>
          <p:nvPr/>
        </p:nvSpPr>
        <p:spPr>
          <a:xfrm>
            <a:off x="6217920" y="146304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work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0299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queued now and processed later, so the sender does not wait.</a:t>
            </a:r>
            <a:endParaRPr lang="en-US" sz="1400" dirty="0"/>
          </a:p>
        </p:txBody>
      </p:sp>
      <p:sp>
        <p:nvSpPr>
          <p:cNvPr id="23" name="reason 5"/>
          <p:cNvSpPr/>
          <p:nvPr/>
        </p:nvSpPr>
        <p:spPr>
          <a:xfrm>
            <a:off x="6217920" y="29260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2461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108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Level-by-level processing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4930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explores a graph or tree level by level using a queue.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Operations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operations, a few helpers, all in constant time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 and dequeue do the real work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3017520"/>
                <a:gridCol w="12161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condition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enqueue(x)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element x at the rear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– queue is full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and returns the front element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Underflow – queue is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 / front()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front element without removing 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is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isEmpty()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the queue has no elements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isFull()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no more space (array version)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the number of elements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display()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all elements from front to rear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is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it: a queue of size 5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2194560"/>
                <a:gridCol w="1005840"/>
                <a:gridCol w="10058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(front → rear)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enqueue(10)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enqueue(20)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enqueue(30)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10 20 30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10 20 30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enqueue(40)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20 30 40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race tip"/>
          <p:cNvSpPr/>
          <p:nvPr/>
        </p:nvSpPr>
        <p:spPr>
          <a:xfrm>
            <a:off x="8778240" y="1371600"/>
            <a:ext cx="2862072" cy="4114800"/>
          </a:xfrm>
          <a:prstGeom prst="roundRect">
            <a:avLst>
              <a:gd name="adj" fmla="val 383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5256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indexes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219456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moves rear one step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moves front one step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only ever move forward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 and underflow</a:t>
            </a:r>
            <a:endParaRPr lang="en-US" sz="3600" dirty="0"/>
          </a:p>
        </p:txBody>
      </p:sp>
      <p:sp>
        <p:nvSpPr>
          <p:cNvPr id="3" name="Overflow"/>
          <p:cNvSpPr/>
          <p:nvPr/>
        </p:nvSpPr>
        <p:spPr>
          <a:xfrm>
            <a:off x="548640" y="1463040"/>
            <a:ext cx="53035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Overflow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enqueue into a full queue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isFull() before enqueue</a:t>
            </a:r>
            <a:endParaRPr lang="en-US" sz="1600" dirty="0"/>
          </a:p>
        </p:txBody>
      </p:sp>
      <p:sp>
        <p:nvSpPr>
          <p:cNvPr id="9" name="Underflow"/>
          <p:cNvSpPr/>
          <p:nvPr/>
        </p:nvSpPr>
        <p:spPr>
          <a:xfrm>
            <a:off x="6217920" y="1463040"/>
            <a:ext cx="53035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Underflow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dequeue from an empty queue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isEmpty() before dequeue</a:t>
            </a:r>
            <a:endParaRPr lang="en-US" sz="1600" dirty="0"/>
          </a:p>
        </p:txBody>
      </p:sp>
      <p:sp>
        <p:nvSpPr>
          <p:cNvPr id="15" name="rule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720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programs always check isFull() before enqueue and isEmpty() before dequeue.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 Queue in C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queue using an array — compiles cleanly with gcc -Wall -std=c99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an array and two indexes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points to the first element, </a:t>
            </a:r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last. Both start at -1, meaning empty.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377440" y="25146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rgbClr val="8AA1B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3774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25146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5146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5146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51460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rgbClr val="8AA1B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8638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5021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 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 = 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3886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F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queue[MAX];  /* MAX = 5 */</a:t>
            </a:r>
            <a:endParaRPr lang="en-US" sz="1400" dirty="0"/>
          </a:p>
        </p:txBody>
      </p:sp>
      <p:sp>
        <p:nvSpPr>
          <p:cNvPr id="22" name="Enqueue"/>
          <p:cNvSpPr/>
          <p:nvPr/>
        </p:nvSpPr>
        <p:spPr>
          <a:xfrm>
            <a:off x="548640" y="4572000"/>
            <a:ext cx="5303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754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212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full, increase rear and store the value there.</a:t>
            </a:r>
            <a:endParaRPr lang="en-US" sz="1600" dirty="0"/>
          </a:p>
        </p:txBody>
      </p:sp>
      <p:sp>
        <p:nvSpPr>
          <p:cNvPr id="25" name="Dequeue"/>
          <p:cNvSpPr/>
          <p:nvPr/>
        </p:nvSpPr>
        <p:spPr>
          <a:xfrm>
            <a:off x="6217920" y="4572000"/>
            <a:ext cx="5303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4754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Dequeue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5212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empty, return queue[front] and increase front.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1: setup and enqueue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7589520" cy="4846320"/>
          </a:xfrm>
          <a:prstGeom prst="roundRect">
            <a:avLst>
              <a:gd name="adj" fmla="val 2264"/>
            </a:avLst>
          </a:prstGeom>
          <a:solidFill>
            <a:srgbClr val="0F2830"/>
          </a:solidFill>
          <a:ln w="12700">
            <a:solidFill>
              <a:srgbClr val="0F28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7132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7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Simple (linear) queue using an array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 5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queue[MAX];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front = -1, rear = -1;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isEmpty(void) { return front == -1 || front &gt; rear;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isFull(void)  { return rear == MAX - 1;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enqueue(int value)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(isFull())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Overflow! Cannot insert %d\n", value);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-1) front = 0;     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7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first element */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queue[++rear] = value;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printf("Enqueued %d\n", value);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Globals"/>
          <p:cNvSpPr/>
          <p:nvPr/>
        </p:nvSpPr>
        <p:spPr>
          <a:xfrm>
            <a:off x="8458200" y="1325880"/>
            <a:ext cx="318211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queue[], front and rear start at -1 (empty)</a:t>
            </a:r>
            <a:endParaRPr lang="en-US" sz="1400" dirty="0"/>
          </a:p>
        </p:txBody>
      </p:sp>
      <p:sp>
        <p:nvSpPr>
          <p:cNvPr id="8" name="isFull()"/>
          <p:cNvSpPr/>
          <p:nvPr/>
        </p:nvSpPr>
        <p:spPr>
          <a:xfrm>
            <a:off x="8458200" y="2971800"/>
            <a:ext cx="318211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isFull()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35387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has reached the last index</a:t>
            </a:r>
            <a:endParaRPr lang="en-US" sz="1400" dirty="0"/>
          </a:p>
        </p:txBody>
      </p:sp>
      <p:sp>
        <p:nvSpPr>
          <p:cNvPr id="11" name="enqueue"/>
          <p:cNvSpPr/>
          <p:nvPr/>
        </p:nvSpPr>
        <p:spPr>
          <a:xfrm>
            <a:off x="8458200" y="4617720"/>
            <a:ext cx="318211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4782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51846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overflow, set front on the first insert, then queue[++rear] = value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2: dequeue and peek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7589520" cy="3840480"/>
          </a:xfrm>
          <a:prstGeom prst="roundRect">
            <a:avLst>
              <a:gd name="adj" fmla="val 2857"/>
            </a:avLst>
          </a:prstGeom>
          <a:solidFill>
            <a:srgbClr val="0F2830"/>
          </a:solidFill>
          <a:ln w="12700">
            <a:solidFill>
              <a:srgbClr val="0F28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7132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dequeue(void)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Underflow! Nothing to remove\n");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queue[front++];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peek(void)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printf("Queue is empty\n");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-1;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queue[front];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dequeue"/>
          <p:cNvSpPr/>
          <p:nvPr/>
        </p:nvSpPr>
        <p:spPr>
          <a:xfrm>
            <a:off x="8458200" y="1325880"/>
            <a:ext cx="3182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underflow, return the front value, then move front forward (front++)</a:t>
            </a:r>
            <a:endParaRPr lang="en-US" sz="1400" dirty="0"/>
          </a:p>
        </p:txBody>
      </p:sp>
      <p:sp>
        <p:nvSpPr>
          <p:cNvPr id="8" name="peek"/>
          <p:cNvSpPr/>
          <p:nvPr/>
        </p:nvSpPr>
        <p:spPr>
          <a:xfrm>
            <a:off x="8458200" y="3291840"/>
            <a:ext cx="318211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3886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check, but front does not move — the element stays in the queue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queue[front++]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the value first, then increases front.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3: display, main and the output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325880"/>
            <a:ext cx="6583680" cy="4937760"/>
          </a:xfrm>
          <a:prstGeom prst="roundRect">
            <a:avLst>
              <a:gd name="adj" fmla="val 2222"/>
            </a:avLst>
          </a:prstGeom>
          <a:solidFill>
            <a:srgbClr val="0F2830"/>
          </a:solidFill>
          <a:ln w="12700">
            <a:solidFill>
              <a:srgbClr val="0F28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6126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display(void)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(isEmpty()) { printf("Queue is empty\n"); return;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printf("Queue (front -&gt; rear): 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front; i &lt;= rear; i++) printf("%d ", queue[i]);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enqueue(10);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enqueue(20);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enqueue(30);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printf("Front element: %d\n", peek());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printf("Dequeued: %d\n", dequeue());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enqueue(40);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enqueue(50);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enqueue(60);   </a:t>
            </a:r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7F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overflow */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45236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6" name="output panel"/>
          <p:cNvSpPr/>
          <p:nvPr/>
        </p:nvSpPr>
        <p:spPr>
          <a:xfrm>
            <a:off x="7452360" y="1783080"/>
            <a:ext cx="4187952" cy="4480560"/>
          </a:xfrm>
          <a:prstGeom prst="roundRect">
            <a:avLst>
              <a:gd name="adj" fmla="val 262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965960"/>
            <a:ext cx="3886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Enqueued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Enqueued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Enqueued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(front -&gt; rear): 10 20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element: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Dequeued: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(front -&gt; rear): 20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Enqueued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Enqueued 50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Overflow! Cannot insert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(front -&gt; rear): 20 30 40 50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overflow with a free slot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program above, the array looks like this: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377440" y="2560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rgbClr val="8AA1B1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3774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2560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560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560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560320"/>
            <a:ext cx="12801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2560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547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= 1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 = 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886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but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</a:t>
            </a:r>
            <a:endParaRPr lang="en-US" sz="1400" dirty="0"/>
          </a:p>
        </p:txBody>
      </p:sp>
      <p:sp>
        <p:nvSpPr>
          <p:cNvPr id="22" name="problem"/>
          <p:cNvSpPr/>
          <p:nvPr/>
        </p:nvSpPr>
        <p:spPr>
          <a:xfrm>
            <a:off x="548640" y="4343400"/>
            <a:ext cx="1109167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enqueue(60) reports Overflow while only 4 of 5 slots are used.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 was freed by dequeue, but rear only moves forward, so that space is wasted.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Uses of Queues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many requests share one resource and must be served in order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 in everyday life</a:t>
            </a:r>
            <a:endParaRPr lang="en-US" sz="3600" dirty="0"/>
          </a:p>
        </p:txBody>
      </p:sp>
      <p:sp>
        <p:nvSpPr>
          <p:cNvPr id="3" name="Ticket counters and bank tellers"/>
          <p:cNvSpPr/>
          <p:nvPr/>
        </p:nvSpPr>
        <p:spPr>
          <a:xfrm>
            <a:off x="548640" y="1463040"/>
            <a:ext cx="53035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counters and bank tellers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 in line is served first.</a:t>
            </a:r>
            <a:endParaRPr lang="en-US" sz="1600" dirty="0"/>
          </a:p>
        </p:txBody>
      </p:sp>
      <p:sp>
        <p:nvSpPr>
          <p:cNvPr id="8" name="Toll booths on highways"/>
          <p:cNvSpPr/>
          <p:nvPr/>
        </p:nvSpPr>
        <p:spPr>
          <a:xfrm>
            <a:off x="6217920" y="1463040"/>
            <a:ext cx="53035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booths on highways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468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pass in arrival order.</a:t>
            </a:r>
            <a:endParaRPr lang="en-US" sz="1600" dirty="0"/>
          </a:p>
        </p:txBody>
      </p:sp>
      <p:sp>
        <p:nvSpPr>
          <p:cNvPr id="13" name="Customer care call centres"/>
          <p:cNvSpPr/>
          <p:nvPr/>
        </p:nvSpPr>
        <p:spPr>
          <a:xfrm>
            <a:off x="54864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care call centres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call is in queue; you will be connected to the next available agent.”</a:t>
            </a:r>
            <a:endParaRPr lang="en-US" sz="1600" dirty="0"/>
          </a:p>
        </p:txBody>
      </p:sp>
      <p:sp>
        <p:nvSpPr>
          <p:cNvPr id="18" name="Food delivery apps"/>
          <p:cNvSpPr/>
          <p:nvPr/>
        </p:nvSpPr>
        <p:spPr>
          <a:xfrm>
            <a:off x="6217920" y="3749040"/>
            <a:ext cx="53035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4069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apps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7548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prepares orders in the order they were placed.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 inside computers (1 of 2)</a:t>
            </a:r>
            <a:endParaRPr lang="en-US" sz="3600" dirty="0"/>
          </a:p>
        </p:txBody>
      </p:sp>
      <p:sp>
        <p:nvSpPr>
          <p:cNvPr id="3" name="Printer spooling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179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spooling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37160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from many users wait in a print queue and print one by one.</a:t>
            </a:r>
            <a:endParaRPr lang="en-US" sz="1600" dirty="0"/>
          </a:p>
        </p:txBody>
      </p:sp>
      <p:sp>
        <p:nvSpPr>
          <p:cNvPr id="8" name="CPU scheduling (Round Robin)"/>
          <p:cNvSpPr/>
          <p:nvPr/>
        </p:nvSpPr>
        <p:spPr>
          <a:xfrm>
            <a:off x="548640" y="2340864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871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4086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(Round Robin)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340864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processes wait in a queue; each gets a time slice, then rejoins the rear.</a:t>
            </a:r>
            <a:endParaRPr lang="en-US" sz="1600" dirty="0"/>
          </a:p>
        </p:txBody>
      </p:sp>
      <p:sp>
        <p:nvSpPr>
          <p:cNvPr id="13" name="Keyboard buffer"/>
          <p:cNvSpPr/>
          <p:nvPr/>
        </p:nvSpPr>
        <p:spPr>
          <a:xfrm>
            <a:off x="548640" y="3310128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564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31012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buffer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10128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you type are stored in a queue until the program reads them.</a:t>
            </a:r>
            <a:endParaRPr lang="en-US" sz="1600" dirty="0"/>
          </a:p>
        </p:txBody>
      </p:sp>
      <p:sp>
        <p:nvSpPr>
          <p:cNvPr id="18" name="Network routers"/>
          <p:cNvSpPr/>
          <p:nvPr/>
        </p:nvSpPr>
        <p:spPr>
          <a:xfrm>
            <a:off x="548640" y="4279392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256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27939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routers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79392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packets wait in queues before being forwarded.</a:t>
            </a:r>
            <a:endParaRPr lang="en-US" sz="1600" dirty="0"/>
          </a:p>
        </p:txBody>
      </p:sp>
      <p:sp>
        <p:nvSpPr>
          <p:cNvPr id="23" name="Web servers"/>
          <p:cNvSpPr/>
          <p:nvPr/>
        </p:nvSpPr>
        <p:spPr>
          <a:xfrm>
            <a:off x="548640" y="5248656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394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248656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5248656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requests wait in a queue when all worker threads are busy.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 inside computers (2 of 2)</a:t>
            </a:r>
            <a:endParaRPr lang="en-US" sz="3600" dirty="0"/>
          </a:p>
        </p:txBody>
      </p:sp>
      <p:sp>
        <p:nvSpPr>
          <p:cNvPr id="3" name="Video/music streaming"/>
          <p:cNvSpPr/>
          <p:nvPr/>
        </p:nvSpPr>
        <p:spPr>
          <a:xfrm>
            <a:off x="548640" y="1371600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179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Video/music streaming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37160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buffered in a queue so playback stays smooth if the network slows.</a:t>
            </a:r>
            <a:endParaRPr lang="en-US" sz="1600" dirty="0"/>
          </a:p>
        </p:txBody>
      </p:sp>
      <p:sp>
        <p:nvSpPr>
          <p:cNvPr id="8" name="Message queues in software"/>
          <p:cNvSpPr/>
          <p:nvPr/>
        </p:nvSpPr>
        <p:spPr>
          <a:xfrm>
            <a:off x="548640" y="2340864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871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40864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 in software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340864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and Apache Kafka pass messages between services in order: order → payment → shipping.</a:t>
            </a:r>
            <a:endParaRPr lang="en-US" sz="1600" dirty="0"/>
          </a:p>
        </p:txBody>
      </p:sp>
      <p:sp>
        <p:nvSpPr>
          <p:cNvPr id="13" name="Breadth-First Search"/>
          <p:cNvSpPr/>
          <p:nvPr/>
        </p:nvSpPr>
        <p:spPr>
          <a:xfrm>
            <a:off x="548640" y="3310128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4564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310128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10128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are explored level by level: shortest paths, “friends of friends”.</a:t>
            </a:r>
            <a:endParaRPr lang="en-US" sz="1600" dirty="0"/>
          </a:p>
        </p:txBody>
      </p:sp>
      <p:sp>
        <p:nvSpPr>
          <p:cNvPr id="18" name="Online booking (e.g., IRCTC Tatkal)"/>
          <p:cNvSpPr/>
          <p:nvPr/>
        </p:nvSpPr>
        <p:spPr>
          <a:xfrm>
            <a:off x="548640" y="4279392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256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425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427939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 (e.g., IRCTC Tatkal)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79392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heavy load, users wait in a virtual queue before the booking page.</a:t>
            </a:r>
            <a:endParaRPr lang="en-US" sz="1600" dirty="0"/>
          </a:p>
        </p:txBody>
      </p:sp>
      <p:sp>
        <p:nvSpPr>
          <p:cNvPr id="23" name="WhatsApp / chat messages"/>
          <p:cNvSpPr/>
          <p:nvPr/>
        </p:nvSpPr>
        <p:spPr>
          <a:xfrm>
            <a:off x="548640" y="5248656"/>
            <a:ext cx="11091672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394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248656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chat messages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5248656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while you are offline are queued and delivered in order.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600" dirty="0"/>
          </a:p>
        </p:txBody>
      </p:sp>
      <p:sp>
        <p:nvSpPr>
          <p:cNvPr id="3" name="question 1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4173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follows which principle?</a:t>
            </a:r>
            <a:endParaRPr lang="en-US" sz="1900" dirty="0"/>
          </a:p>
        </p:txBody>
      </p:sp>
      <p:sp>
        <p:nvSpPr>
          <p:cNvPr id="7" name="answer 1"/>
          <p:cNvSpPr/>
          <p:nvPr/>
        </p:nvSpPr>
        <p:spPr>
          <a:xfrm>
            <a:off x="8897112" y="160020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97112" y="1600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1700" dirty="0"/>
          </a:p>
        </p:txBody>
      </p:sp>
      <p:sp>
        <p:nvSpPr>
          <p:cNvPr id="9" name="question 2"/>
          <p:cNvSpPr/>
          <p:nvPr/>
        </p:nvSpPr>
        <p:spPr>
          <a:xfrm>
            <a:off x="548640" y="25603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43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5603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which end is a new element inserted?</a:t>
            </a:r>
            <a:endParaRPr lang="en-US" sz="1900" dirty="0"/>
          </a:p>
        </p:txBody>
      </p:sp>
      <p:sp>
        <p:nvSpPr>
          <p:cNvPr id="13" name="answer 2"/>
          <p:cNvSpPr/>
          <p:nvPr/>
        </p:nvSpPr>
        <p:spPr>
          <a:xfrm>
            <a:off x="8897112" y="274320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97112" y="2743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700" dirty="0"/>
          </a:p>
        </p:txBody>
      </p:sp>
      <p:sp>
        <p:nvSpPr>
          <p:cNvPr id="15" name="question 3"/>
          <p:cNvSpPr/>
          <p:nvPr/>
        </p:nvSpPr>
        <p:spPr>
          <a:xfrm>
            <a:off x="548640" y="37033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862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033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dequeue from an empty queue?</a:t>
            </a:r>
            <a:endParaRPr lang="en-US" sz="1900" dirty="0"/>
          </a:p>
        </p:txBody>
      </p:sp>
      <p:sp>
        <p:nvSpPr>
          <p:cNvPr id="19" name="answer 3"/>
          <p:cNvSpPr/>
          <p:nvPr/>
        </p:nvSpPr>
        <p:spPr>
          <a:xfrm>
            <a:off x="8897112" y="388620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97112" y="3886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Underflow</a:t>
            </a:r>
            <a:endParaRPr lang="en-US" sz="1700" dirty="0"/>
          </a:p>
        </p:txBody>
      </p:sp>
      <p:sp>
        <p:nvSpPr>
          <p:cNvPr id="21" name="question 4"/>
          <p:cNvSpPr/>
          <p:nvPr/>
        </p:nvSpPr>
        <p:spPr>
          <a:xfrm>
            <a:off x="548640" y="4846320"/>
            <a:ext cx="1109167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02920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846320"/>
            <a:ext cx="7132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graph traversal uses a queue?</a:t>
            </a:r>
            <a:endParaRPr lang="en-US" sz="1900" dirty="0"/>
          </a:p>
        </p:txBody>
      </p:sp>
      <p:sp>
        <p:nvSpPr>
          <p:cNvPr id="25" name="answer 4"/>
          <p:cNvSpPr/>
          <p:nvPr/>
        </p:nvSpPr>
        <p:spPr>
          <a:xfrm>
            <a:off x="8897112" y="5029200"/>
            <a:ext cx="251460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97112" y="5029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exercises</a:t>
            </a:r>
            <a:endParaRPr lang="en-US" sz="3600" dirty="0"/>
          </a:p>
        </p:txBody>
      </p:sp>
      <p:sp>
        <p:nvSpPr>
          <p:cNvPr id="3" name="exercise 1"/>
          <p:cNvSpPr/>
          <p:nvPr/>
        </p:nvSpPr>
        <p:spPr>
          <a:xfrm>
            <a:off x="548640" y="1463040"/>
            <a:ext cx="110916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46304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that reverses a queue using a stack.</a:t>
            </a:r>
            <a:endParaRPr lang="en-US" sz="2000" dirty="0"/>
          </a:p>
        </p:txBody>
      </p:sp>
      <p:sp>
        <p:nvSpPr>
          <p:cNvPr id="7" name="exercise 2"/>
          <p:cNvSpPr/>
          <p:nvPr/>
        </p:nvSpPr>
        <p:spPr>
          <a:xfrm>
            <a:off x="548640" y="2926080"/>
            <a:ext cx="110916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0040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92608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queue using two stacks.</a:t>
            </a:r>
            <a:endParaRPr lang="en-US" sz="2000" dirty="0"/>
          </a:p>
        </p:txBody>
      </p:sp>
      <p:sp>
        <p:nvSpPr>
          <p:cNvPr id="11" name="exercise 3"/>
          <p:cNvSpPr/>
          <p:nvPr/>
        </p:nvSpPr>
        <p:spPr>
          <a:xfrm>
            <a:off x="548640" y="4389120"/>
            <a:ext cx="1109167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38912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menu-driven program (1. Enqueue  2. Dequeue  3. Peek  4. Display  5. Exit) for the array queue.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A1B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a FIFO linear data structure: insert at the rear, remove from the front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enqueue, dequeue, peek, isEmpty and isFull all run in O(1)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guard against overflow and underflow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array queue cannot reuse slots freed at the front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power printers, CPU schedulers, keyboards, networks, servers, streaming and BFS</a:t>
            </a:r>
            <a:endParaRPr lang="en-US" sz="1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611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eue Teal">
  <a:themeElements>
    <a:clrScheme name="Queue Teal">
      <a:dk1>
        <a:srgbClr val="1B2B34"/>
      </a:dk1>
      <a:lt1>
        <a:srgbClr val="FFFFFF"/>
      </a:lt1>
      <a:dk2>
        <a:srgbClr val="0B3C49"/>
      </a:dk2>
      <a:lt2>
        <a:srgbClr val="EEF4F5"/>
      </a:lt2>
      <a:accent1>
        <a:srgbClr val="0B7A75"/>
      </a:accent1>
      <a:accent2>
        <a:srgbClr val="F2A541"/>
      </a:accent2>
      <a:accent3>
        <a:srgbClr val="D1495B"/>
      </a:accent3>
      <a:accent4>
        <a:srgbClr val="5B8E7D"/>
      </a:accent4>
      <a:accent5>
        <a:srgbClr val="8AA1B1"/>
      </a:accent5>
      <a:accent6>
        <a:srgbClr val="2E4756"/>
      </a:accent6>
      <a:hlink>
        <a:srgbClr val="0B7A75"/>
      </a:hlink>
      <a:folHlink>
        <a:srgbClr val="6D597A"/>
      </a:folHlink>
    </a:clrScheme>
    <a:fontScheme name="Queu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 in C</dc:title>
  <dc:subject>PptxGenJS Presentation</dc:subject>
  <dc:creator>Krishna</dc:creator>
  <cp:lastModifiedBy>Krishna</cp:lastModifiedBy>
  <cp:revision>1</cp:revision>
  <dcterms:created xsi:type="dcterms:W3CDTF">2026-10-19T09:39:30Z</dcterms:created>
  <dcterms:modified xsi:type="dcterms:W3CDTF">2026-10-19T09:39:30Z</dcterms:modified>
</cp:coreProperties>
</file>